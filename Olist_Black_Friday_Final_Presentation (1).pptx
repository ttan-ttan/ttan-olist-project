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1380" y="8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3828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1 minute). Introduce the team and the one-line story: we took 9 raw CSV files from a Brazilian marketplace (Olist), built a production-style data pipeline in Microsoft Fabric with PySpark, tested and deployed it through GitHub Actions, and used the result to answer a real business question: does Black Friday change how customers buy? Tell the audience what to expect: architecture, data model, analysis, dashboard, recommendations, and honest lessons from what went wrong.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(about 1 minute). Each of us owned specific datasets end to end (clean, validate, test, notebook), while design decisions such as the star schema, Fabric set-up and the dashboard were shared. State each person by name and one thing they owned. Close with why we are here: to demonstrate junior-level engineers who work the way real teams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(about 2 minutes). The dataset is real: roughly 100,000 orders placed on Olist between 2016 and 2018, spread across nine CSV files. Two problems: the data is messy and unconnected, and raw orders alone cannot tell you whether an event changes behaviour. We chose the Black Friday question because it decomposes into measurable sub-questions (volume, revenue, basket value, mix, discount, new customers, delivery, reviews) and because an event calendar dimension lets the same model handle other events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(about 2 minutes). We followed the three-phase structure of the programme. Phase 1: understand and land the data. Phase 2: design the star schema and build the transformations and the dashboard. Phase 3: test, validate, deliver. Emphasise the bottom strip: every change went through a feature branch, a pull request, automated CI checks and peer review before merging, which is how real teams work and is why four people could safely contribute to one codebase.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 STACK (about 2 minutes). Three groups. Develop and test: PySpark locally in VS Code with pytest, ruff and black, because real engineers develop locally with version control and tests, then run on the cloud engine. Build and deploy: GitHub for collaboration, GitHub Actions for CI and deployment, and an Azure service principal so credentials are scoped and not personal. Store, model and serve: Fabric Lakehouse on OneLake with Delta tables, Fabric Pipelines to orchestrate, Power BI for the semantic model and dashboard. We compared three options before choosing this one, balancing delivery time against portfolio value and what job descriptions ask for.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(about 2.5 minutes). Walk the top row left to right: we write and test PySpark modules locally, push to GitHub through pull requests, GitHub Actions runs the quality checks and deploys notebook code to Fabric through the Fabric REST API. Then the bottom row: raw CSVs land in Bronze untouched; Silver applies type casting, null handling, deduplication and validation with bad rows quarantined; Gold is the star schema; Power BI reads the Gold tables. Fabric Pipelines chains the three notebooks in order. Key line to say: only code lives in GitHub, the data never leaves OneLake.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MODEL (about 2 minutes). Explain the design choice: a star schema with four fact tables (orders, order items, payments, reviews) and six dimensions, including an event calendar dimension we created ourselves. The orange derived fields are what make the hypothesis testable: event_flag and is_black_friday segment periods, new_customer_flag comes from each customer's first purchase date, delivery_delay_days compares delivered vs estimated date, discount_rate compares event vs baseline price, review_period_flag splits reviews before and after the event. Mention composite primary keys on order items and payments, and that every key relationship was validated in the Gold layer.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1 OF 2 (about 2 minutes). TO COMPLETE BEFORE PRESENTING: replace each dashed frame with the chart from your analysis or dashboard and replace the highlighted finding text with the real result. Structure of the story: first show that the spike is real (orders and revenue), then whether customers spent more per order (AOV), then whether the mix of categories shifted and whether the event genuinely had lower prices compared with the normal period. Keep colour coding consistent with the dashboard: blue = normal, orange = Black Friday, grey = post-event. Say what the number means for the business, not just the number.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2 OF 2 (about 2 minutes). TO COMPLETE BEFORE PRESENTING: replace the dashed frames with real charts and the highlighted text with the results. Story: the event may bring new customers, but does the operation cope? Compare delivery delay in normal, event and post-event periods, then connect it to review scores. If you find a relationship between delay and review score, say it clearly, and be careful to say association rather than proof of causation. Only about 41% of reviews contain a written comment, so mention this if you refer to comment analysis.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(about 2 minutes). TO COMPLETE BEFORE PRESENTING: insert a screenshot of the finished Power BI report page in the dashed frame, or switch to a live demo. Talk through the design: KPI cards at the top for a quick read, then trend, category mix, customers, delivery and review visuals in the order of the analytical story, with slicers for event period, category and customer type. Colours are consistent: blue for normal periods, orange for Black Friday, grey for post-event. The report sits on the semantic model built over the Gold tables, so the same star schema drives every number.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RECOMMENDATIONS (about 2 minutes). TO COMPLETE BEFORE PRESENTING: replace each highlighted evidence line with the specific number from your analysis, and check that each action still matches what your data actually showed. If a finding contradicted the draft (for example delivery did not get worse), rewrite the recommendation to match. Format for each: the evidence, then the action, then who would own it. Employers respond well to a recommendation that is clearly tied to a number.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(about 1.5 minutes). Be candid; this is where employers learn how you handle constraints. Three real blockers: (1) Fabric Git integration was unavailable on our trial tenant because the workspace was not Git-enabled and we lacked admin rights. (2) Our GitHub Actions upload to OneLake failed with 401 and 404 errors because the trial tenant only allowed a Power BI-scoped API permission. (3) Fabric notebooks run inside the Fabric runtime, so pytest cannot execute them, which is true of Databricks, Synapse and other cloud notebooks too. Also mention, if asked, that Python interpreter and package mismatches across four laptops cost us time early 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RESOLVED IT (about 2 minutes). For each blocker, say what we did and be honest about the trade-off, which shows engineering judgement. (1) Instead of Fabric Git integration, GitHub Actions calls the Fabric REST API to deploy notebook code. (2) When direct upload was blocked, we reversed the direction: the Fabric notebook downloads the modules from GitHub into the Lakehouse at run time, keeping the pipeline automated end to end. (3) Since pytest cannot run in Fabric, we test the modular Python code locally and in CI, and validate Gold tables in Fabric with checks and SQL reconciliation. Say clearly that this is a workaround suited to a trial tenant; the production path is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(about 1.5 minutes). Three columns. What worked: modular, tested code, medallion layers, PR plus CI discipline. What we learned: platform constraints shape architecture; separating logic from I/O makes code portable; validate at each layer. In production we would: deploy with a service principal across dev and prod workspaces, package modules as a wheel, use a Git-enabled workspace, and add a proper data-quality framework and incremental loads. This signals that we understand the gap between a student project and enterprise practice.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(about 1 minute). Three messages: we built a complete, tested, deployable pipeline; we used it to answer a real business question with evidence (state the headline finding here; replace the highlighted placeholder); and we worked like a team and are honest about trade-offs and the production path. End confidently and move to thanks and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Q&amp;A. Thank the audience, the instructors and the employers present. Replace the highlighted placeholders with the GitHub repository URL, the published Power BI report link (or note that it is available on request) and a team contact. Likely questions: why Fabric over Databricks or Snowflake; why local development instead of notebooks only; what you would change for production; how you validated the Gold layer; how you defined a new customer and the event window.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microsoft.com/office/2007/relationships/hdphoto" Target="../media/hdphoto2.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3.wdp"/><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microsoft.com/office/2007/relationships/hdphoto" Target="../media/hdphoto3.wdp"/><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5.xml"/><Relationship Id="rId16"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microsoft.com/office/2007/relationships/hdphoto" Target="../media/hdphoto3.wdp"/><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7.png"/><Relationship Id="rId9" Type="http://schemas.openxmlformats.org/officeDocument/2006/relationships/image" Target="../media/image14.png"/><Relationship Id="rId1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2.png"/><Relationship Id="rId3" Type="http://schemas.openxmlformats.org/officeDocument/2006/relationships/image" Target="../media/image10.png"/><Relationship Id="rId7" Type="http://schemas.openxmlformats.org/officeDocument/2006/relationships/image" Target="../media/image23.png"/><Relationship Id="rId12"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26.png"/><Relationship Id="rId5" Type="http://schemas.microsoft.com/office/2007/relationships/hdphoto" Target="../media/hdphoto3.wdp"/><Relationship Id="rId10" Type="http://schemas.openxmlformats.org/officeDocument/2006/relationships/image" Target="../media/image25.png"/><Relationship Id="rId4" Type="http://schemas.openxmlformats.org/officeDocument/2006/relationships/image" Target="../media/image7.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microsoft.com/office/2007/relationships/hdphoto" Target="../media/hdphoto4.wdp"/><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1.png"/><Relationship Id="rId5" Type="http://schemas.microsoft.com/office/2007/relationships/hdphoto" Target="../media/hdphoto4.wdp"/><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0.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4.png"/><Relationship Id="rId5" Type="http://schemas.microsoft.com/office/2007/relationships/hdphoto" Target="../media/hdphoto4.wdp"/><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0.pn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7.png"/><Relationship Id="rId5" Type="http://schemas.microsoft.com/office/2007/relationships/hdphoto" Target="../media/hdphoto4.wdp"/><Relationship Id="rId4" Type="http://schemas.openxmlformats.org/officeDocument/2006/relationships/image" Target="../media/image29.png"/><Relationship Id="rId9" Type="http://schemas.openxmlformats.org/officeDocument/2006/relationships/image" Target="../media/image40.png"/></Relationships>
</file>

<file path=ppt/slides/_rels/slide1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0.png"/><Relationship Id="rId7"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1.png"/><Relationship Id="rId5" Type="http://schemas.microsoft.com/office/2007/relationships/hdphoto" Target="../media/hdphoto4.wdp"/><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3.png"/><Relationship Id="rId7"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5.jpeg"/><Relationship Id="rId5" Type="http://schemas.microsoft.com/office/2007/relationships/hdphoto" Target="../media/hdphoto5.wdp"/><Relationship Id="rId4" Type="http://schemas.openxmlformats.org/officeDocument/2006/relationships/image" Target="../media/image44.png"/><Relationship Id="rId9" Type="http://schemas.openxmlformats.org/officeDocument/2006/relationships/image" Target="../media/image48.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5.jpeg"/><Relationship Id="rId5" Type="http://schemas.microsoft.com/office/2007/relationships/hdphoto" Target="../media/hdphoto5.wdp"/><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3.png"/><Relationship Id="rId7"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5.jpeg"/><Relationship Id="rId5" Type="http://schemas.microsoft.com/office/2007/relationships/hdphoto" Target="../media/hdphoto5.wdp"/><Relationship Id="rId4" Type="http://schemas.openxmlformats.org/officeDocument/2006/relationships/image" Target="../media/image44.png"/><Relationship Id="rId9"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microsoft.com/office/2007/relationships/hdphoto" Target="../media/hdphoto6.wdp"/><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png"/><Relationship Id="rId7"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image" Target="../media/image59.png"/><Relationship Id="rId5" Type="http://schemas.openxmlformats.org/officeDocument/2006/relationships/image" Target="../media/image54.png"/><Relationship Id="rId10" Type="http://schemas.openxmlformats.org/officeDocument/2006/relationships/image" Target="../media/image15.png"/><Relationship Id="rId4" Type="http://schemas.microsoft.com/office/2007/relationships/hdphoto" Target="../media/hdphoto1.wdp"/><Relationship Id="rId9"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extLst>
              <a:ext uri="{BEBA8EAE-BF5A-486C-A8C5-ECC9F3942E4B}">
                <a14:imgProps xmlns:a14="http://schemas.microsoft.com/office/drawing/2010/main">
                  <a14:imgLayer r:embed="rId4">
                    <a14:imgEffect>
                      <a14:artisticGlowEdges/>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D91E3BB-83EC-B242-0C43-B3513C923C5D}"/>
              </a:ext>
            </a:extLst>
          </p:cNvPr>
          <p:cNvPicPr>
            <a:picLocks noChangeAspect="1"/>
          </p:cNvPicPr>
          <p:nvPr/>
        </p:nvPicPr>
        <p:blipFill>
          <a:blip r:embed="rId5"/>
          <a:stretch>
            <a:fillRect/>
          </a:stretch>
        </p:blipFill>
        <p:spPr>
          <a:xfrm>
            <a:off x="4737253" y="361508"/>
            <a:ext cx="7458086" cy="5374262"/>
          </a:xfrm>
          <a:prstGeom prst="rect">
            <a:avLst/>
          </a:prstGeom>
          <a:effectLst>
            <a:glow>
              <a:schemeClr val="accent1"/>
            </a:glow>
            <a:outerShdw dist="2463800" dir="9180000" algn="ctr" rotWithShape="0">
              <a:srgbClr val="000000">
                <a:alpha val="0"/>
              </a:srgbClr>
            </a:outerShdw>
            <a:softEdge rad="1270000"/>
          </a:effectLst>
        </p:spPr>
      </p:pic>
      <p:sp>
        <p:nvSpPr>
          <p:cNvPr id="2" name="Text 0"/>
          <p:cNvSpPr txBox="1"/>
          <p:nvPr/>
        </p:nvSpPr>
        <p:spPr>
          <a:xfrm>
            <a:off x="5486400" y="6435097"/>
            <a:ext cx="694944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GENERATION SINGAPORE  ·  JUNIOR DATA ENGINEERING  ·  FINAL PROJECT</a:t>
            </a:r>
            <a:endParaRPr lang="en-US" sz="1200" dirty="0"/>
          </a:p>
        </p:txBody>
      </p:sp>
      <p:sp>
        <p:nvSpPr>
          <p:cNvPr id="3" name="Text 1"/>
          <p:cNvSpPr txBox="1"/>
          <p:nvPr/>
        </p:nvSpPr>
        <p:spPr>
          <a:xfrm>
            <a:off x="620083" y="417296"/>
            <a:ext cx="6583680" cy="219456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Does Black Friday Change How Customers Buy?</a:t>
            </a:r>
            <a:endParaRPr lang="en-US" sz="4000" dirty="0"/>
          </a:p>
        </p:txBody>
      </p:sp>
      <p:sp>
        <p:nvSpPr>
          <p:cNvPr id="4" name="Text 2"/>
          <p:cNvSpPr txBox="1"/>
          <p:nvPr/>
        </p:nvSpPr>
        <p:spPr>
          <a:xfrm>
            <a:off x="731520" y="2305124"/>
            <a:ext cx="6217920" cy="777240"/>
          </a:xfrm>
          <a:prstGeom prst="rect">
            <a:avLst/>
          </a:prstGeom>
          <a:noFill/>
          <a:ln/>
        </p:spPr>
        <p:txBody>
          <a:bodyPr wrap="square" lIns="0" tIns="0" rIns="0" bIns="0" rtlCol="0" anchor="t"/>
          <a:lstStyle/>
          <a:p>
            <a:pPr marL="0" indent="0">
              <a:buNone/>
            </a:pPr>
            <a:r>
              <a:rPr lang="en-US" sz="1800" dirty="0">
                <a:solidFill>
                  <a:srgbClr val="C9D6EA"/>
                </a:solidFill>
                <a:latin typeface="Calibri" pitchFamily="34" charset="0"/>
                <a:ea typeface="Calibri" pitchFamily="34" charset="-122"/>
                <a:cs typeface="Calibri" pitchFamily="34" charset="-120"/>
              </a:rPr>
              <a:t>An end-to-end data engineering and </a:t>
            </a:r>
          </a:p>
          <a:p>
            <a:pPr marL="0" indent="0">
              <a:buNone/>
            </a:pPr>
            <a:r>
              <a:rPr lang="en-US" sz="1800" dirty="0">
                <a:solidFill>
                  <a:srgbClr val="C9D6EA"/>
                </a:solidFill>
                <a:latin typeface="Calibri" pitchFamily="34" charset="0"/>
                <a:ea typeface="Calibri" pitchFamily="34" charset="-122"/>
                <a:cs typeface="Calibri" pitchFamily="34" charset="-120"/>
              </a:rPr>
              <a:t>analytics project on 100,000 Brazilian </a:t>
            </a:r>
          </a:p>
          <a:p>
            <a:pPr marL="0" indent="0">
              <a:buNone/>
            </a:pPr>
            <a:r>
              <a:rPr lang="en-US" sz="1800" dirty="0">
                <a:solidFill>
                  <a:srgbClr val="C9D6EA"/>
                </a:solidFill>
                <a:latin typeface="Calibri" pitchFamily="34" charset="0"/>
                <a:ea typeface="Calibri" pitchFamily="34" charset="-122"/>
                <a:cs typeface="Calibri" pitchFamily="34" charset="-120"/>
              </a:rPr>
              <a:t>e-commerce orders</a:t>
            </a:r>
            <a:endParaRPr lang="en-US" sz="1800" dirty="0"/>
          </a:p>
        </p:txBody>
      </p:sp>
      <p:sp>
        <p:nvSpPr>
          <p:cNvPr id="5" name="Shape 3"/>
          <p:cNvSpPr/>
          <p:nvPr/>
        </p:nvSpPr>
        <p:spPr>
          <a:xfrm>
            <a:off x="731520" y="3698334"/>
            <a:ext cx="1051560" cy="384048"/>
          </a:xfrm>
          <a:prstGeom prst="roundRect">
            <a:avLst>
              <a:gd name="adj" fmla="val 47619"/>
            </a:avLst>
          </a:prstGeom>
          <a:solidFill>
            <a:srgbClr val="17345F"/>
          </a:solidFill>
          <a:ln w="12700">
            <a:solidFill>
              <a:srgbClr val="3D5A8A"/>
            </a:solidFill>
            <a:prstDash val="solid"/>
          </a:ln>
        </p:spPr>
      </p:sp>
      <p:sp>
        <p:nvSpPr>
          <p:cNvPr id="6" name="Text 4"/>
          <p:cNvSpPr txBox="1"/>
          <p:nvPr/>
        </p:nvSpPr>
        <p:spPr>
          <a:xfrm>
            <a:off x="731520" y="3698334"/>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PySpark</a:t>
            </a:r>
            <a:endParaRPr lang="en-US" sz="1300" dirty="0"/>
          </a:p>
        </p:txBody>
      </p:sp>
      <p:sp>
        <p:nvSpPr>
          <p:cNvPr id="7" name="Shape 5"/>
          <p:cNvSpPr/>
          <p:nvPr/>
        </p:nvSpPr>
        <p:spPr>
          <a:xfrm>
            <a:off x="1920240" y="3698334"/>
            <a:ext cx="1691640" cy="384048"/>
          </a:xfrm>
          <a:prstGeom prst="roundRect">
            <a:avLst>
              <a:gd name="adj" fmla="val 47619"/>
            </a:avLst>
          </a:prstGeom>
          <a:solidFill>
            <a:srgbClr val="17345F"/>
          </a:solidFill>
          <a:ln w="12700">
            <a:solidFill>
              <a:srgbClr val="3D5A8A"/>
            </a:solidFill>
            <a:prstDash val="solid"/>
          </a:ln>
        </p:spPr>
      </p:sp>
      <p:sp>
        <p:nvSpPr>
          <p:cNvPr id="8" name="Text 6"/>
          <p:cNvSpPr txBox="1"/>
          <p:nvPr/>
        </p:nvSpPr>
        <p:spPr>
          <a:xfrm>
            <a:off x="1920240" y="3698334"/>
            <a:ext cx="16916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Microsoft Fabric</a:t>
            </a:r>
            <a:endParaRPr lang="en-US" sz="1300" dirty="0"/>
          </a:p>
        </p:txBody>
      </p:sp>
      <p:sp>
        <p:nvSpPr>
          <p:cNvPr id="9" name="Shape 7"/>
          <p:cNvSpPr/>
          <p:nvPr/>
        </p:nvSpPr>
        <p:spPr>
          <a:xfrm>
            <a:off x="731520" y="4351703"/>
            <a:ext cx="1600200" cy="384048"/>
          </a:xfrm>
          <a:prstGeom prst="roundRect">
            <a:avLst>
              <a:gd name="adj" fmla="val 47619"/>
            </a:avLst>
          </a:prstGeom>
          <a:solidFill>
            <a:srgbClr val="17345F"/>
          </a:solidFill>
          <a:ln w="12700">
            <a:solidFill>
              <a:srgbClr val="3D5A8A"/>
            </a:solidFill>
            <a:prstDash val="solid"/>
          </a:ln>
        </p:spPr>
      </p:sp>
      <p:sp>
        <p:nvSpPr>
          <p:cNvPr id="10" name="Text 8"/>
          <p:cNvSpPr txBox="1"/>
          <p:nvPr/>
        </p:nvSpPr>
        <p:spPr>
          <a:xfrm>
            <a:off x="620083" y="4351703"/>
            <a:ext cx="16002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GitHub Actions</a:t>
            </a:r>
            <a:endParaRPr lang="en-US" sz="1300" dirty="0"/>
          </a:p>
        </p:txBody>
      </p:sp>
      <p:sp>
        <p:nvSpPr>
          <p:cNvPr id="11" name="Shape 9"/>
          <p:cNvSpPr/>
          <p:nvPr/>
        </p:nvSpPr>
        <p:spPr>
          <a:xfrm>
            <a:off x="2443157" y="4351703"/>
            <a:ext cx="1097280" cy="384048"/>
          </a:xfrm>
          <a:prstGeom prst="roundRect">
            <a:avLst>
              <a:gd name="adj" fmla="val 47619"/>
            </a:avLst>
          </a:prstGeom>
          <a:solidFill>
            <a:srgbClr val="17345F"/>
          </a:solidFill>
          <a:ln w="12700">
            <a:solidFill>
              <a:srgbClr val="3D5A8A"/>
            </a:solidFill>
            <a:prstDash val="solid"/>
          </a:ln>
        </p:spPr>
      </p:sp>
      <p:sp>
        <p:nvSpPr>
          <p:cNvPr id="12" name="Text 10"/>
          <p:cNvSpPr txBox="1"/>
          <p:nvPr/>
        </p:nvSpPr>
        <p:spPr>
          <a:xfrm>
            <a:off x="2443157" y="4351703"/>
            <a:ext cx="10972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Power BI</a:t>
            </a:r>
            <a:endParaRPr lang="en-US" sz="1300" dirty="0"/>
          </a:p>
        </p:txBody>
      </p:sp>
      <p:sp>
        <p:nvSpPr>
          <p:cNvPr id="13" name="Text 11"/>
          <p:cNvSpPr txBox="1"/>
          <p:nvPr/>
        </p:nvSpPr>
        <p:spPr>
          <a:xfrm>
            <a:off x="731520" y="6383064"/>
            <a:ext cx="5486400" cy="274320"/>
          </a:xfrm>
          <a:prstGeom prst="rect">
            <a:avLst/>
          </a:prstGeom>
          <a:noFill/>
          <a:ln/>
        </p:spPr>
        <p:txBody>
          <a:bodyPr wrap="square" lIns="0" tIns="0" rIns="0" bIns="0" rtlCol="0" anchor="t"/>
          <a:lstStyle/>
          <a:p>
            <a:pPr marL="0" indent="0">
              <a:buNone/>
            </a:pPr>
            <a:r>
              <a:rPr lang="en-US" sz="1400" dirty="0">
                <a:solidFill>
                  <a:srgbClr val="C9D6EA"/>
                </a:solidFill>
                <a:latin typeface="Calibri" pitchFamily="34" charset="0"/>
                <a:ea typeface="Calibri" pitchFamily="34" charset="-122"/>
                <a:cs typeface="Calibri" pitchFamily="34" charset="-120"/>
              </a:rPr>
              <a:t>Group 2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50" name="Picture 49">
            <a:extLst>
              <a:ext uri="{FF2B5EF4-FFF2-40B4-BE49-F238E27FC236}">
                <a16:creationId xmlns:a16="http://schemas.microsoft.com/office/drawing/2014/main" id="{CD8BCC7A-E94D-5CDA-8565-856305C650EA}"/>
              </a:ext>
            </a:extLst>
          </p:cNvPr>
          <p:cNvPicPr>
            <a:picLocks noChangeAspect="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5">
                    <a14:imgEffect>
                      <a14:sharpenSoften amount="-26000"/>
                    </a14:imgEffect>
                    <a14:imgEffect>
                      <a14:colorTemperature colorTemp="6090"/>
                    </a14:imgEffect>
                    <a14:imgEffect>
                      <a14:saturation sat="111000"/>
                    </a14:imgEffect>
                    <a14:imgEffect>
                      <a14:brightnessContrast bright="-8000"/>
                    </a14:imgEffect>
                  </a14:imgLayer>
                </a14:imgProps>
              </a:ext>
            </a:extLst>
          </a:blip>
          <a:srcRect t="26039" b="17675"/>
          <a:stretch>
            <a:fillRect/>
          </a:stretch>
        </p:blipFill>
        <p:spPr>
          <a:xfrm>
            <a:off x="-66210" y="-55523"/>
            <a:ext cx="12415182" cy="6988030"/>
          </a:xfrm>
          <a:prstGeom prst="rect">
            <a:avLst/>
          </a:prstGeom>
          <a:effectLst>
            <a:outerShdw blurRad="50800" dist="50800" dir="5400000" algn="ctr" rotWithShape="0">
              <a:srgbClr val="000000">
                <a:alpha val="97000"/>
              </a:srgbClr>
            </a:outerShdw>
          </a:effectLst>
        </p:spPr>
      </p:pic>
      <p:sp>
        <p:nvSpPr>
          <p:cNvPr id="2" name="Text 0"/>
          <p:cNvSpPr txBox="1"/>
          <p:nvPr/>
        </p:nvSpPr>
        <p:spPr>
          <a:xfrm>
            <a:off x="548640" y="347472"/>
            <a:ext cx="731520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01  ·  INTRODUCTION</a:t>
            </a:r>
            <a:endParaRPr lang="en-US" sz="1200" dirty="0"/>
          </a:p>
        </p:txBody>
      </p:sp>
      <p:sp>
        <p:nvSpPr>
          <p:cNvPr id="3" name="Text 1"/>
          <p:cNvSpPr txBox="1"/>
          <p:nvPr/>
        </p:nvSpPr>
        <p:spPr>
          <a:xfrm>
            <a:off x="2656332" y="141732"/>
            <a:ext cx="9692640" cy="685800"/>
          </a:xfrm>
          <a:prstGeom prst="rect">
            <a:avLst/>
          </a:prstGeom>
          <a:noFill/>
          <a:ln/>
        </p:spPr>
        <p:txBody>
          <a:bodyPr wrap="square" lIns="0" tIns="0" rIns="0" bIns="0" rtlCol="0" anchor="t"/>
          <a:lstStyle/>
          <a:p>
            <a:pPr marL="0" indent="0">
              <a:buNone/>
            </a:pPr>
            <a:r>
              <a:rPr lang="en-US" sz="3000" b="1" dirty="0">
                <a:solidFill>
                  <a:schemeClr val="accent2">
                    <a:lumMod val="75000"/>
                  </a:schemeClr>
                </a:solidFill>
                <a:latin typeface="Cambria" pitchFamily="34" charset="0"/>
                <a:ea typeface="Cambria" pitchFamily="34" charset="-122"/>
                <a:cs typeface="Cambria" pitchFamily="34" charset="-120"/>
              </a:rPr>
              <a:t>Meet Group 2</a:t>
            </a:r>
            <a:endParaRPr lang="en-US" sz="3000" dirty="0">
              <a:solidFill>
                <a:schemeClr val="accent2">
                  <a:lumMod val="75000"/>
                </a:schemeClr>
              </a:solidFill>
            </a:endParaRPr>
          </a:p>
        </p:txBody>
      </p:sp>
      <p:sp>
        <p:nvSpPr>
          <p:cNvPr id="4" name="Shape 2"/>
          <p:cNvSpPr/>
          <p:nvPr/>
        </p:nvSpPr>
        <p:spPr>
          <a:xfrm>
            <a:off x="475488" y="6391656"/>
            <a:ext cx="1371600" cy="310896"/>
          </a:xfrm>
          <a:prstGeom prst="roundRect">
            <a:avLst>
              <a:gd name="adj" fmla="val 50000"/>
            </a:avLst>
          </a:prstGeom>
          <a:solidFill>
            <a:srgbClr val="FDE8DA"/>
          </a:solidFill>
          <a:ln w="6350">
            <a:solidFill>
              <a:srgbClr val="FDE8DA"/>
            </a:solidFill>
            <a:prstDash val="solid"/>
          </a:ln>
        </p:spPr>
      </p:sp>
      <p:sp>
        <p:nvSpPr>
          <p:cNvPr id="5" name="Shape 3"/>
          <p:cNvSpPr/>
          <p:nvPr/>
        </p:nvSpPr>
        <p:spPr>
          <a:xfrm>
            <a:off x="576072" y="6483096"/>
            <a:ext cx="128016" cy="128016"/>
          </a:xfrm>
          <a:prstGeom prst="ellipse">
            <a:avLst/>
          </a:prstGeom>
          <a:solidFill>
            <a:srgbClr val="F26B21"/>
          </a:solidFill>
          <a:ln w="12700">
            <a:solidFill>
              <a:srgbClr val="F26B21"/>
            </a:solidFill>
            <a:prstDash val="solid"/>
          </a:ln>
        </p:spPr>
      </p:sp>
      <p:sp>
        <p:nvSpPr>
          <p:cNvPr id="6" name="Text 4"/>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Introduction</a:t>
            </a:r>
            <a:endParaRPr lang="en-US" sz="1100" dirty="0"/>
          </a:p>
        </p:txBody>
      </p:sp>
      <p:sp>
        <p:nvSpPr>
          <p:cNvPr id="7" name="Shape 5"/>
          <p:cNvSpPr/>
          <p:nvPr/>
        </p:nvSpPr>
        <p:spPr>
          <a:xfrm>
            <a:off x="2039112" y="6483096"/>
            <a:ext cx="128016" cy="128016"/>
          </a:xfrm>
          <a:prstGeom prst="ellipse">
            <a:avLst/>
          </a:prstGeom>
          <a:solidFill>
            <a:srgbClr val="FFFFFF"/>
          </a:solidFill>
          <a:ln w="12700">
            <a:solidFill>
              <a:srgbClr val="8A94A6"/>
            </a:solidFill>
            <a:prstDash val="solid"/>
          </a:ln>
        </p:spPr>
      </p:sp>
      <p:sp>
        <p:nvSpPr>
          <p:cNvPr id="8" name="Text 6"/>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050" dirty="0">
                <a:solidFill>
                  <a:schemeClr val="accent4">
                    <a:lumMod val="40000"/>
                    <a:lumOff val="60000"/>
                  </a:schemeClr>
                </a:solidFill>
                <a:latin typeface="Calibri" pitchFamily="34" charset="0"/>
                <a:ea typeface="Calibri" pitchFamily="34" charset="-122"/>
                <a:cs typeface="Calibri" pitchFamily="34" charset="-120"/>
              </a:rPr>
              <a:t>Problem</a:t>
            </a:r>
            <a:endParaRPr lang="en-US" sz="1050" dirty="0">
              <a:solidFill>
                <a:schemeClr val="accent4">
                  <a:lumMod val="40000"/>
                  <a:lumOff val="60000"/>
                </a:schemeClr>
              </a:solidFill>
            </a:endParaRPr>
          </a:p>
        </p:txBody>
      </p:sp>
      <p:sp>
        <p:nvSpPr>
          <p:cNvPr id="9" name="Shape 7"/>
          <p:cNvSpPr/>
          <p:nvPr/>
        </p:nvSpPr>
        <p:spPr>
          <a:xfrm>
            <a:off x="3182112" y="6483096"/>
            <a:ext cx="128016" cy="128016"/>
          </a:xfrm>
          <a:prstGeom prst="ellipse">
            <a:avLst/>
          </a:prstGeom>
          <a:solidFill>
            <a:srgbClr val="FFFFFF"/>
          </a:solidFill>
          <a:ln w="12700">
            <a:solidFill>
              <a:srgbClr val="8A94A6"/>
            </a:solidFill>
            <a:prstDash val="solid"/>
          </a:ln>
        </p:spPr>
      </p:sp>
      <p:sp>
        <p:nvSpPr>
          <p:cNvPr id="10" name="Text 8"/>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050" dirty="0">
                <a:solidFill>
                  <a:schemeClr val="accent4">
                    <a:lumMod val="40000"/>
                    <a:lumOff val="60000"/>
                  </a:schemeClr>
                </a:solidFill>
                <a:latin typeface="Calibri" pitchFamily="34" charset="0"/>
                <a:ea typeface="Calibri" pitchFamily="34" charset="-122"/>
                <a:cs typeface="Calibri" pitchFamily="34" charset="-120"/>
              </a:rPr>
              <a:t>Solution</a:t>
            </a:r>
            <a:endParaRPr lang="en-US" sz="1050" dirty="0">
              <a:solidFill>
                <a:schemeClr val="accent4">
                  <a:lumMod val="40000"/>
                  <a:lumOff val="60000"/>
                </a:schemeClr>
              </a:solidFill>
            </a:endParaRPr>
          </a:p>
        </p:txBody>
      </p:sp>
      <p:sp>
        <p:nvSpPr>
          <p:cNvPr id="11" name="Shape 9"/>
          <p:cNvSpPr/>
          <p:nvPr/>
        </p:nvSpPr>
        <p:spPr>
          <a:xfrm>
            <a:off x="4370832" y="6483096"/>
            <a:ext cx="128016" cy="128016"/>
          </a:xfrm>
          <a:prstGeom prst="ellipse">
            <a:avLst/>
          </a:prstGeom>
          <a:solidFill>
            <a:srgbClr val="FFFFFF"/>
          </a:solidFill>
          <a:ln w="12700">
            <a:solidFill>
              <a:srgbClr val="8A94A6"/>
            </a:solidFill>
            <a:prstDash val="solid"/>
          </a:ln>
        </p:spPr>
      </p:sp>
      <p:sp>
        <p:nvSpPr>
          <p:cNvPr id="12" name="Text 10"/>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050" dirty="0">
                <a:solidFill>
                  <a:schemeClr val="accent4">
                    <a:lumMod val="40000"/>
                    <a:lumOff val="60000"/>
                  </a:schemeClr>
                </a:solidFill>
                <a:latin typeface="Calibri" pitchFamily="34" charset="0"/>
                <a:ea typeface="Calibri" pitchFamily="34" charset="-122"/>
                <a:cs typeface="Calibri" pitchFamily="34" charset="-120"/>
              </a:rPr>
              <a:t>Insights</a:t>
            </a:r>
            <a:endParaRPr lang="en-US" sz="1050" dirty="0">
              <a:solidFill>
                <a:schemeClr val="accent4">
                  <a:lumMod val="40000"/>
                  <a:lumOff val="60000"/>
                </a:schemeClr>
              </a:solidFill>
            </a:endParaRPr>
          </a:p>
        </p:txBody>
      </p:sp>
      <p:sp>
        <p:nvSpPr>
          <p:cNvPr id="13" name="Shape 11"/>
          <p:cNvSpPr/>
          <p:nvPr/>
        </p:nvSpPr>
        <p:spPr>
          <a:xfrm>
            <a:off x="5559552" y="6483096"/>
            <a:ext cx="128016" cy="128016"/>
          </a:xfrm>
          <a:prstGeom prst="ellipse">
            <a:avLst/>
          </a:prstGeom>
          <a:solidFill>
            <a:srgbClr val="FFFFFF"/>
          </a:solidFill>
          <a:ln w="12700">
            <a:solidFill>
              <a:srgbClr val="8A94A6"/>
            </a:solidFill>
            <a:prstDash val="solid"/>
          </a:ln>
        </p:spPr>
      </p:sp>
      <p:sp>
        <p:nvSpPr>
          <p:cNvPr id="14" name="Text 12"/>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050" dirty="0">
                <a:solidFill>
                  <a:schemeClr val="accent4">
                    <a:lumMod val="40000"/>
                    <a:lumOff val="60000"/>
                  </a:schemeClr>
                </a:solidFill>
                <a:latin typeface="Calibri" pitchFamily="34" charset="0"/>
                <a:ea typeface="Calibri" pitchFamily="34" charset="-122"/>
                <a:cs typeface="Calibri" pitchFamily="34" charset="-120"/>
              </a:rPr>
              <a:t>Challenges &amp; Lessons</a:t>
            </a:r>
            <a:endParaRPr lang="en-US" sz="1050" dirty="0">
              <a:solidFill>
                <a:schemeClr val="accent4">
                  <a:lumMod val="40000"/>
                  <a:lumOff val="60000"/>
                </a:schemeClr>
              </a:solidFill>
            </a:endParaRPr>
          </a:p>
        </p:txBody>
      </p:sp>
      <p:sp>
        <p:nvSpPr>
          <p:cNvPr id="15" name="Shape 13"/>
          <p:cNvSpPr/>
          <p:nvPr/>
        </p:nvSpPr>
        <p:spPr>
          <a:xfrm>
            <a:off x="7571232" y="6483096"/>
            <a:ext cx="128016" cy="128016"/>
          </a:xfrm>
          <a:prstGeom prst="ellipse">
            <a:avLst/>
          </a:prstGeom>
          <a:solidFill>
            <a:srgbClr val="FFFFFF"/>
          </a:solidFill>
          <a:ln w="12700">
            <a:solidFill>
              <a:srgbClr val="8A94A6"/>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050" dirty="0">
                <a:solidFill>
                  <a:schemeClr val="accent4">
                    <a:lumMod val="40000"/>
                    <a:lumOff val="60000"/>
                  </a:schemeClr>
                </a:solidFill>
                <a:latin typeface="Calibri" pitchFamily="34" charset="0"/>
                <a:ea typeface="Calibri" pitchFamily="34" charset="-122"/>
                <a:cs typeface="Calibri" pitchFamily="34" charset="-120"/>
              </a:rPr>
              <a:t>Conclusion</a:t>
            </a:r>
            <a:endParaRPr lang="en-US" sz="1050" dirty="0">
              <a:solidFill>
                <a:schemeClr val="accent4">
                  <a:lumMod val="40000"/>
                  <a:lumOff val="60000"/>
                </a:schemeClr>
              </a:solidFill>
            </a:endParaRPr>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5B6678"/>
                </a:solidFill>
                <a:latin typeface="Calibri" pitchFamily="34" charset="0"/>
                <a:ea typeface="Calibri" pitchFamily="34" charset="-122"/>
                <a:cs typeface="Calibri" pitchFamily="34" charset="-120"/>
              </a:rPr>
              <a:t>2</a:t>
            </a:r>
            <a:endParaRPr lang="en-US" sz="1000" dirty="0"/>
          </a:p>
        </p:txBody>
      </p:sp>
      <p:sp>
        <p:nvSpPr>
          <p:cNvPr id="18" name="Shape 16"/>
          <p:cNvSpPr/>
          <p:nvPr/>
        </p:nvSpPr>
        <p:spPr>
          <a:xfrm>
            <a:off x="566928" y="1600200"/>
            <a:ext cx="2606040" cy="3200400"/>
          </a:xfrm>
          <a:prstGeom prst="roundRect">
            <a:avLst>
              <a:gd name="adj" fmla="val 3509"/>
            </a:avLst>
          </a:prstGeom>
          <a:solidFill>
            <a:schemeClr val="bg2">
              <a:lumMod val="75000"/>
              <a:alpha val="60000"/>
            </a:schemeClr>
          </a:solidFill>
          <a:ln w="6350">
            <a:solidFill>
              <a:srgbClr val="F1F4F9"/>
            </a:solidFill>
            <a:prstDash val="solid"/>
          </a:ln>
          <a:effectLst>
            <a:outerShdw blurRad="50800" dist="50800" dir="5400000" algn="ctr" rotWithShape="0">
              <a:srgbClr val="000000">
                <a:alpha val="54000"/>
              </a:srgbClr>
            </a:outerShdw>
          </a:effectLst>
        </p:spPr>
      </p:sp>
      <p:sp>
        <p:nvSpPr>
          <p:cNvPr id="19" name="Shape 17"/>
          <p:cNvSpPr/>
          <p:nvPr/>
        </p:nvSpPr>
        <p:spPr>
          <a:xfrm>
            <a:off x="1412748" y="1920240"/>
            <a:ext cx="914400" cy="914400"/>
          </a:xfrm>
          <a:prstGeom prst="ellipse">
            <a:avLst/>
          </a:prstGeom>
          <a:solidFill>
            <a:srgbClr val="0B1F3A"/>
          </a:solidFill>
          <a:ln w="6350">
            <a:solidFill>
              <a:srgbClr val="0B1F3A"/>
            </a:solidFill>
            <a:prstDash val="solid"/>
          </a:ln>
        </p:spPr>
      </p:sp>
      <p:pic>
        <p:nvPicPr>
          <p:cNvPr id="20" name="Image 0" descr="preencoded.png"/>
          <p:cNvPicPr>
            <a:picLocks noChangeAspect="1"/>
          </p:cNvPicPr>
          <p:nvPr/>
        </p:nvPicPr>
        <p:blipFill>
          <a:blip r:embed="rId6"/>
          <a:stretch>
            <a:fillRect/>
          </a:stretch>
        </p:blipFill>
        <p:spPr>
          <a:xfrm>
            <a:off x="1659636" y="2167128"/>
            <a:ext cx="420624" cy="420624"/>
          </a:xfrm>
          <a:prstGeom prst="rect">
            <a:avLst/>
          </a:prstGeom>
        </p:spPr>
      </p:pic>
      <p:sp>
        <p:nvSpPr>
          <p:cNvPr id="21" name="Text 18"/>
          <p:cNvSpPr txBox="1"/>
          <p:nvPr/>
        </p:nvSpPr>
        <p:spPr>
          <a:xfrm>
            <a:off x="749808" y="3063240"/>
            <a:ext cx="2240280" cy="365760"/>
          </a:xfrm>
          <a:prstGeom prst="rect">
            <a:avLst/>
          </a:prstGeom>
          <a:noFill/>
          <a:ln/>
        </p:spPr>
        <p:txBody>
          <a:bodyPr wrap="square" lIns="0" tIns="0" rIns="0" bIns="0" rtlCol="0" anchor="t"/>
          <a:lstStyle/>
          <a:p>
            <a:pPr marL="0" indent="0" algn="ctr">
              <a:buNone/>
            </a:pPr>
            <a:r>
              <a:rPr lang="en-US" sz="2000" b="1" dirty="0">
                <a:solidFill>
                  <a:srgbClr val="0B1F3A"/>
                </a:solidFill>
                <a:latin typeface="Calibri" pitchFamily="34" charset="0"/>
                <a:ea typeface="Calibri" pitchFamily="34" charset="-122"/>
                <a:cs typeface="Calibri" pitchFamily="34" charset="-120"/>
              </a:rPr>
              <a:t>YJ</a:t>
            </a:r>
            <a:endParaRPr lang="en-US" sz="2000" dirty="0"/>
          </a:p>
        </p:txBody>
      </p:sp>
      <p:sp>
        <p:nvSpPr>
          <p:cNvPr id="22" name="Text 19"/>
          <p:cNvSpPr txBox="1"/>
          <p:nvPr/>
        </p:nvSpPr>
        <p:spPr>
          <a:xfrm>
            <a:off x="749808" y="3474720"/>
            <a:ext cx="2240280" cy="274320"/>
          </a:xfrm>
          <a:prstGeom prst="rect">
            <a:avLst/>
          </a:prstGeom>
          <a:noFill/>
          <a:ln/>
        </p:spPr>
        <p:txBody>
          <a:bodyPr wrap="square" lIns="0" tIns="0" rIns="0" bIns="0" rtlCol="0" anchor="t"/>
          <a:lstStyle/>
          <a:p>
            <a:pPr marL="0" indent="0" algn="ctr">
              <a:buNone/>
            </a:pPr>
            <a:r>
              <a:rPr lang="en-US" sz="1200" b="1" kern="0" spc="150" dirty="0">
                <a:solidFill>
                  <a:srgbClr val="F26B21"/>
                </a:solidFill>
                <a:latin typeface="Calibri" pitchFamily="34" charset="0"/>
                <a:ea typeface="Calibri" pitchFamily="34" charset="-122"/>
                <a:cs typeface="Calibri" pitchFamily="34" charset="-120"/>
              </a:rPr>
              <a:t>GIT &amp; CI/CD</a:t>
            </a:r>
            <a:endParaRPr lang="en-US" sz="1200" dirty="0"/>
          </a:p>
        </p:txBody>
      </p:sp>
      <p:sp>
        <p:nvSpPr>
          <p:cNvPr id="23" name="Text 20"/>
          <p:cNvSpPr txBox="1"/>
          <p:nvPr/>
        </p:nvSpPr>
        <p:spPr>
          <a:xfrm>
            <a:off x="795528" y="3840480"/>
            <a:ext cx="2148840" cy="822960"/>
          </a:xfrm>
          <a:prstGeom prst="rect">
            <a:avLst/>
          </a:prstGeom>
          <a:noFill/>
          <a:ln/>
        </p:spPr>
        <p:txBody>
          <a:bodyPr wrap="square" lIns="0" tIns="0" rIns="0" bIns="0" rtlCol="0" anchor="t"/>
          <a:lstStyle/>
          <a:p>
            <a:pPr marL="0" indent="0" algn="ctr">
              <a:buNone/>
            </a:pPr>
            <a:r>
              <a:rPr lang="en-US" sz="1300" dirty="0">
                <a:solidFill>
                  <a:schemeClr val="tx1">
                    <a:lumMod val="95000"/>
                    <a:lumOff val="5000"/>
                  </a:schemeClr>
                </a:solidFill>
                <a:latin typeface="Calibri" pitchFamily="34" charset="0"/>
                <a:ea typeface="Calibri" pitchFamily="34" charset="-122"/>
                <a:cs typeface="Calibri" pitchFamily="34" charset="-120"/>
              </a:rPr>
              <a:t>GitHub Actions deployment workflow · Customers pipeline</a:t>
            </a:r>
            <a:endParaRPr lang="en-US" sz="1300" dirty="0">
              <a:solidFill>
                <a:schemeClr val="tx1">
                  <a:lumMod val="95000"/>
                  <a:lumOff val="5000"/>
                </a:schemeClr>
              </a:solidFill>
            </a:endParaRPr>
          </a:p>
        </p:txBody>
      </p:sp>
      <p:sp>
        <p:nvSpPr>
          <p:cNvPr id="24" name="Shape 21"/>
          <p:cNvSpPr/>
          <p:nvPr/>
        </p:nvSpPr>
        <p:spPr>
          <a:xfrm>
            <a:off x="3383280" y="1600200"/>
            <a:ext cx="2606040" cy="3200400"/>
          </a:xfrm>
          <a:prstGeom prst="roundRect">
            <a:avLst>
              <a:gd name="adj" fmla="val 3509"/>
            </a:avLst>
          </a:prstGeom>
          <a:solidFill>
            <a:schemeClr val="accent3">
              <a:lumMod val="60000"/>
              <a:lumOff val="40000"/>
              <a:alpha val="60000"/>
            </a:schemeClr>
          </a:solidFill>
          <a:ln w="6350">
            <a:solidFill>
              <a:srgbClr val="F1F4F9"/>
            </a:solidFill>
            <a:prstDash val="solid"/>
          </a:ln>
        </p:spPr>
      </p:sp>
      <p:sp>
        <p:nvSpPr>
          <p:cNvPr id="25" name="Shape 22"/>
          <p:cNvSpPr/>
          <p:nvPr/>
        </p:nvSpPr>
        <p:spPr>
          <a:xfrm>
            <a:off x="4229100" y="1920240"/>
            <a:ext cx="914400" cy="914400"/>
          </a:xfrm>
          <a:prstGeom prst="ellipse">
            <a:avLst/>
          </a:prstGeom>
          <a:solidFill>
            <a:srgbClr val="0B1F3A"/>
          </a:solidFill>
          <a:ln w="6350">
            <a:solidFill>
              <a:srgbClr val="0B1F3A"/>
            </a:solidFill>
            <a:prstDash val="solid"/>
          </a:ln>
        </p:spPr>
      </p:sp>
      <p:pic>
        <p:nvPicPr>
          <p:cNvPr id="26" name="Image 1" descr="preencoded.png"/>
          <p:cNvPicPr>
            <a:picLocks noChangeAspect="1"/>
          </p:cNvPicPr>
          <p:nvPr/>
        </p:nvPicPr>
        <p:blipFill>
          <a:blip r:embed="rId6"/>
          <a:stretch>
            <a:fillRect/>
          </a:stretch>
        </p:blipFill>
        <p:spPr>
          <a:xfrm>
            <a:off x="4475988" y="2167128"/>
            <a:ext cx="420624" cy="420624"/>
          </a:xfrm>
          <a:prstGeom prst="rect">
            <a:avLst/>
          </a:prstGeom>
        </p:spPr>
      </p:pic>
      <p:sp>
        <p:nvSpPr>
          <p:cNvPr id="27" name="Text 23"/>
          <p:cNvSpPr txBox="1"/>
          <p:nvPr/>
        </p:nvSpPr>
        <p:spPr>
          <a:xfrm>
            <a:off x="3566160" y="3063240"/>
            <a:ext cx="2240280" cy="365760"/>
          </a:xfrm>
          <a:prstGeom prst="rect">
            <a:avLst/>
          </a:prstGeom>
          <a:noFill/>
          <a:ln/>
        </p:spPr>
        <p:txBody>
          <a:bodyPr wrap="square" lIns="0" tIns="0" rIns="0" bIns="0" rtlCol="0" anchor="t"/>
          <a:lstStyle/>
          <a:p>
            <a:pPr marL="0" indent="0" algn="ctr">
              <a:buNone/>
            </a:pPr>
            <a:r>
              <a:rPr lang="en-US" sz="2000" b="1" dirty="0">
                <a:solidFill>
                  <a:srgbClr val="0B1F3A"/>
                </a:solidFill>
                <a:latin typeface="Calibri" pitchFamily="34" charset="0"/>
                <a:ea typeface="Calibri" pitchFamily="34" charset="-122"/>
                <a:cs typeface="Calibri" pitchFamily="34" charset="-120"/>
              </a:rPr>
              <a:t>Ana</a:t>
            </a:r>
            <a:endParaRPr lang="en-US" sz="2000" dirty="0"/>
          </a:p>
        </p:txBody>
      </p:sp>
      <p:sp>
        <p:nvSpPr>
          <p:cNvPr id="28" name="Text 24"/>
          <p:cNvSpPr txBox="1"/>
          <p:nvPr/>
        </p:nvSpPr>
        <p:spPr>
          <a:xfrm>
            <a:off x="3566160" y="3474720"/>
            <a:ext cx="2240280" cy="274320"/>
          </a:xfrm>
          <a:prstGeom prst="rect">
            <a:avLst/>
          </a:prstGeom>
          <a:noFill/>
          <a:ln/>
        </p:spPr>
        <p:txBody>
          <a:bodyPr wrap="square" lIns="0" tIns="0" rIns="0" bIns="0" rtlCol="0" anchor="t"/>
          <a:lstStyle/>
          <a:p>
            <a:pPr marL="0" indent="0" algn="ctr">
              <a:buNone/>
            </a:pPr>
            <a:r>
              <a:rPr lang="en-US" sz="1200" b="1" kern="0" spc="150" dirty="0">
                <a:solidFill>
                  <a:srgbClr val="F26B21"/>
                </a:solidFill>
                <a:latin typeface="Calibri" pitchFamily="34" charset="0"/>
                <a:ea typeface="Calibri" pitchFamily="34" charset="-122"/>
                <a:cs typeface="Calibri" pitchFamily="34" charset="-120"/>
              </a:rPr>
              <a:t>REPO &amp; ORDERS</a:t>
            </a:r>
            <a:endParaRPr lang="en-US" sz="1200" dirty="0"/>
          </a:p>
        </p:txBody>
      </p:sp>
      <p:sp>
        <p:nvSpPr>
          <p:cNvPr id="29" name="Text 25"/>
          <p:cNvSpPr txBox="1"/>
          <p:nvPr/>
        </p:nvSpPr>
        <p:spPr>
          <a:xfrm>
            <a:off x="3611880" y="3840480"/>
            <a:ext cx="2148840" cy="822960"/>
          </a:xfrm>
          <a:prstGeom prst="rect">
            <a:avLst/>
          </a:prstGeom>
          <a:noFill/>
          <a:ln/>
        </p:spPr>
        <p:txBody>
          <a:bodyPr wrap="square" lIns="0" tIns="0" rIns="0" bIns="0" rtlCol="0" anchor="t"/>
          <a:lstStyle/>
          <a:p>
            <a:pPr marL="0" indent="0" algn="ctr">
              <a:buNone/>
            </a:pPr>
            <a:r>
              <a:rPr lang="en-US" sz="1300" dirty="0">
                <a:solidFill>
                  <a:schemeClr val="tx1">
                    <a:lumMod val="95000"/>
                    <a:lumOff val="5000"/>
                  </a:schemeClr>
                </a:solidFill>
                <a:latin typeface="Calibri" pitchFamily="34" charset="0"/>
                <a:ea typeface="Calibri" pitchFamily="34" charset="-122"/>
                <a:cs typeface="Calibri" pitchFamily="34" charset="-120"/>
              </a:rPr>
              <a:t>Repository structure · Orders and order-items pipelines</a:t>
            </a:r>
            <a:endParaRPr lang="en-US" sz="1300" dirty="0">
              <a:solidFill>
                <a:schemeClr val="tx1">
                  <a:lumMod val="95000"/>
                  <a:lumOff val="5000"/>
                </a:schemeClr>
              </a:solidFill>
            </a:endParaRPr>
          </a:p>
        </p:txBody>
      </p:sp>
      <p:sp>
        <p:nvSpPr>
          <p:cNvPr id="30" name="Shape 26"/>
          <p:cNvSpPr/>
          <p:nvPr/>
        </p:nvSpPr>
        <p:spPr>
          <a:xfrm>
            <a:off x="6254157" y="1618488"/>
            <a:ext cx="2606040" cy="3200400"/>
          </a:xfrm>
          <a:prstGeom prst="roundRect">
            <a:avLst>
              <a:gd name="adj" fmla="val 3509"/>
            </a:avLst>
          </a:prstGeom>
          <a:solidFill>
            <a:schemeClr val="bg1">
              <a:lumMod val="65000"/>
              <a:alpha val="60000"/>
            </a:schemeClr>
          </a:solidFill>
          <a:ln w="6350">
            <a:solidFill>
              <a:srgbClr val="F1F4F9"/>
            </a:solidFill>
            <a:prstDash val="solid"/>
          </a:ln>
        </p:spPr>
      </p:sp>
      <p:sp>
        <p:nvSpPr>
          <p:cNvPr id="31" name="Shape 27"/>
          <p:cNvSpPr/>
          <p:nvPr/>
        </p:nvSpPr>
        <p:spPr>
          <a:xfrm>
            <a:off x="7045452" y="1920240"/>
            <a:ext cx="914400" cy="914400"/>
          </a:xfrm>
          <a:prstGeom prst="ellipse">
            <a:avLst/>
          </a:prstGeom>
          <a:solidFill>
            <a:srgbClr val="0B1F3A"/>
          </a:solidFill>
          <a:ln w="6350">
            <a:solidFill>
              <a:srgbClr val="0B1F3A"/>
            </a:solidFill>
            <a:prstDash val="solid"/>
          </a:ln>
        </p:spPr>
      </p:sp>
      <p:pic>
        <p:nvPicPr>
          <p:cNvPr id="32" name="Image 2" descr="preencoded.png"/>
          <p:cNvPicPr>
            <a:picLocks noChangeAspect="1"/>
          </p:cNvPicPr>
          <p:nvPr/>
        </p:nvPicPr>
        <p:blipFill>
          <a:blip r:embed="rId6"/>
          <a:stretch>
            <a:fillRect/>
          </a:stretch>
        </p:blipFill>
        <p:spPr>
          <a:xfrm>
            <a:off x="7292340" y="2167128"/>
            <a:ext cx="420624" cy="420624"/>
          </a:xfrm>
          <a:prstGeom prst="rect">
            <a:avLst/>
          </a:prstGeom>
        </p:spPr>
      </p:pic>
      <p:sp>
        <p:nvSpPr>
          <p:cNvPr id="33" name="Text 28"/>
          <p:cNvSpPr txBox="1"/>
          <p:nvPr/>
        </p:nvSpPr>
        <p:spPr>
          <a:xfrm>
            <a:off x="6382512" y="3063240"/>
            <a:ext cx="2240280" cy="365760"/>
          </a:xfrm>
          <a:prstGeom prst="rect">
            <a:avLst/>
          </a:prstGeom>
          <a:noFill/>
          <a:ln/>
        </p:spPr>
        <p:txBody>
          <a:bodyPr wrap="square" lIns="0" tIns="0" rIns="0" bIns="0" rtlCol="0" anchor="t"/>
          <a:lstStyle/>
          <a:p>
            <a:pPr marL="0" indent="0" algn="ctr">
              <a:buNone/>
            </a:pPr>
            <a:r>
              <a:rPr lang="en-US" sz="2000" b="1" dirty="0">
                <a:solidFill>
                  <a:srgbClr val="0B1F3A"/>
                </a:solidFill>
                <a:latin typeface="Calibri" pitchFamily="34" charset="0"/>
                <a:ea typeface="Calibri" pitchFamily="34" charset="-122"/>
                <a:cs typeface="Calibri" pitchFamily="34" charset="-120"/>
              </a:rPr>
              <a:t>JS</a:t>
            </a:r>
            <a:endParaRPr lang="en-US" sz="2000" dirty="0"/>
          </a:p>
        </p:txBody>
      </p:sp>
      <p:sp>
        <p:nvSpPr>
          <p:cNvPr id="34" name="Text 29"/>
          <p:cNvSpPr txBox="1"/>
          <p:nvPr/>
        </p:nvSpPr>
        <p:spPr>
          <a:xfrm>
            <a:off x="6382512" y="3474720"/>
            <a:ext cx="2240280" cy="274320"/>
          </a:xfrm>
          <a:prstGeom prst="rect">
            <a:avLst/>
          </a:prstGeom>
          <a:noFill/>
          <a:ln/>
        </p:spPr>
        <p:txBody>
          <a:bodyPr wrap="square" lIns="0" tIns="0" rIns="0" bIns="0" rtlCol="0" anchor="t"/>
          <a:lstStyle/>
          <a:p>
            <a:pPr marL="0" indent="0" algn="ctr">
              <a:buNone/>
            </a:pPr>
            <a:r>
              <a:rPr lang="en-US" sz="1200" b="1" kern="0" spc="150" dirty="0">
                <a:solidFill>
                  <a:srgbClr val="F26B21"/>
                </a:solidFill>
                <a:latin typeface="Calibri" pitchFamily="34" charset="0"/>
                <a:ea typeface="Calibri" pitchFamily="34" charset="-122"/>
                <a:cs typeface="Calibri" pitchFamily="34" charset="-120"/>
              </a:rPr>
              <a:t>GEOLOCATION</a:t>
            </a:r>
            <a:endParaRPr lang="en-US" sz="1200" dirty="0"/>
          </a:p>
        </p:txBody>
      </p:sp>
      <p:sp>
        <p:nvSpPr>
          <p:cNvPr id="35" name="Text 30"/>
          <p:cNvSpPr txBox="1"/>
          <p:nvPr/>
        </p:nvSpPr>
        <p:spPr>
          <a:xfrm>
            <a:off x="6428232" y="3840480"/>
            <a:ext cx="2148840" cy="822960"/>
          </a:xfrm>
          <a:prstGeom prst="rect">
            <a:avLst/>
          </a:prstGeom>
          <a:noFill/>
          <a:ln/>
        </p:spPr>
        <p:txBody>
          <a:bodyPr wrap="square" lIns="0" tIns="0" rIns="0" bIns="0" rtlCol="0" anchor="t"/>
          <a:lstStyle/>
          <a:p>
            <a:pPr marL="0" indent="0" algn="ctr">
              <a:buNone/>
            </a:pPr>
            <a:r>
              <a:rPr lang="en-US" sz="1300" dirty="0">
                <a:solidFill>
                  <a:schemeClr val="tx1">
                    <a:lumMod val="95000"/>
                    <a:lumOff val="5000"/>
                  </a:schemeClr>
                </a:solidFill>
                <a:latin typeface="Calibri" pitchFamily="34" charset="0"/>
                <a:ea typeface="Calibri" pitchFamily="34" charset="-122"/>
                <a:cs typeface="Calibri" pitchFamily="34" charset="-120"/>
              </a:rPr>
              <a:t>Geolocation pipeline · cleaning, validation, unit tests</a:t>
            </a:r>
            <a:endParaRPr lang="en-US" sz="1300" dirty="0">
              <a:solidFill>
                <a:schemeClr val="tx1">
                  <a:lumMod val="95000"/>
                  <a:lumOff val="5000"/>
                </a:schemeClr>
              </a:solidFill>
            </a:endParaRPr>
          </a:p>
        </p:txBody>
      </p:sp>
      <p:sp>
        <p:nvSpPr>
          <p:cNvPr id="36" name="Shape 31"/>
          <p:cNvSpPr/>
          <p:nvPr/>
        </p:nvSpPr>
        <p:spPr>
          <a:xfrm>
            <a:off x="9015984" y="1600200"/>
            <a:ext cx="2606040" cy="3200400"/>
          </a:xfrm>
          <a:prstGeom prst="roundRect">
            <a:avLst>
              <a:gd name="adj" fmla="val 3509"/>
            </a:avLst>
          </a:prstGeom>
          <a:solidFill>
            <a:schemeClr val="accent3">
              <a:lumMod val="40000"/>
              <a:lumOff val="60000"/>
              <a:alpha val="60000"/>
            </a:schemeClr>
          </a:solidFill>
          <a:ln w="6350">
            <a:solidFill>
              <a:srgbClr val="F1F4F9"/>
            </a:solidFill>
            <a:prstDash val="solid"/>
          </a:ln>
        </p:spPr>
      </p:sp>
      <p:sp>
        <p:nvSpPr>
          <p:cNvPr id="37" name="Shape 32"/>
          <p:cNvSpPr/>
          <p:nvPr/>
        </p:nvSpPr>
        <p:spPr>
          <a:xfrm>
            <a:off x="9861804" y="1920240"/>
            <a:ext cx="914400" cy="914400"/>
          </a:xfrm>
          <a:prstGeom prst="ellipse">
            <a:avLst/>
          </a:prstGeom>
          <a:solidFill>
            <a:srgbClr val="0B1F3A"/>
          </a:solidFill>
          <a:ln w="6350">
            <a:solidFill>
              <a:srgbClr val="0B1F3A"/>
            </a:solidFill>
            <a:prstDash val="solid"/>
          </a:ln>
        </p:spPr>
      </p:sp>
      <p:pic>
        <p:nvPicPr>
          <p:cNvPr id="38" name="Image 3" descr="preencoded.png"/>
          <p:cNvPicPr>
            <a:picLocks noChangeAspect="1"/>
          </p:cNvPicPr>
          <p:nvPr/>
        </p:nvPicPr>
        <p:blipFill>
          <a:blip r:embed="rId6"/>
          <a:stretch>
            <a:fillRect/>
          </a:stretch>
        </p:blipFill>
        <p:spPr>
          <a:xfrm>
            <a:off x="10108692" y="2167128"/>
            <a:ext cx="420624" cy="420624"/>
          </a:xfrm>
          <a:prstGeom prst="rect">
            <a:avLst/>
          </a:prstGeom>
        </p:spPr>
      </p:pic>
      <p:sp>
        <p:nvSpPr>
          <p:cNvPr id="39" name="Text 33"/>
          <p:cNvSpPr txBox="1"/>
          <p:nvPr/>
        </p:nvSpPr>
        <p:spPr>
          <a:xfrm>
            <a:off x="9198864" y="3063240"/>
            <a:ext cx="2240280" cy="365760"/>
          </a:xfrm>
          <a:prstGeom prst="rect">
            <a:avLst/>
          </a:prstGeom>
          <a:noFill/>
          <a:ln/>
        </p:spPr>
        <p:txBody>
          <a:bodyPr wrap="square" lIns="0" tIns="0" rIns="0" bIns="0" rtlCol="0" anchor="t"/>
          <a:lstStyle/>
          <a:p>
            <a:pPr marL="0" indent="0" algn="ctr">
              <a:buNone/>
            </a:pPr>
            <a:r>
              <a:rPr lang="en-US" sz="2000" b="1" dirty="0">
                <a:solidFill>
                  <a:srgbClr val="0B1F3A"/>
                </a:solidFill>
                <a:latin typeface="Calibri" pitchFamily="34" charset="0"/>
                <a:ea typeface="Calibri" pitchFamily="34" charset="-122"/>
                <a:cs typeface="Calibri" pitchFamily="34" charset="-120"/>
              </a:rPr>
              <a:t>JJ</a:t>
            </a:r>
            <a:endParaRPr lang="en-US" sz="2000" dirty="0"/>
          </a:p>
        </p:txBody>
      </p:sp>
      <p:sp>
        <p:nvSpPr>
          <p:cNvPr id="40" name="Text 34"/>
          <p:cNvSpPr txBox="1"/>
          <p:nvPr/>
        </p:nvSpPr>
        <p:spPr>
          <a:xfrm>
            <a:off x="9198864" y="3474720"/>
            <a:ext cx="2240280" cy="274320"/>
          </a:xfrm>
          <a:prstGeom prst="rect">
            <a:avLst/>
          </a:prstGeom>
          <a:noFill/>
          <a:ln/>
        </p:spPr>
        <p:txBody>
          <a:bodyPr wrap="square" lIns="0" tIns="0" rIns="0" bIns="0" rtlCol="0" anchor="t"/>
          <a:lstStyle/>
          <a:p>
            <a:pPr marL="0" indent="0" algn="ctr">
              <a:buNone/>
            </a:pPr>
            <a:r>
              <a:rPr lang="en-US" sz="1200" b="1" kern="0" spc="150" dirty="0">
                <a:solidFill>
                  <a:srgbClr val="F26B21"/>
                </a:solidFill>
                <a:latin typeface="Calibri" pitchFamily="34" charset="0"/>
                <a:ea typeface="Calibri" pitchFamily="34" charset="-122"/>
                <a:cs typeface="Calibri" pitchFamily="34" charset="-120"/>
              </a:rPr>
              <a:t>PAYMENTS</a:t>
            </a:r>
            <a:endParaRPr lang="en-US" sz="1200" dirty="0"/>
          </a:p>
        </p:txBody>
      </p:sp>
      <p:sp>
        <p:nvSpPr>
          <p:cNvPr id="41" name="Text 35"/>
          <p:cNvSpPr txBox="1"/>
          <p:nvPr/>
        </p:nvSpPr>
        <p:spPr>
          <a:xfrm>
            <a:off x="9244584" y="3840480"/>
            <a:ext cx="2148840" cy="822960"/>
          </a:xfrm>
          <a:prstGeom prst="rect">
            <a:avLst/>
          </a:prstGeom>
          <a:noFill/>
          <a:ln/>
        </p:spPr>
        <p:txBody>
          <a:bodyPr wrap="square" lIns="0" tIns="0" rIns="0" bIns="0" rtlCol="0" anchor="t"/>
          <a:lstStyle/>
          <a:p>
            <a:pPr marL="0" indent="0" algn="ctr">
              <a:buNone/>
            </a:pPr>
            <a:r>
              <a:rPr lang="en-US" sz="1300" dirty="0">
                <a:solidFill>
                  <a:schemeClr val="tx1">
                    <a:lumMod val="95000"/>
                    <a:lumOff val="5000"/>
                  </a:schemeClr>
                </a:solidFill>
                <a:latin typeface="Calibri" pitchFamily="34" charset="0"/>
                <a:ea typeface="Calibri" pitchFamily="34" charset="-122"/>
                <a:cs typeface="Calibri" pitchFamily="34" charset="-120"/>
              </a:rPr>
              <a:t>Payments pipeline · cleaning, validation, unit tests</a:t>
            </a:r>
            <a:endParaRPr lang="en-US" sz="1300" dirty="0">
              <a:solidFill>
                <a:schemeClr val="tx1">
                  <a:lumMod val="95000"/>
                  <a:lumOff val="5000"/>
                </a:schemeClr>
              </a:solidFill>
            </a:endParaRPr>
          </a:p>
        </p:txBody>
      </p:sp>
      <p:sp>
        <p:nvSpPr>
          <p:cNvPr id="42" name="Shape 36"/>
          <p:cNvSpPr/>
          <p:nvPr/>
        </p:nvSpPr>
        <p:spPr>
          <a:xfrm>
            <a:off x="548640" y="5175504"/>
            <a:ext cx="11091672" cy="845658"/>
          </a:xfrm>
          <a:prstGeom prst="roundRect">
            <a:avLst>
              <a:gd name="adj" fmla="val 10000"/>
            </a:avLst>
          </a:prstGeom>
          <a:solidFill>
            <a:srgbClr val="0B1F3A">
              <a:alpha val="53000"/>
            </a:srgbClr>
          </a:solidFill>
          <a:ln w="6350">
            <a:solidFill>
              <a:srgbClr val="0B1F3A"/>
            </a:solidFill>
            <a:prstDash val="solid"/>
          </a:ln>
        </p:spPr>
      </p:sp>
      <p:sp>
        <p:nvSpPr>
          <p:cNvPr id="43" name="Text 37"/>
          <p:cNvSpPr txBox="1"/>
          <p:nvPr/>
        </p:nvSpPr>
        <p:spPr>
          <a:xfrm>
            <a:off x="868680" y="5230368"/>
            <a:ext cx="3657600" cy="256032"/>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WHY WE'RE HERE</a:t>
            </a:r>
            <a:endParaRPr lang="en-US" sz="1200" dirty="0"/>
          </a:p>
        </p:txBody>
      </p:sp>
      <p:sp>
        <p:nvSpPr>
          <p:cNvPr id="44" name="Text 38"/>
          <p:cNvSpPr txBox="1"/>
          <p:nvPr/>
        </p:nvSpPr>
        <p:spPr>
          <a:xfrm>
            <a:off x="868680" y="5504688"/>
            <a:ext cx="10424160" cy="54864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To show how raw e-commerce data becomes a trusted decision-making asset, built with the engineering practices teams use in production.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CF4E996F-8054-6EA0-20D4-0AEBD4D2B721}"/>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
                    </a14:imgEffect>
                    <a14:imgEffect>
                      <a14:colorTemperature colorTemp="4873"/>
                    </a14:imgEffect>
                    <a14:imgEffect>
                      <a14:saturation sat="165000"/>
                    </a14:imgEffect>
                    <a14:imgEffect>
                      <a14:brightnessContrast bright="-23000" contrast="-48000"/>
                    </a14:imgEffect>
                  </a14:imgLayer>
                </a14:imgProps>
              </a:ext>
            </a:extLst>
          </a:blip>
          <a:srcRect/>
          <a:stretch>
            <a:fillRect/>
          </a:stretch>
        </p:blipFill>
        <p:spPr>
          <a:xfrm>
            <a:off x="-308737" y="-55072"/>
            <a:ext cx="12639353" cy="7109637"/>
          </a:xfrm>
          <a:prstGeom prst="rect">
            <a:avLst/>
          </a:prstGeom>
          <a:effectLst>
            <a:outerShdw dist="50800" dir="5400000" algn="ctr" rotWithShape="0">
              <a:srgbClr val="000000"/>
            </a:outerShdw>
          </a:effectLst>
        </p:spPr>
      </p:pic>
      <p:sp>
        <p:nvSpPr>
          <p:cNvPr id="2" name="Text 0"/>
          <p:cNvSpPr txBox="1"/>
          <p:nvPr/>
        </p:nvSpPr>
        <p:spPr>
          <a:xfrm>
            <a:off x="619420" y="100584"/>
            <a:ext cx="8706287"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02  ·  </a:t>
            </a:r>
            <a:r>
              <a:rPr lang="en-US" sz="2000" b="1" kern="0" spc="200" dirty="0">
                <a:solidFill>
                  <a:srgbClr val="F26B21"/>
                </a:solidFill>
                <a:latin typeface="Calibri" pitchFamily="34" charset="0"/>
                <a:ea typeface="Calibri" pitchFamily="34" charset="-122"/>
                <a:cs typeface="Calibri" pitchFamily="34" charset="-120"/>
              </a:rPr>
              <a:t>PROBLEM</a:t>
            </a:r>
            <a:r>
              <a:rPr lang="en-US" sz="1200" b="1" kern="0" spc="200" dirty="0">
                <a:solidFill>
                  <a:srgbClr val="F26B21"/>
                </a:solidFill>
                <a:latin typeface="Calibri" pitchFamily="34" charset="0"/>
                <a:ea typeface="Calibri" pitchFamily="34" charset="-122"/>
                <a:cs typeface="Calibri" pitchFamily="34" charset="-120"/>
              </a:rPr>
              <a:t>  ›  </a:t>
            </a:r>
            <a:r>
              <a:rPr lang="en-US" sz="3200" b="1" kern="0" spc="200" dirty="0">
                <a:solidFill>
                  <a:srgbClr val="F26B21"/>
                </a:solidFill>
                <a:latin typeface="Calibri" pitchFamily="34" charset="0"/>
                <a:ea typeface="Calibri" pitchFamily="34" charset="-122"/>
                <a:cs typeface="Calibri" pitchFamily="34" charset="-120"/>
              </a:rPr>
              <a:t>CORE ANALYTICAL QUESTION</a:t>
            </a:r>
            <a:endParaRPr lang="en-US" sz="3200" dirty="0"/>
          </a:p>
        </p:txBody>
      </p:sp>
      <p:sp>
        <p:nvSpPr>
          <p:cNvPr id="3" name="Text 1"/>
          <p:cNvSpPr txBox="1"/>
          <p:nvPr/>
        </p:nvSpPr>
        <p:spPr>
          <a:xfrm>
            <a:off x="5584613" y="534239"/>
            <a:ext cx="9692640" cy="581664"/>
          </a:xfrm>
          <a:prstGeom prst="rect">
            <a:avLst/>
          </a:prstGeom>
          <a:noFill/>
          <a:ln/>
        </p:spPr>
        <p:txBody>
          <a:bodyPr wrap="square" lIns="0" tIns="0" rIns="0" bIns="0" rtlCol="0" anchor="t"/>
          <a:lstStyle/>
          <a:p>
            <a:pPr marL="0" indent="0">
              <a:buNone/>
            </a:pPr>
            <a:r>
              <a:rPr lang="en-US" sz="2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Cambria" pitchFamily="34" charset="0"/>
                <a:ea typeface="Cambria" pitchFamily="34" charset="-122"/>
                <a:cs typeface="Cambria" pitchFamily="34" charset="-120"/>
              </a:rPr>
              <a:t>One business question, nine </a:t>
            </a:r>
            <a:r>
              <a:rPr lang="en-US" sz="32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Cambria" pitchFamily="34" charset="0"/>
                <a:ea typeface="Cambria" pitchFamily="34" charset="-122"/>
                <a:cs typeface="Cambria" pitchFamily="34" charset="-120"/>
              </a:rPr>
              <a:t>disconnected</a:t>
            </a:r>
            <a:r>
              <a:rPr lang="en-US" sz="2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Cambria" pitchFamily="34" charset="0"/>
                <a:ea typeface="Cambria" pitchFamily="34" charset="-122"/>
                <a:cs typeface="Cambria" pitchFamily="34" charset="-120"/>
              </a:rPr>
              <a:t> tables</a:t>
            </a:r>
            <a:endParaRPr lang="en-US" sz="2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sp>
        <p:nvSpPr>
          <p:cNvPr id="4" name="Shape 2"/>
          <p:cNvSpPr/>
          <p:nvPr/>
        </p:nvSpPr>
        <p:spPr>
          <a:xfrm>
            <a:off x="576072" y="6483096"/>
            <a:ext cx="128016" cy="128016"/>
          </a:xfrm>
          <a:prstGeom prst="ellipse">
            <a:avLst/>
          </a:prstGeom>
          <a:solidFill>
            <a:srgbClr val="0B1F3A"/>
          </a:solidFill>
          <a:ln w="12700">
            <a:solidFill>
              <a:srgbClr val="0B1F3A"/>
            </a:solidFill>
            <a:prstDash val="solid"/>
          </a:ln>
        </p:spPr>
      </p:sp>
      <p:sp>
        <p:nvSpPr>
          <p:cNvPr id="5" name="Text 3"/>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Introduction</a:t>
            </a:r>
            <a:endParaRPr lang="en-US" sz="1050" dirty="0"/>
          </a:p>
        </p:txBody>
      </p:sp>
      <p:sp>
        <p:nvSpPr>
          <p:cNvPr id="6" name="Shape 4"/>
          <p:cNvSpPr/>
          <p:nvPr/>
        </p:nvSpPr>
        <p:spPr>
          <a:xfrm>
            <a:off x="1938528" y="6391656"/>
            <a:ext cx="1051560" cy="310896"/>
          </a:xfrm>
          <a:prstGeom prst="roundRect">
            <a:avLst>
              <a:gd name="adj" fmla="val 50000"/>
            </a:avLst>
          </a:prstGeom>
          <a:solidFill>
            <a:srgbClr val="FDE8DA"/>
          </a:solidFill>
          <a:ln w="6350">
            <a:solidFill>
              <a:srgbClr val="FDE8DA"/>
            </a:solidFill>
            <a:prstDash val="solid"/>
          </a:ln>
        </p:spPr>
      </p:sp>
      <p:sp>
        <p:nvSpPr>
          <p:cNvPr id="7" name="Shape 5"/>
          <p:cNvSpPr/>
          <p:nvPr/>
        </p:nvSpPr>
        <p:spPr>
          <a:xfrm>
            <a:off x="2039112" y="6483096"/>
            <a:ext cx="128016" cy="128016"/>
          </a:xfrm>
          <a:prstGeom prst="ellipse">
            <a:avLst/>
          </a:prstGeom>
          <a:solidFill>
            <a:srgbClr val="F26B21"/>
          </a:solidFill>
          <a:ln w="12700">
            <a:solidFill>
              <a:srgbClr val="F26B21"/>
            </a:solidFill>
            <a:prstDash val="solid"/>
          </a:ln>
        </p:spPr>
      </p:sp>
      <p:sp>
        <p:nvSpPr>
          <p:cNvPr id="8" name="Text 6"/>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Problem</a:t>
            </a:r>
            <a:endParaRPr lang="en-US" sz="1100" dirty="0"/>
          </a:p>
        </p:txBody>
      </p:sp>
      <p:sp>
        <p:nvSpPr>
          <p:cNvPr id="9" name="Shape 7"/>
          <p:cNvSpPr/>
          <p:nvPr/>
        </p:nvSpPr>
        <p:spPr>
          <a:xfrm>
            <a:off x="3182112" y="6483096"/>
            <a:ext cx="128016" cy="128016"/>
          </a:xfrm>
          <a:prstGeom prst="ellipse">
            <a:avLst/>
          </a:prstGeom>
          <a:solidFill>
            <a:srgbClr val="FFFFFF"/>
          </a:solidFill>
          <a:ln w="12700">
            <a:solidFill>
              <a:srgbClr val="8A94A6"/>
            </a:solidFill>
            <a:prstDash val="solid"/>
          </a:ln>
        </p:spPr>
      </p:sp>
      <p:sp>
        <p:nvSpPr>
          <p:cNvPr id="10" name="Text 8"/>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050" dirty="0">
                <a:solidFill>
                  <a:schemeClr val="bg1"/>
                </a:solidFill>
                <a:latin typeface="Calibri" pitchFamily="34" charset="0"/>
                <a:ea typeface="Calibri" pitchFamily="34" charset="-122"/>
                <a:cs typeface="Calibri" pitchFamily="34" charset="-120"/>
              </a:rPr>
              <a:t>Solution</a:t>
            </a:r>
            <a:endParaRPr lang="en-US" sz="1050" dirty="0">
              <a:solidFill>
                <a:schemeClr val="bg1"/>
              </a:solidFill>
            </a:endParaRPr>
          </a:p>
        </p:txBody>
      </p:sp>
      <p:sp>
        <p:nvSpPr>
          <p:cNvPr id="11" name="Shape 9"/>
          <p:cNvSpPr/>
          <p:nvPr/>
        </p:nvSpPr>
        <p:spPr>
          <a:xfrm>
            <a:off x="4370832" y="6483096"/>
            <a:ext cx="128016" cy="128016"/>
          </a:xfrm>
          <a:prstGeom prst="ellipse">
            <a:avLst/>
          </a:prstGeom>
          <a:solidFill>
            <a:srgbClr val="FFFFFF"/>
          </a:solidFill>
          <a:ln w="12700">
            <a:solidFill>
              <a:srgbClr val="8A94A6"/>
            </a:solidFill>
            <a:prstDash val="solid"/>
          </a:ln>
        </p:spPr>
      </p:sp>
      <p:sp>
        <p:nvSpPr>
          <p:cNvPr id="12" name="Text 10"/>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050" dirty="0">
                <a:solidFill>
                  <a:schemeClr val="bg1"/>
                </a:solidFill>
                <a:latin typeface="Calibri" pitchFamily="34" charset="0"/>
                <a:ea typeface="Calibri" pitchFamily="34" charset="-122"/>
                <a:cs typeface="Calibri" pitchFamily="34" charset="-120"/>
              </a:rPr>
              <a:t>Insights</a:t>
            </a:r>
            <a:endParaRPr lang="en-US" sz="1050" dirty="0">
              <a:solidFill>
                <a:schemeClr val="bg1"/>
              </a:solidFill>
            </a:endParaRPr>
          </a:p>
        </p:txBody>
      </p:sp>
      <p:sp>
        <p:nvSpPr>
          <p:cNvPr id="13" name="Shape 11"/>
          <p:cNvSpPr/>
          <p:nvPr/>
        </p:nvSpPr>
        <p:spPr>
          <a:xfrm>
            <a:off x="5559552" y="6483096"/>
            <a:ext cx="128016" cy="128016"/>
          </a:xfrm>
          <a:prstGeom prst="ellipse">
            <a:avLst/>
          </a:prstGeom>
          <a:solidFill>
            <a:srgbClr val="FFFFFF"/>
          </a:solidFill>
          <a:ln w="12700">
            <a:solidFill>
              <a:srgbClr val="8A94A6"/>
            </a:solidFill>
            <a:prstDash val="solid"/>
          </a:ln>
        </p:spPr>
      </p:sp>
      <p:sp>
        <p:nvSpPr>
          <p:cNvPr id="14" name="Text 12"/>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050" dirty="0">
                <a:solidFill>
                  <a:schemeClr val="bg1"/>
                </a:solidFill>
                <a:latin typeface="Calibri" pitchFamily="34" charset="0"/>
                <a:ea typeface="Calibri" pitchFamily="34" charset="-122"/>
                <a:cs typeface="Calibri" pitchFamily="34" charset="-120"/>
              </a:rPr>
              <a:t>Challenges &amp; Lessons</a:t>
            </a:r>
            <a:endParaRPr lang="en-US" sz="1050" dirty="0">
              <a:solidFill>
                <a:schemeClr val="bg1"/>
              </a:solidFill>
            </a:endParaRPr>
          </a:p>
        </p:txBody>
      </p:sp>
      <p:sp>
        <p:nvSpPr>
          <p:cNvPr id="15" name="Shape 13"/>
          <p:cNvSpPr/>
          <p:nvPr/>
        </p:nvSpPr>
        <p:spPr>
          <a:xfrm>
            <a:off x="7571232" y="6483096"/>
            <a:ext cx="128016" cy="128016"/>
          </a:xfrm>
          <a:prstGeom prst="ellipse">
            <a:avLst/>
          </a:prstGeom>
          <a:solidFill>
            <a:srgbClr val="FFFFFF"/>
          </a:solidFill>
          <a:ln w="12700">
            <a:solidFill>
              <a:srgbClr val="8A94A6"/>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050" dirty="0">
                <a:solidFill>
                  <a:schemeClr val="bg1"/>
                </a:solidFill>
                <a:latin typeface="Calibri" pitchFamily="34" charset="0"/>
                <a:ea typeface="Calibri" pitchFamily="34" charset="-122"/>
                <a:cs typeface="Calibri" pitchFamily="34" charset="-120"/>
              </a:rPr>
              <a:t>Conclusion</a:t>
            </a:r>
            <a:endParaRPr lang="en-US" sz="1050" dirty="0">
              <a:solidFill>
                <a:schemeClr val="bg1"/>
              </a:solidFill>
            </a:endParaRPr>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5B6678"/>
                </a:solidFill>
                <a:latin typeface="Calibri" pitchFamily="34" charset="0"/>
                <a:ea typeface="Calibri" pitchFamily="34" charset="-122"/>
                <a:cs typeface="Calibri" pitchFamily="34" charset="-120"/>
              </a:rPr>
              <a:t>3</a:t>
            </a:r>
            <a:endParaRPr lang="en-US" sz="1000" dirty="0"/>
          </a:p>
        </p:txBody>
      </p:sp>
      <p:sp>
        <p:nvSpPr>
          <p:cNvPr id="18" name="Shape 16"/>
          <p:cNvSpPr/>
          <p:nvPr/>
        </p:nvSpPr>
        <p:spPr>
          <a:xfrm>
            <a:off x="576072" y="1632203"/>
            <a:ext cx="5212080" cy="2916967"/>
          </a:xfrm>
          <a:prstGeom prst="roundRect">
            <a:avLst>
              <a:gd name="adj" fmla="val 4348"/>
            </a:avLst>
          </a:prstGeom>
          <a:solidFill>
            <a:srgbClr val="F1F4F9">
              <a:alpha val="68000"/>
            </a:srgbClr>
          </a:solidFill>
          <a:ln w="6350">
            <a:solidFill>
              <a:srgbClr val="F1F4F9"/>
            </a:solidFill>
            <a:prstDash val="solid"/>
          </a:ln>
        </p:spPr>
      </p:sp>
      <p:sp>
        <p:nvSpPr>
          <p:cNvPr id="19" name="Shape 17"/>
          <p:cNvSpPr/>
          <p:nvPr/>
        </p:nvSpPr>
        <p:spPr>
          <a:xfrm>
            <a:off x="822960" y="1828800"/>
            <a:ext cx="640080" cy="640080"/>
          </a:xfrm>
          <a:prstGeom prst="ellipse">
            <a:avLst/>
          </a:prstGeom>
          <a:solidFill>
            <a:srgbClr val="2F6FBF"/>
          </a:solidFill>
          <a:ln w="6350">
            <a:solidFill>
              <a:srgbClr val="2F6FBF"/>
            </a:solidFill>
            <a:prstDash val="solid"/>
          </a:ln>
        </p:spPr>
      </p:sp>
      <p:pic>
        <p:nvPicPr>
          <p:cNvPr id="20" name="Image 0" descr="preencoded.png"/>
          <p:cNvPicPr>
            <a:picLocks noChangeAspect="1"/>
          </p:cNvPicPr>
          <p:nvPr/>
        </p:nvPicPr>
        <p:blipFill>
          <a:blip r:embed="rId6"/>
          <a:stretch>
            <a:fillRect/>
          </a:stretch>
        </p:blipFill>
        <p:spPr>
          <a:xfrm>
            <a:off x="995782" y="2001622"/>
            <a:ext cx="294437" cy="294437"/>
          </a:xfrm>
          <a:prstGeom prst="rect">
            <a:avLst/>
          </a:prstGeom>
        </p:spPr>
      </p:pic>
      <p:sp>
        <p:nvSpPr>
          <p:cNvPr id="21" name="Text 18"/>
          <p:cNvSpPr txBox="1"/>
          <p:nvPr/>
        </p:nvSpPr>
        <p:spPr>
          <a:xfrm>
            <a:off x="1623856" y="1802622"/>
            <a:ext cx="3840480" cy="374904"/>
          </a:xfrm>
          <a:prstGeom prst="rect">
            <a:avLst/>
          </a:prstGeom>
          <a:noFill/>
          <a:ln/>
        </p:spPr>
        <p:txBody>
          <a:bodyPr wrap="square" lIns="0" tIns="0" rIns="0" bIns="0" rtlCol="0" anchor="ctr"/>
          <a:lstStyle/>
          <a:p>
            <a:pPr marL="0" indent="0">
              <a:buNone/>
            </a:pPr>
            <a:r>
              <a:rPr lang="en-US" b="1" dirty="0">
                <a:solidFill>
                  <a:srgbClr val="0B1F3A"/>
                </a:solidFill>
                <a:latin typeface="Calibri" pitchFamily="34" charset="0"/>
                <a:ea typeface="Calibri" pitchFamily="34" charset="-122"/>
                <a:cs typeface="Calibri" pitchFamily="34" charset="-120"/>
              </a:rPr>
              <a:t>Temporal Control Framework</a:t>
            </a:r>
            <a:endParaRPr lang="en-US" sz="1800" dirty="0"/>
          </a:p>
        </p:txBody>
      </p:sp>
      <p:sp>
        <p:nvSpPr>
          <p:cNvPr id="22" name="Text 19"/>
          <p:cNvSpPr txBox="1"/>
          <p:nvPr/>
        </p:nvSpPr>
        <p:spPr>
          <a:xfrm>
            <a:off x="1670981" y="2289287"/>
            <a:ext cx="3646085" cy="1013395"/>
          </a:xfrm>
          <a:prstGeom prst="rect">
            <a:avLst/>
          </a:prstGeom>
          <a:noFill/>
          <a:ln/>
        </p:spPr>
        <p:txBody>
          <a:bodyPr wrap="square" lIns="0" tIns="0" rIns="0" bIns="0" rtlCol="0" anchor="t"/>
          <a:lstStyle/>
          <a:p>
            <a:r>
              <a:rPr lang="en-SG" sz="1600" b="1" dirty="0"/>
              <a:t>4 Weeks Prior and after - </a:t>
            </a:r>
            <a:r>
              <a:rPr lang="en-SG" sz="1400" dirty="0">
                <a:solidFill>
                  <a:schemeClr val="bg2">
                    <a:lumMod val="25000"/>
                  </a:schemeClr>
                </a:solidFill>
              </a:rPr>
              <a:t>purchasing behaviour and baseline pricing + post purchase</a:t>
            </a:r>
          </a:p>
          <a:p>
            <a:endParaRPr lang="en-SG" sz="1400" b="1" dirty="0">
              <a:solidFill>
                <a:schemeClr val="bg2">
                  <a:lumMod val="25000"/>
                </a:schemeClr>
              </a:solidFill>
            </a:endParaRPr>
          </a:p>
          <a:p>
            <a:r>
              <a:rPr lang="en-SG" sz="1600" b="1" dirty="0" err="1"/>
              <a:t>eview</a:t>
            </a:r>
            <a:r>
              <a:rPr lang="en-SG" sz="1600" b="1" dirty="0"/>
              <a:t> Lag Distortion - </a:t>
            </a:r>
            <a:r>
              <a:rPr lang="en-SG" sz="1400" dirty="0"/>
              <a:t>Reviews arrive in December. Mapped strictly back to original .</a:t>
            </a:r>
          </a:p>
          <a:p>
            <a:endParaRPr lang="en-SG" sz="1000" dirty="0">
              <a:solidFill>
                <a:schemeClr val="bg2">
                  <a:lumMod val="25000"/>
                </a:schemeClr>
              </a:solidFill>
            </a:endParaRPr>
          </a:p>
          <a:p>
            <a:r>
              <a:rPr lang="en-SG" sz="1600" b="1" dirty="0"/>
              <a:t>Decision Threshold</a:t>
            </a:r>
          </a:p>
          <a:p>
            <a:r>
              <a:rPr lang="en-SG" sz="1200" b="1" dirty="0">
                <a:solidFill>
                  <a:schemeClr val="accent1">
                    <a:lumMod val="50000"/>
                  </a:schemeClr>
                </a:solidFill>
              </a:rPr>
              <a:t>    Volume spike = peak day &gt;= 2 control daily mean</a:t>
            </a:r>
          </a:p>
          <a:p>
            <a:r>
              <a:rPr lang="en-SG" sz="1200" b="1" dirty="0">
                <a:solidFill>
                  <a:schemeClr val="accent1">
                    <a:lumMod val="50000"/>
                  </a:schemeClr>
                </a:solidFill>
              </a:rPr>
              <a:t>    Real Discount = median in product price ratio &lt;= 5%</a:t>
            </a:r>
          </a:p>
          <a:p>
            <a:r>
              <a:rPr lang="en-SG" sz="1200" b="1" dirty="0">
                <a:solidFill>
                  <a:schemeClr val="accent1">
                    <a:lumMod val="50000"/>
                  </a:schemeClr>
                </a:solidFill>
              </a:rPr>
              <a:t>    Operational cost = delay +0.3days or -0.2 stars. </a:t>
            </a:r>
            <a:endParaRPr lang="en-SG" sz="1100" dirty="0">
              <a:solidFill>
                <a:schemeClr val="accent1">
                  <a:lumMod val="50000"/>
                </a:schemeClr>
              </a:solidFill>
            </a:endParaRPr>
          </a:p>
        </p:txBody>
      </p:sp>
      <p:sp>
        <p:nvSpPr>
          <p:cNvPr id="23" name="Shape 20"/>
          <p:cNvSpPr/>
          <p:nvPr/>
        </p:nvSpPr>
        <p:spPr>
          <a:xfrm>
            <a:off x="576072" y="4727448"/>
            <a:ext cx="5212080" cy="1324965"/>
          </a:xfrm>
          <a:prstGeom prst="roundRect">
            <a:avLst>
              <a:gd name="adj" fmla="val 4348"/>
            </a:avLst>
          </a:prstGeom>
          <a:solidFill>
            <a:srgbClr val="F1F4F9">
              <a:alpha val="68000"/>
            </a:srgbClr>
          </a:solidFill>
          <a:ln w="6350">
            <a:solidFill>
              <a:srgbClr val="F1F4F9"/>
            </a:solidFill>
            <a:prstDash val="solid"/>
          </a:ln>
        </p:spPr>
      </p:sp>
      <p:sp>
        <p:nvSpPr>
          <p:cNvPr id="24" name="Shape 21"/>
          <p:cNvSpPr/>
          <p:nvPr/>
        </p:nvSpPr>
        <p:spPr>
          <a:xfrm>
            <a:off x="848021" y="4992624"/>
            <a:ext cx="640080" cy="640080"/>
          </a:xfrm>
          <a:prstGeom prst="ellipse">
            <a:avLst/>
          </a:prstGeom>
          <a:solidFill>
            <a:srgbClr val="2F6FBF"/>
          </a:solidFill>
          <a:ln w="6350">
            <a:solidFill>
              <a:srgbClr val="2F6FBF"/>
            </a:solidFill>
            <a:prstDash val="solid"/>
          </a:ln>
        </p:spPr>
      </p:sp>
      <p:pic>
        <p:nvPicPr>
          <p:cNvPr id="25" name="Image 1" descr="preencoded.png"/>
          <p:cNvPicPr>
            <a:picLocks noChangeAspect="1"/>
          </p:cNvPicPr>
          <p:nvPr/>
        </p:nvPicPr>
        <p:blipFill>
          <a:blip r:embed="rId7"/>
          <a:stretch>
            <a:fillRect/>
          </a:stretch>
        </p:blipFill>
        <p:spPr>
          <a:xfrm>
            <a:off x="1020843" y="5165446"/>
            <a:ext cx="294437" cy="294437"/>
          </a:xfrm>
          <a:prstGeom prst="rect">
            <a:avLst/>
          </a:prstGeom>
        </p:spPr>
      </p:pic>
      <p:sp>
        <p:nvSpPr>
          <p:cNvPr id="26" name="Text 22"/>
          <p:cNvSpPr txBox="1"/>
          <p:nvPr/>
        </p:nvSpPr>
        <p:spPr>
          <a:xfrm>
            <a:off x="1670981" y="4660931"/>
            <a:ext cx="3840480" cy="640080"/>
          </a:xfrm>
          <a:prstGeom prst="rect">
            <a:avLst/>
          </a:prstGeom>
          <a:noFill/>
          <a:ln/>
        </p:spPr>
        <p:txBody>
          <a:bodyPr wrap="square" lIns="0" tIns="0" rIns="0" bIns="0" rtlCol="0" anchor="ctr"/>
          <a:lstStyle/>
          <a:p>
            <a:pPr marL="0" indent="0">
              <a:buNone/>
            </a:pPr>
            <a:r>
              <a:rPr lang="en-US" sz="1800" b="1" dirty="0">
                <a:solidFill>
                  <a:srgbClr val="0B1F3A"/>
                </a:solidFill>
                <a:latin typeface="Calibri" pitchFamily="34" charset="0"/>
                <a:ea typeface="Calibri" pitchFamily="34" charset="-122"/>
                <a:cs typeface="Calibri" pitchFamily="34" charset="-120"/>
              </a:rPr>
              <a:t>The business challenge</a:t>
            </a:r>
            <a:endParaRPr lang="en-US" sz="1800" dirty="0"/>
          </a:p>
        </p:txBody>
      </p:sp>
      <p:sp>
        <p:nvSpPr>
          <p:cNvPr id="27" name="Text 23"/>
          <p:cNvSpPr txBox="1"/>
          <p:nvPr/>
        </p:nvSpPr>
        <p:spPr>
          <a:xfrm>
            <a:off x="1721053" y="5212080"/>
            <a:ext cx="3794760" cy="931094"/>
          </a:xfrm>
          <a:prstGeom prst="rect">
            <a:avLst/>
          </a:prstGeom>
          <a:noFill/>
          <a:ln/>
        </p:spPr>
        <p:txBody>
          <a:bodyPr wrap="square" lIns="0" tIns="0" rIns="0" bIns="0" rtlCol="0" anchor="t"/>
          <a:lstStyle/>
          <a:p>
            <a:pPr marL="0" indent="0">
              <a:buNone/>
            </a:pPr>
            <a:r>
              <a:rPr lang="en-US" sz="1400" dirty="0">
                <a:solidFill>
                  <a:srgbClr val="5B6678"/>
                </a:solidFill>
                <a:latin typeface="Calibri" pitchFamily="34" charset="0"/>
                <a:ea typeface="Calibri" pitchFamily="34" charset="-122"/>
                <a:cs typeface="Calibri" pitchFamily="34" charset="-120"/>
              </a:rPr>
              <a:t>Raw order records cannot verify an event changes behaviour. Only 1 complete black Friday on 2016-2018 dataset.</a:t>
            </a:r>
            <a:endParaRPr lang="en-US" sz="1400" dirty="0"/>
          </a:p>
        </p:txBody>
      </p:sp>
      <p:sp>
        <p:nvSpPr>
          <p:cNvPr id="28" name="Shape 24"/>
          <p:cNvSpPr/>
          <p:nvPr/>
        </p:nvSpPr>
        <p:spPr>
          <a:xfrm>
            <a:off x="6080760" y="1591731"/>
            <a:ext cx="5559552" cy="4480560"/>
          </a:xfrm>
          <a:prstGeom prst="roundRect">
            <a:avLst>
              <a:gd name="adj" fmla="val 2857"/>
            </a:avLst>
          </a:prstGeom>
          <a:solidFill>
            <a:srgbClr val="0B1F3A">
              <a:alpha val="68000"/>
            </a:srgbClr>
          </a:solidFill>
          <a:ln w="6350">
            <a:solidFill>
              <a:srgbClr val="0B1F3A"/>
            </a:solidFill>
            <a:prstDash val="solid"/>
          </a:ln>
        </p:spPr>
      </p:sp>
      <p:sp>
        <p:nvSpPr>
          <p:cNvPr id="29" name="Text 25"/>
          <p:cNvSpPr txBox="1"/>
          <p:nvPr/>
        </p:nvSpPr>
        <p:spPr>
          <a:xfrm>
            <a:off x="6534455" y="2001622"/>
            <a:ext cx="3657600" cy="256032"/>
          </a:xfrm>
          <a:prstGeom prst="rect">
            <a:avLst/>
          </a:prstGeom>
          <a:noFill/>
          <a:ln/>
        </p:spPr>
        <p:txBody>
          <a:bodyPr wrap="square" lIns="0" tIns="0" rIns="0" bIns="0" rtlCol="0" anchor="t"/>
          <a:lstStyle/>
          <a:p>
            <a:pPr marL="0" indent="0">
              <a:buNone/>
            </a:pPr>
            <a:r>
              <a:rPr lang="en-US" sz="2000" b="1" kern="0" spc="200" dirty="0">
                <a:solidFill>
                  <a:srgbClr val="F26B21"/>
                </a:solidFill>
                <a:latin typeface="Calibri" pitchFamily="34" charset="0"/>
                <a:ea typeface="Calibri" pitchFamily="34" charset="-122"/>
                <a:cs typeface="Calibri" pitchFamily="34" charset="-120"/>
              </a:rPr>
              <a:t>THE QUESTION</a:t>
            </a:r>
            <a:endParaRPr lang="en-US" sz="2000" dirty="0"/>
          </a:p>
        </p:txBody>
      </p:sp>
      <p:sp>
        <p:nvSpPr>
          <p:cNvPr id="30" name="Text 26"/>
          <p:cNvSpPr txBox="1"/>
          <p:nvPr/>
        </p:nvSpPr>
        <p:spPr>
          <a:xfrm>
            <a:off x="6534455" y="2560320"/>
            <a:ext cx="4758385" cy="1371600"/>
          </a:xfrm>
          <a:prstGeom prst="rect">
            <a:avLst/>
          </a:prstGeom>
          <a:noFill/>
          <a:ln/>
        </p:spPr>
        <p:txBody>
          <a:bodyPr wrap="square" lIns="0" tIns="0" rIns="0" bIns="0" rtlCol="0" anchor="t"/>
          <a:lstStyle/>
          <a:p>
            <a:pPr marL="0" indent="0">
              <a:buNone/>
            </a:pPr>
            <a:r>
              <a:rPr lang="en-US" sz="2200" dirty="0">
                <a:solidFill>
                  <a:srgbClr val="FFFFFF"/>
                </a:solidFill>
                <a:latin typeface="Cambria" pitchFamily="34" charset="0"/>
                <a:ea typeface="Cambria" pitchFamily="34" charset="-122"/>
                <a:cs typeface="Cambria" pitchFamily="34" charset="-120"/>
              </a:rPr>
              <a:t>"Does Black Friday fundamentally alter consumer behavior, or merely accelerate baseline demand at operational cost?"</a:t>
            </a:r>
            <a:endParaRPr lang="en-US" sz="2200" dirty="0"/>
          </a:p>
        </p:txBody>
      </p:sp>
      <p:sp>
        <p:nvSpPr>
          <p:cNvPr id="31" name="Shape 27"/>
          <p:cNvSpPr/>
          <p:nvPr/>
        </p:nvSpPr>
        <p:spPr>
          <a:xfrm>
            <a:off x="6446520" y="4160520"/>
            <a:ext cx="365760" cy="365760"/>
          </a:xfrm>
          <a:prstGeom prst="ellipse">
            <a:avLst/>
          </a:prstGeom>
          <a:solidFill>
            <a:srgbClr val="F26B21"/>
          </a:solidFill>
          <a:ln w="6350">
            <a:solidFill>
              <a:srgbClr val="F26B21"/>
            </a:solidFill>
            <a:prstDash val="solid"/>
          </a:ln>
        </p:spPr>
      </p:sp>
      <p:sp>
        <p:nvSpPr>
          <p:cNvPr id="32" name="Text 28"/>
          <p:cNvSpPr txBox="1"/>
          <p:nvPr/>
        </p:nvSpPr>
        <p:spPr>
          <a:xfrm>
            <a:off x="6446520" y="4160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3" name="Text 29"/>
          <p:cNvSpPr txBox="1"/>
          <p:nvPr/>
        </p:nvSpPr>
        <p:spPr>
          <a:xfrm>
            <a:off x="6995160" y="4295171"/>
            <a:ext cx="4297680" cy="365760"/>
          </a:xfrm>
          <a:prstGeom prst="rect">
            <a:avLst/>
          </a:prstGeom>
          <a:noFill/>
          <a:ln/>
        </p:spPr>
        <p:txBody>
          <a:bodyPr wrap="square" lIns="0" tIns="0" rIns="0" bIns="0" rtlCol="0" anchor="ctr"/>
          <a:lstStyle/>
          <a:p>
            <a:r>
              <a:rPr lang="en-US" sz="1500" dirty="0">
                <a:solidFill>
                  <a:srgbClr val="FFFFFF"/>
                </a:solidFill>
                <a:latin typeface="Calibri" pitchFamily="34" charset="0"/>
                <a:ea typeface="Calibri" pitchFamily="34" charset="-122"/>
                <a:cs typeface="Calibri" pitchFamily="34" charset="-120"/>
              </a:rPr>
              <a:t>Volume &amp; Revenue : Gross sales &amp; AOV impact</a:t>
            </a:r>
          </a:p>
          <a:p>
            <a:pPr marL="0" indent="0">
              <a:buNone/>
            </a:pPr>
            <a:r>
              <a:rPr lang="en-US" sz="1500" dirty="0">
                <a:solidFill>
                  <a:srgbClr val="FFFFFF"/>
                </a:solidFill>
                <a:latin typeface="Calibri" pitchFamily="34" charset="0"/>
                <a:ea typeface="Calibri" pitchFamily="34" charset="-122"/>
                <a:cs typeface="Calibri" pitchFamily="34" charset="-120"/>
              </a:rPr>
              <a:t>  </a:t>
            </a:r>
          </a:p>
        </p:txBody>
      </p:sp>
      <p:sp>
        <p:nvSpPr>
          <p:cNvPr id="34" name="Shape 30"/>
          <p:cNvSpPr/>
          <p:nvPr/>
        </p:nvSpPr>
        <p:spPr>
          <a:xfrm>
            <a:off x="6446520" y="4727448"/>
            <a:ext cx="365760" cy="365760"/>
          </a:xfrm>
          <a:prstGeom prst="ellipse">
            <a:avLst/>
          </a:prstGeom>
          <a:solidFill>
            <a:srgbClr val="F26B21"/>
          </a:solidFill>
          <a:ln w="6350">
            <a:solidFill>
              <a:srgbClr val="F26B21"/>
            </a:solidFill>
            <a:prstDash val="solid"/>
          </a:ln>
        </p:spPr>
      </p:sp>
      <p:sp>
        <p:nvSpPr>
          <p:cNvPr id="35" name="Text 31"/>
          <p:cNvSpPr txBox="1"/>
          <p:nvPr/>
        </p:nvSpPr>
        <p:spPr>
          <a:xfrm>
            <a:off x="6446520" y="472744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6" name="Text 32"/>
          <p:cNvSpPr txBox="1"/>
          <p:nvPr/>
        </p:nvSpPr>
        <p:spPr>
          <a:xfrm>
            <a:off x="6995160" y="4846320"/>
            <a:ext cx="4297680" cy="365760"/>
          </a:xfrm>
          <a:prstGeom prst="rect">
            <a:avLst/>
          </a:prstGeom>
          <a:noFill/>
          <a:ln/>
        </p:spPr>
        <p:txBody>
          <a:bodyPr wrap="square" lIns="0" tIns="0" rIns="0" bIns="0" rtlCol="0" anchor="ctr"/>
          <a:lstStyle/>
          <a:p>
            <a:r>
              <a:rPr lang="en-US" sz="1500" dirty="0">
                <a:solidFill>
                  <a:srgbClr val="FFFFFF"/>
                </a:solidFill>
                <a:latin typeface="Calibri" pitchFamily="34" charset="0"/>
                <a:ea typeface="Calibri" pitchFamily="34" charset="-122"/>
                <a:cs typeface="Calibri" pitchFamily="34" charset="-120"/>
              </a:rPr>
              <a:t>Pricing Reality : Validating real discounts</a:t>
            </a:r>
          </a:p>
          <a:p>
            <a:pPr marL="0" indent="0">
              <a:buNone/>
            </a:pPr>
            <a:endParaRPr lang="en-US" sz="1500" dirty="0">
              <a:solidFill>
                <a:srgbClr val="FFFFFF"/>
              </a:solidFill>
              <a:latin typeface="Calibri" pitchFamily="34" charset="0"/>
              <a:ea typeface="Calibri" pitchFamily="34" charset="-122"/>
              <a:cs typeface="Calibri" pitchFamily="34" charset="-120"/>
            </a:endParaRPr>
          </a:p>
        </p:txBody>
      </p:sp>
      <p:sp>
        <p:nvSpPr>
          <p:cNvPr id="37" name="Shape 33"/>
          <p:cNvSpPr/>
          <p:nvPr/>
        </p:nvSpPr>
        <p:spPr>
          <a:xfrm>
            <a:off x="6446520" y="5294376"/>
            <a:ext cx="365760" cy="365760"/>
          </a:xfrm>
          <a:prstGeom prst="ellipse">
            <a:avLst/>
          </a:prstGeom>
          <a:solidFill>
            <a:srgbClr val="F26B21"/>
          </a:solidFill>
          <a:ln w="6350">
            <a:solidFill>
              <a:srgbClr val="F26B21"/>
            </a:solidFill>
            <a:prstDash val="solid"/>
          </a:ln>
        </p:spPr>
      </p:sp>
      <p:sp>
        <p:nvSpPr>
          <p:cNvPr id="38" name="Text 34"/>
          <p:cNvSpPr txBox="1"/>
          <p:nvPr/>
        </p:nvSpPr>
        <p:spPr>
          <a:xfrm>
            <a:off x="6446520" y="529437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9" name="Text 35"/>
          <p:cNvSpPr txBox="1"/>
          <p:nvPr/>
        </p:nvSpPr>
        <p:spPr>
          <a:xfrm>
            <a:off x="6995160" y="5294376"/>
            <a:ext cx="4297680" cy="365760"/>
          </a:xfrm>
          <a:prstGeom prst="rect">
            <a:avLst/>
          </a:prstGeom>
          <a:noFill/>
          <a:ln/>
        </p:spPr>
        <p:txBody>
          <a:bodyPr wrap="square" lIns="0" tIns="0" rIns="0" bIns="0" rtlCol="0" anchor="ctr"/>
          <a:lstStyle/>
          <a:p>
            <a:r>
              <a:rPr lang="en-US" sz="1500" dirty="0">
                <a:solidFill>
                  <a:srgbClr val="FFFFFF"/>
                </a:solidFill>
                <a:latin typeface="Calibri" pitchFamily="34" charset="0"/>
                <a:ea typeface="Calibri" pitchFamily="34" charset="-122"/>
                <a:cs typeface="Calibri" pitchFamily="34" charset="-120"/>
              </a:rPr>
              <a:t>Operational Strain : Delivery delays &amp; reviews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1934A023-C8F1-8BA6-2B92-2E3F4D8AC20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
                    </a14:imgEffect>
                    <a14:imgEffect>
                      <a14:colorTemperature colorTemp="4873"/>
                    </a14:imgEffect>
                    <a14:imgEffect>
                      <a14:saturation sat="165000"/>
                    </a14:imgEffect>
                    <a14:imgEffect>
                      <a14:brightnessContrast bright="-23000" contrast="-48000"/>
                    </a14:imgEffect>
                  </a14:imgLayer>
                </a14:imgProps>
              </a:ext>
            </a:extLst>
          </a:blip>
          <a:srcRect/>
          <a:stretch>
            <a:fillRect/>
          </a:stretch>
        </p:blipFill>
        <p:spPr>
          <a:xfrm>
            <a:off x="-308737" y="-148856"/>
            <a:ext cx="12639353" cy="7109637"/>
          </a:xfrm>
          <a:prstGeom prst="rect">
            <a:avLst/>
          </a:prstGeom>
          <a:effectLst>
            <a:outerShdw dist="50800" dir="5400000" algn="ctr" rotWithShape="0">
              <a:srgbClr val="000000"/>
            </a:outerShdw>
          </a:effectLst>
        </p:spPr>
      </p:pic>
      <p:sp>
        <p:nvSpPr>
          <p:cNvPr id="2" name="Text 0"/>
          <p:cNvSpPr txBox="1"/>
          <p:nvPr/>
        </p:nvSpPr>
        <p:spPr>
          <a:xfrm>
            <a:off x="548640" y="347472"/>
            <a:ext cx="731520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03  ·  SOLUTION  ›  PROCESS</a:t>
            </a:r>
            <a:endParaRPr lang="en-US" sz="1200" dirty="0"/>
          </a:p>
        </p:txBody>
      </p:sp>
      <p:sp>
        <p:nvSpPr>
          <p:cNvPr id="3" name="Text 1"/>
          <p:cNvSpPr txBox="1"/>
          <p:nvPr/>
        </p:nvSpPr>
        <p:spPr>
          <a:xfrm>
            <a:off x="548640" y="621792"/>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From raw CSV to insight in three phases</a:t>
            </a:r>
            <a:endParaRPr lang="en-US" sz="3000" dirty="0"/>
          </a:p>
        </p:txBody>
      </p:sp>
      <p:sp>
        <p:nvSpPr>
          <p:cNvPr id="4" name="Shape 2"/>
          <p:cNvSpPr/>
          <p:nvPr/>
        </p:nvSpPr>
        <p:spPr>
          <a:xfrm>
            <a:off x="576072" y="6483096"/>
            <a:ext cx="128016" cy="128016"/>
          </a:xfrm>
          <a:prstGeom prst="ellipse">
            <a:avLst/>
          </a:prstGeom>
          <a:solidFill>
            <a:srgbClr val="0B1F3A"/>
          </a:solidFill>
          <a:ln w="12700">
            <a:solidFill>
              <a:srgbClr val="0B1F3A"/>
            </a:solidFill>
            <a:prstDash val="solid"/>
          </a:ln>
        </p:spPr>
      </p:sp>
      <p:sp>
        <p:nvSpPr>
          <p:cNvPr id="5" name="Text 3"/>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Introduction</a:t>
            </a:r>
            <a:endParaRPr lang="en-US" sz="1050" dirty="0"/>
          </a:p>
        </p:txBody>
      </p:sp>
      <p:sp>
        <p:nvSpPr>
          <p:cNvPr id="6" name="Shape 4"/>
          <p:cNvSpPr/>
          <p:nvPr/>
        </p:nvSpPr>
        <p:spPr>
          <a:xfrm>
            <a:off x="2039112" y="6483096"/>
            <a:ext cx="128016" cy="128016"/>
          </a:xfrm>
          <a:prstGeom prst="ellipse">
            <a:avLst/>
          </a:prstGeom>
          <a:solidFill>
            <a:srgbClr val="0B1F3A"/>
          </a:solidFill>
          <a:ln w="12700">
            <a:solidFill>
              <a:srgbClr val="0B1F3A"/>
            </a:solidFill>
            <a:prstDash val="solid"/>
          </a:ln>
        </p:spPr>
      </p:sp>
      <p:sp>
        <p:nvSpPr>
          <p:cNvPr id="7" name="Text 5"/>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Problem</a:t>
            </a:r>
            <a:endParaRPr lang="en-US" sz="1050" dirty="0"/>
          </a:p>
        </p:txBody>
      </p:sp>
      <p:sp>
        <p:nvSpPr>
          <p:cNvPr id="8" name="Shape 6"/>
          <p:cNvSpPr/>
          <p:nvPr/>
        </p:nvSpPr>
        <p:spPr>
          <a:xfrm>
            <a:off x="3081528" y="6391656"/>
            <a:ext cx="1097280" cy="310896"/>
          </a:xfrm>
          <a:prstGeom prst="roundRect">
            <a:avLst>
              <a:gd name="adj" fmla="val 50000"/>
            </a:avLst>
          </a:prstGeom>
          <a:solidFill>
            <a:srgbClr val="FDE8DA"/>
          </a:solidFill>
          <a:ln w="6350">
            <a:solidFill>
              <a:srgbClr val="FDE8DA"/>
            </a:solidFill>
            <a:prstDash val="solid"/>
          </a:ln>
        </p:spPr>
      </p:sp>
      <p:sp>
        <p:nvSpPr>
          <p:cNvPr id="9" name="Shape 7"/>
          <p:cNvSpPr/>
          <p:nvPr/>
        </p:nvSpPr>
        <p:spPr>
          <a:xfrm>
            <a:off x="3182112" y="6483096"/>
            <a:ext cx="128016" cy="128016"/>
          </a:xfrm>
          <a:prstGeom prst="ellipse">
            <a:avLst/>
          </a:prstGeom>
          <a:solidFill>
            <a:srgbClr val="F26B21"/>
          </a:solidFill>
          <a:ln w="12700">
            <a:solidFill>
              <a:srgbClr val="F26B21"/>
            </a:solidFill>
            <a:prstDash val="solid"/>
          </a:ln>
        </p:spPr>
      </p:sp>
      <p:sp>
        <p:nvSpPr>
          <p:cNvPr id="10" name="Text 8"/>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Solution</a:t>
            </a:r>
            <a:endParaRPr lang="en-US" sz="1100" dirty="0"/>
          </a:p>
        </p:txBody>
      </p:sp>
      <p:sp>
        <p:nvSpPr>
          <p:cNvPr id="11" name="Shape 9"/>
          <p:cNvSpPr/>
          <p:nvPr/>
        </p:nvSpPr>
        <p:spPr>
          <a:xfrm>
            <a:off x="4370832" y="6483096"/>
            <a:ext cx="128016" cy="128016"/>
          </a:xfrm>
          <a:prstGeom prst="ellipse">
            <a:avLst/>
          </a:prstGeom>
          <a:solidFill>
            <a:srgbClr val="FFFFFF"/>
          </a:solidFill>
          <a:ln w="12700">
            <a:solidFill>
              <a:srgbClr val="8A94A6"/>
            </a:solidFill>
            <a:prstDash val="solid"/>
          </a:ln>
        </p:spPr>
      </p:sp>
      <p:sp>
        <p:nvSpPr>
          <p:cNvPr id="12" name="Text 10"/>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Insights</a:t>
            </a:r>
            <a:endParaRPr lang="en-US" sz="1050" dirty="0"/>
          </a:p>
        </p:txBody>
      </p:sp>
      <p:sp>
        <p:nvSpPr>
          <p:cNvPr id="13" name="Shape 11"/>
          <p:cNvSpPr/>
          <p:nvPr/>
        </p:nvSpPr>
        <p:spPr>
          <a:xfrm>
            <a:off x="5559552" y="6483096"/>
            <a:ext cx="128016" cy="128016"/>
          </a:xfrm>
          <a:prstGeom prst="ellipse">
            <a:avLst/>
          </a:prstGeom>
          <a:solidFill>
            <a:srgbClr val="FFFFFF"/>
          </a:solidFill>
          <a:ln w="12700">
            <a:solidFill>
              <a:srgbClr val="8A94A6"/>
            </a:solidFill>
            <a:prstDash val="solid"/>
          </a:ln>
        </p:spPr>
      </p:sp>
      <p:sp>
        <p:nvSpPr>
          <p:cNvPr id="14" name="Text 12"/>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Challenges &amp; Lessons</a:t>
            </a:r>
            <a:endParaRPr lang="en-US" sz="1050" dirty="0"/>
          </a:p>
        </p:txBody>
      </p:sp>
      <p:sp>
        <p:nvSpPr>
          <p:cNvPr id="15" name="Shape 13"/>
          <p:cNvSpPr/>
          <p:nvPr/>
        </p:nvSpPr>
        <p:spPr>
          <a:xfrm>
            <a:off x="7571232" y="6483096"/>
            <a:ext cx="128016" cy="128016"/>
          </a:xfrm>
          <a:prstGeom prst="ellipse">
            <a:avLst/>
          </a:prstGeom>
          <a:solidFill>
            <a:srgbClr val="FFFFFF"/>
          </a:solidFill>
          <a:ln w="12700">
            <a:solidFill>
              <a:srgbClr val="8A94A6"/>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Conclusion</a:t>
            </a:r>
            <a:endParaRPr lang="en-US" sz="1050" dirty="0"/>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5B6678"/>
                </a:solidFill>
                <a:latin typeface="Calibri" pitchFamily="34" charset="0"/>
                <a:ea typeface="Calibri" pitchFamily="34" charset="-122"/>
                <a:cs typeface="Calibri" pitchFamily="34" charset="-120"/>
              </a:rPr>
              <a:t>4</a:t>
            </a:r>
            <a:endParaRPr lang="en-US" sz="1000" dirty="0"/>
          </a:p>
        </p:txBody>
      </p:sp>
      <p:sp>
        <p:nvSpPr>
          <p:cNvPr id="18" name="Shape 16"/>
          <p:cNvSpPr/>
          <p:nvPr/>
        </p:nvSpPr>
        <p:spPr>
          <a:xfrm>
            <a:off x="548640" y="1554480"/>
            <a:ext cx="3547872" cy="3246120"/>
          </a:xfrm>
          <a:prstGeom prst="roundRect">
            <a:avLst>
              <a:gd name="adj" fmla="val 2817"/>
            </a:avLst>
          </a:prstGeom>
          <a:solidFill>
            <a:srgbClr val="F1F4F9"/>
          </a:solidFill>
          <a:ln w="6350">
            <a:solidFill>
              <a:srgbClr val="F1F4F9"/>
            </a:solidFill>
            <a:prstDash val="solid"/>
          </a:ln>
        </p:spPr>
      </p:sp>
      <p:sp>
        <p:nvSpPr>
          <p:cNvPr id="19" name="Shape 17"/>
          <p:cNvSpPr/>
          <p:nvPr/>
        </p:nvSpPr>
        <p:spPr>
          <a:xfrm>
            <a:off x="822960" y="1828800"/>
            <a:ext cx="548640" cy="548640"/>
          </a:xfrm>
          <a:prstGeom prst="ellipse">
            <a:avLst/>
          </a:prstGeom>
          <a:solidFill>
            <a:srgbClr val="0B1F3A"/>
          </a:solidFill>
          <a:ln w="6350">
            <a:solidFill>
              <a:srgbClr val="0B1F3A"/>
            </a:solidFill>
            <a:prstDash val="solid"/>
          </a:ln>
        </p:spPr>
      </p:sp>
      <p:sp>
        <p:nvSpPr>
          <p:cNvPr id="20" name="Text 18"/>
          <p:cNvSpPr txBox="1"/>
          <p:nvPr/>
        </p:nvSpPr>
        <p:spPr>
          <a:xfrm>
            <a:off x="822960" y="18288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21" name="Text 19"/>
          <p:cNvSpPr txBox="1"/>
          <p:nvPr/>
        </p:nvSpPr>
        <p:spPr>
          <a:xfrm>
            <a:off x="1554480" y="1828800"/>
            <a:ext cx="2377440" cy="548640"/>
          </a:xfrm>
          <a:prstGeom prst="rect">
            <a:avLst/>
          </a:prstGeom>
          <a:noFill/>
          <a:ln/>
        </p:spPr>
        <p:txBody>
          <a:bodyPr wrap="square" lIns="0" tIns="0" rIns="0" bIns="0" rtlCol="0" anchor="ctr"/>
          <a:lstStyle/>
          <a:p>
            <a:pPr marL="0" indent="0">
              <a:buNone/>
            </a:pPr>
            <a:r>
              <a:rPr lang="en-US" sz="1900" b="1" dirty="0">
                <a:solidFill>
                  <a:srgbClr val="0B1F3A"/>
                </a:solidFill>
                <a:latin typeface="Calibri" pitchFamily="34" charset="0"/>
                <a:ea typeface="Calibri" pitchFamily="34" charset="-122"/>
                <a:cs typeface="Calibri" pitchFamily="34" charset="-120"/>
              </a:rPr>
              <a:t>Explore &amp; Ingest</a:t>
            </a:r>
            <a:endParaRPr lang="en-US" sz="1900" dirty="0"/>
          </a:p>
        </p:txBody>
      </p:sp>
      <p:sp>
        <p:nvSpPr>
          <p:cNvPr id="22" name="Text 20"/>
          <p:cNvSpPr txBox="1"/>
          <p:nvPr/>
        </p:nvSpPr>
        <p:spPr>
          <a:xfrm>
            <a:off x="822960" y="2651760"/>
            <a:ext cx="3044952"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A2233"/>
                </a:solidFill>
                <a:latin typeface="Calibri" pitchFamily="34" charset="0"/>
                <a:ea typeface="Calibri" pitchFamily="34" charset="-122"/>
                <a:cs typeface="Calibri" pitchFamily="34" charset="-120"/>
              </a:rPr>
              <a:t>Profile all 9 tables: types, nulls, duplicates, keys</a:t>
            </a:r>
            <a:endParaRPr lang="en-US" sz="1500" dirty="0"/>
          </a:p>
          <a:p>
            <a:pPr marL="342900" indent="-342900">
              <a:spcAft>
                <a:spcPts val="800"/>
              </a:spcAft>
              <a:buSzPct val="100000"/>
              <a:buChar char="•"/>
            </a:pPr>
            <a:r>
              <a:rPr lang="en-US" sz="1500" dirty="0">
                <a:solidFill>
                  <a:srgbClr val="1A2233"/>
                </a:solidFill>
                <a:latin typeface="Calibri" pitchFamily="34" charset="0"/>
                <a:ea typeface="Calibri" pitchFamily="34" charset="-122"/>
                <a:cs typeface="Calibri" pitchFamily="34" charset="-120"/>
              </a:rPr>
              <a:t>Stand up the Fabric Lakehouse with Bronze, Silver and Gold layers</a:t>
            </a:r>
            <a:endParaRPr lang="en-US" sz="1500" dirty="0"/>
          </a:p>
          <a:p>
            <a:pPr marL="342900" indent="-342900">
              <a:spcAft>
                <a:spcPts val="800"/>
              </a:spcAft>
              <a:buSzPct val="100000"/>
              <a:buChar char="•"/>
            </a:pPr>
            <a:r>
              <a:rPr lang="en-US" sz="1500" dirty="0">
                <a:solidFill>
                  <a:srgbClr val="1A2233"/>
                </a:solidFill>
                <a:latin typeface="Calibri" pitchFamily="34" charset="0"/>
                <a:ea typeface="Calibri" pitchFamily="34" charset="-122"/>
                <a:cs typeface="Calibri" pitchFamily="34" charset="-120"/>
              </a:rPr>
              <a:t>Land raw CSVs in Bronze, untouched, for audit</a:t>
            </a:r>
            <a:endParaRPr lang="en-US" sz="1500" dirty="0"/>
          </a:p>
        </p:txBody>
      </p:sp>
      <p:sp>
        <p:nvSpPr>
          <p:cNvPr id="23" name="Shape 21"/>
          <p:cNvSpPr/>
          <p:nvPr/>
        </p:nvSpPr>
        <p:spPr>
          <a:xfrm>
            <a:off x="4315968" y="1554480"/>
            <a:ext cx="3547872" cy="3246120"/>
          </a:xfrm>
          <a:prstGeom prst="roundRect">
            <a:avLst>
              <a:gd name="adj" fmla="val 2817"/>
            </a:avLst>
          </a:prstGeom>
          <a:solidFill>
            <a:srgbClr val="F1F4F9"/>
          </a:solidFill>
          <a:ln w="6350">
            <a:solidFill>
              <a:srgbClr val="F1F4F9"/>
            </a:solidFill>
            <a:prstDash val="solid"/>
          </a:ln>
        </p:spPr>
      </p:sp>
      <p:sp>
        <p:nvSpPr>
          <p:cNvPr id="24" name="Shape 22"/>
          <p:cNvSpPr/>
          <p:nvPr/>
        </p:nvSpPr>
        <p:spPr>
          <a:xfrm>
            <a:off x="4590288" y="1828800"/>
            <a:ext cx="548640" cy="548640"/>
          </a:xfrm>
          <a:prstGeom prst="ellipse">
            <a:avLst/>
          </a:prstGeom>
          <a:solidFill>
            <a:srgbClr val="0B1F3A"/>
          </a:solidFill>
          <a:ln w="6350">
            <a:solidFill>
              <a:srgbClr val="0B1F3A"/>
            </a:solidFill>
            <a:prstDash val="solid"/>
          </a:ln>
        </p:spPr>
      </p:sp>
      <p:sp>
        <p:nvSpPr>
          <p:cNvPr id="25" name="Text 23"/>
          <p:cNvSpPr txBox="1"/>
          <p:nvPr/>
        </p:nvSpPr>
        <p:spPr>
          <a:xfrm>
            <a:off x="4590288" y="18288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26" name="Text 24"/>
          <p:cNvSpPr txBox="1"/>
          <p:nvPr/>
        </p:nvSpPr>
        <p:spPr>
          <a:xfrm>
            <a:off x="5321808" y="1828800"/>
            <a:ext cx="2377440" cy="548640"/>
          </a:xfrm>
          <a:prstGeom prst="rect">
            <a:avLst/>
          </a:prstGeom>
          <a:noFill/>
          <a:ln/>
        </p:spPr>
        <p:txBody>
          <a:bodyPr wrap="square" lIns="0" tIns="0" rIns="0" bIns="0" rtlCol="0" anchor="ctr"/>
          <a:lstStyle/>
          <a:p>
            <a:pPr marL="0" indent="0">
              <a:buNone/>
            </a:pPr>
            <a:r>
              <a:rPr lang="en-US" sz="1900" b="1" dirty="0">
                <a:solidFill>
                  <a:srgbClr val="0B1F3A"/>
                </a:solidFill>
                <a:latin typeface="Calibri" pitchFamily="34" charset="0"/>
                <a:ea typeface="Calibri" pitchFamily="34" charset="-122"/>
                <a:cs typeface="Calibri" pitchFamily="34" charset="-120"/>
              </a:rPr>
              <a:t>Model &amp; Build</a:t>
            </a:r>
            <a:endParaRPr lang="en-US" sz="1900" dirty="0"/>
          </a:p>
        </p:txBody>
      </p:sp>
      <p:sp>
        <p:nvSpPr>
          <p:cNvPr id="27" name="Text 25"/>
          <p:cNvSpPr txBox="1"/>
          <p:nvPr/>
        </p:nvSpPr>
        <p:spPr>
          <a:xfrm>
            <a:off x="4590288" y="2651760"/>
            <a:ext cx="3044952"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A2233"/>
                </a:solidFill>
                <a:latin typeface="Calibri" pitchFamily="34" charset="0"/>
                <a:ea typeface="Calibri" pitchFamily="34" charset="-122"/>
                <a:cs typeface="Calibri" pitchFamily="34" charset="-120"/>
              </a:rPr>
              <a:t>Design the star schema: PK/FK, derived fields, event calendar</a:t>
            </a:r>
            <a:endParaRPr lang="en-US" sz="1500" dirty="0"/>
          </a:p>
          <a:p>
            <a:pPr marL="342900" indent="-342900">
              <a:spcAft>
                <a:spcPts val="800"/>
              </a:spcAft>
              <a:buSzPct val="100000"/>
              <a:buChar char="•"/>
            </a:pPr>
            <a:r>
              <a:rPr lang="en-US" sz="1500" dirty="0">
                <a:solidFill>
                  <a:srgbClr val="1A2233"/>
                </a:solidFill>
                <a:latin typeface="Calibri" pitchFamily="34" charset="0"/>
                <a:ea typeface="Calibri" pitchFamily="34" charset="-122"/>
                <a:cs typeface="Calibri" pitchFamily="34" charset="-120"/>
              </a:rPr>
              <a:t>Write modular PySpark cleaning and validation per table</a:t>
            </a:r>
            <a:endParaRPr lang="en-US" sz="1500" dirty="0"/>
          </a:p>
          <a:p>
            <a:pPr marL="342900" indent="-342900">
              <a:spcAft>
                <a:spcPts val="800"/>
              </a:spcAft>
              <a:buSzPct val="100000"/>
              <a:buChar char="•"/>
            </a:pPr>
            <a:r>
              <a:rPr lang="en-US" sz="1500" dirty="0">
                <a:solidFill>
                  <a:srgbClr val="1A2233"/>
                </a:solidFill>
                <a:latin typeface="Calibri" pitchFamily="34" charset="0"/>
                <a:ea typeface="Calibri" pitchFamily="34" charset="-122"/>
                <a:cs typeface="Calibri" pitchFamily="34" charset="-120"/>
              </a:rPr>
              <a:t>Build Gold tables, semantic model and Power BI report</a:t>
            </a:r>
            <a:endParaRPr lang="en-US" sz="1500" dirty="0"/>
          </a:p>
        </p:txBody>
      </p:sp>
      <p:sp>
        <p:nvSpPr>
          <p:cNvPr id="28" name="Shape 26"/>
          <p:cNvSpPr/>
          <p:nvPr/>
        </p:nvSpPr>
        <p:spPr>
          <a:xfrm>
            <a:off x="8083296" y="1554480"/>
            <a:ext cx="3547872" cy="3246120"/>
          </a:xfrm>
          <a:prstGeom prst="roundRect">
            <a:avLst>
              <a:gd name="adj" fmla="val 2817"/>
            </a:avLst>
          </a:prstGeom>
          <a:solidFill>
            <a:srgbClr val="F1F4F9"/>
          </a:solidFill>
          <a:ln w="6350">
            <a:solidFill>
              <a:srgbClr val="F1F4F9"/>
            </a:solidFill>
            <a:prstDash val="solid"/>
          </a:ln>
        </p:spPr>
      </p:sp>
      <p:sp>
        <p:nvSpPr>
          <p:cNvPr id="29" name="Shape 27"/>
          <p:cNvSpPr/>
          <p:nvPr/>
        </p:nvSpPr>
        <p:spPr>
          <a:xfrm>
            <a:off x="8357616" y="1828800"/>
            <a:ext cx="548640" cy="548640"/>
          </a:xfrm>
          <a:prstGeom prst="ellipse">
            <a:avLst/>
          </a:prstGeom>
          <a:solidFill>
            <a:srgbClr val="0B1F3A"/>
          </a:solidFill>
          <a:ln w="6350">
            <a:solidFill>
              <a:srgbClr val="0B1F3A"/>
            </a:solidFill>
            <a:prstDash val="solid"/>
          </a:ln>
        </p:spPr>
      </p:sp>
      <p:sp>
        <p:nvSpPr>
          <p:cNvPr id="30" name="Text 28"/>
          <p:cNvSpPr txBox="1"/>
          <p:nvPr/>
        </p:nvSpPr>
        <p:spPr>
          <a:xfrm>
            <a:off x="8357616" y="18288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31" name="Text 29"/>
          <p:cNvSpPr txBox="1"/>
          <p:nvPr/>
        </p:nvSpPr>
        <p:spPr>
          <a:xfrm>
            <a:off x="9089136" y="1828800"/>
            <a:ext cx="2377440" cy="548640"/>
          </a:xfrm>
          <a:prstGeom prst="rect">
            <a:avLst/>
          </a:prstGeom>
          <a:noFill/>
          <a:ln/>
        </p:spPr>
        <p:txBody>
          <a:bodyPr wrap="square" lIns="0" tIns="0" rIns="0" bIns="0" rtlCol="0" anchor="ctr"/>
          <a:lstStyle/>
          <a:p>
            <a:pPr marL="0" indent="0">
              <a:buNone/>
            </a:pPr>
            <a:r>
              <a:rPr lang="en-US" sz="1900" b="1" dirty="0">
                <a:solidFill>
                  <a:srgbClr val="0B1F3A"/>
                </a:solidFill>
                <a:latin typeface="Calibri" pitchFamily="34" charset="0"/>
                <a:ea typeface="Calibri" pitchFamily="34" charset="-122"/>
                <a:cs typeface="Calibri" pitchFamily="34" charset="-120"/>
              </a:rPr>
              <a:t>Test &amp; Deliver</a:t>
            </a:r>
            <a:endParaRPr lang="en-US" sz="1900" dirty="0"/>
          </a:p>
        </p:txBody>
      </p:sp>
      <p:sp>
        <p:nvSpPr>
          <p:cNvPr id="32" name="Text 30"/>
          <p:cNvSpPr txBox="1"/>
          <p:nvPr/>
        </p:nvSpPr>
        <p:spPr>
          <a:xfrm>
            <a:off x="8357616" y="2651760"/>
            <a:ext cx="3044952"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A2233"/>
                </a:solidFill>
                <a:latin typeface="Calibri" pitchFamily="34" charset="0"/>
                <a:ea typeface="Calibri" pitchFamily="34" charset="-122"/>
                <a:cs typeface="Calibri" pitchFamily="34" charset="-120"/>
              </a:rPr>
              <a:t>Unit tests and CI checks on every pull request</a:t>
            </a:r>
            <a:endParaRPr lang="en-US" sz="1500" dirty="0"/>
          </a:p>
          <a:p>
            <a:pPr marL="342900" indent="-342900">
              <a:spcAft>
                <a:spcPts val="800"/>
              </a:spcAft>
              <a:buSzPct val="100000"/>
              <a:buChar char="•"/>
            </a:pPr>
            <a:r>
              <a:rPr lang="en-US" sz="1500" dirty="0">
                <a:solidFill>
                  <a:srgbClr val="1A2233"/>
                </a:solidFill>
                <a:latin typeface="Calibri" pitchFamily="34" charset="0"/>
                <a:ea typeface="Calibri" pitchFamily="34" charset="-122"/>
                <a:cs typeface="Calibri" pitchFamily="34" charset="-120"/>
              </a:rPr>
              <a:t>Run the pipeline end to end; validate Gold against source</a:t>
            </a:r>
            <a:endParaRPr lang="en-US" sz="1500" dirty="0"/>
          </a:p>
          <a:p>
            <a:pPr marL="342900" indent="-342900">
              <a:spcAft>
                <a:spcPts val="800"/>
              </a:spcAft>
              <a:buSzPct val="100000"/>
              <a:buChar char="•"/>
            </a:pPr>
            <a:r>
              <a:rPr lang="en-US" sz="1500" dirty="0">
                <a:solidFill>
                  <a:srgbClr val="1A2233"/>
                </a:solidFill>
                <a:latin typeface="Calibri" pitchFamily="34" charset="0"/>
                <a:ea typeface="Calibri" pitchFamily="34" charset="-122"/>
                <a:cs typeface="Calibri" pitchFamily="34" charset="-120"/>
              </a:rPr>
              <a:t>Turn findings into business recommendations</a:t>
            </a:r>
            <a:endParaRPr lang="en-US" sz="1500" dirty="0"/>
          </a:p>
        </p:txBody>
      </p:sp>
      <p:sp>
        <p:nvSpPr>
          <p:cNvPr id="33" name="Text 31"/>
          <p:cNvSpPr txBox="1"/>
          <p:nvPr/>
        </p:nvSpPr>
        <p:spPr>
          <a:xfrm>
            <a:off x="548640" y="5029200"/>
            <a:ext cx="5486400" cy="256032"/>
          </a:xfrm>
          <a:prstGeom prst="rect">
            <a:avLst/>
          </a:prstGeom>
          <a:noFill/>
          <a:ln/>
        </p:spPr>
        <p:txBody>
          <a:bodyPr wrap="square" lIns="0" tIns="0" rIns="0" bIns="0" rtlCol="0" anchor="t"/>
          <a:lstStyle/>
          <a:p>
            <a:pPr marL="0" indent="0">
              <a:buNone/>
            </a:pPr>
            <a:r>
              <a:rPr lang="en-US" sz="1100" b="1" kern="0" spc="200" dirty="0">
                <a:solidFill>
                  <a:srgbClr val="5B6678"/>
                </a:solidFill>
                <a:latin typeface="Calibri" pitchFamily="34" charset="0"/>
                <a:ea typeface="Calibri" pitchFamily="34" charset="-122"/>
                <a:cs typeface="Calibri" pitchFamily="34" charset="-120"/>
              </a:rPr>
              <a:t>OUR DAILY ENGINEERING LOOP</a:t>
            </a:r>
            <a:endParaRPr lang="en-US" sz="1100" dirty="0"/>
          </a:p>
        </p:txBody>
      </p:sp>
      <p:sp>
        <p:nvSpPr>
          <p:cNvPr id="34" name="Shape 32"/>
          <p:cNvSpPr/>
          <p:nvPr/>
        </p:nvSpPr>
        <p:spPr>
          <a:xfrm>
            <a:off x="548640" y="5394960"/>
            <a:ext cx="1783080" cy="685800"/>
          </a:xfrm>
          <a:prstGeom prst="chevron">
            <a:avLst/>
          </a:prstGeom>
          <a:solidFill>
            <a:srgbClr val="2F6FBF"/>
          </a:solidFill>
          <a:ln w="6350">
            <a:solidFill>
              <a:srgbClr val="2F6FBF"/>
            </a:solidFill>
            <a:prstDash val="solid"/>
          </a:ln>
        </p:spPr>
      </p:sp>
      <p:sp>
        <p:nvSpPr>
          <p:cNvPr id="35" name="Text 33"/>
          <p:cNvSpPr txBox="1"/>
          <p:nvPr/>
        </p:nvSpPr>
        <p:spPr>
          <a:xfrm>
            <a:off x="822960" y="5394960"/>
            <a:ext cx="128016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Branch</a:t>
            </a:r>
            <a:endParaRPr lang="en-US" sz="1300" dirty="0"/>
          </a:p>
        </p:txBody>
      </p:sp>
      <p:sp>
        <p:nvSpPr>
          <p:cNvPr id="36" name="Shape 34"/>
          <p:cNvSpPr/>
          <p:nvPr/>
        </p:nvSpPr>
        <p:spPr>
          <a:xfrm>
            <a:off x="2404872" y="5394960"/>
            <a:ext cx="1783080" cy="685800"/>
          </a:xfrm>
          <a:prstGeom prst="chevron">
            <a:avLst/>
          </a:prstGeom>
          <a:solidFill>
            <a:srgbClr val="2F6FBF"/>
          </a:solidFill>
          <a:ln w="6350">
            <a:solidFill>
              <a:srgbClr val="2F6FBF"/>
            </a:solidFill>
            <a:prstDash val="solid"/>
          </a:ln>
        </p:spPr>
      </p:sp>
      <p:sp>
        <p:nvSpPr>
          <p:cNvPr id="37" name="Text 35"/>
          <p:cNvSpPr txBox="1"/>
          <p:nvPr/>
        </p:nvSpPr>
        <p:spPr>
          <a:xfrm>
            <a:off x="2679192" y="5394960"/>
            <a:ext cx="128016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Code + tests</a:t>
            </a:r>
            <a:endParaRPr lang="en-US" sz="1300" dirty="0"/>
          </a:p>
        </p:txBody>
      </p:sp>
      <p:sp>
        <p:nvSpPr>
          <p:cNvPr id="38" name="Shape 36"/>
          <p:cNvSpPr/>
          <p:nvPr/>
        </p:nvSpPr>
        <p:spPr>
          <a:xfrm>
            <a:off x="4261104" y="5394960"/>
            <a:ext cx="1783080" cy="685800"/>
          </a:xfrm>
          <a:prstGeom prst="chevron">
            <a:avLst/>
          </a:prstGeom>
          <a:solidFill>
            <a:srgbClr val="2F6FBF"/>
          </a:solidFill>
          <a:ln w="6350">
            <a:solidFill>
              <a:srgbClr val="2F6FBF"/>
            </a:solidFill>
            <a:prstDash val="solid"/>
          </a:ln>
        </p:spPr>
      </p:sp>
      <p:sp>
        <p:nvSpPr>
          <p:cNvPr id="39" name="Text 37"/>
          <p:cNvSpPr txBox="1"/>
          <p:nvPr/>
        </p:nvSpPr>
        <p:spPr>
          <a:xfrm>
            <a:off x="4535424" y="5394960"/>
            <a:ext cx="128016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Pull request</a:t>
            </a:r>
            <a:endParaRPr lang="en-US" sz="1300" dirty="0"/>
          </a:p>
        </p:txBody>
      </p:sp>
      <p:sp>
        <p:nvSpPr>
          <p:cNvPr id="40" name="Shape 38"/>
          <p:cNvSpPr/>
          <p:nvPr/>
        </p:nvSpPr>
        <p:spPr>
          <a:xfrm>
            <a:off x="6117336" y="5394960"/>
            <a:ext cx="1783080" cy="685800"/>
          </a:xfrm>
          <a:prstGeom prst="chevron">
            <a:avLst/>
          </a:prstGeom>
          <a:solidFill>
            <a:srgbClr val="2F6FBF"/>
          </a:solidFill>
          <a:ln w="6350">
            <a:solidFill>
              <a:srgbClr val="2F6FBF"/>
            </a:solidFill>
            <a:prstDash val="solid"/>
          </a:ln>
        </p:spPr>
      </p:sp>
      <p:sp>
        <p:nvSpPr>
          <p:cNvPr id="41" name="Text 39"/>
          <p:cNvSpPr txBox="1"/>
          <p:nvPr/>
        </p:nvSpPr>
        <p:spPr>
          <a:xfrm>
            <a:off x="6391656" y="5394960"/>
            <a:ext cx="128016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CI checks</a:t>
            </a:r>
            <a:endParaRPr lang="en-US" sz="1300" dirty="0"/>
          </a:p>
        </p:txBody>
      </p:sp>
      <p:sp>
        <p:nvSpPr>
          <p:cNvPr id="42" name="Shape 40"/>
          <p:cNvSpPr/>
          <p:nvPr/>
        </p:nvSpPr>
        <p:spPr>
          <a:xfrm>
            <a:off x="7973568" y="5394960"/>
            <a:ext cx="1783080" cy="685800"/>
          </a:xfrm>
          <a:prstGeom prst="chevron">
            <a:avLst/>
          </a:prstGeom>
          <a:solidFill>
            <a:srgbClr val="2F6FBF"/>
          </a:solidFill>
          <a:ln w="6350">
            <a:solidFill>
              <a:srgbClr val="2F6FBF"/>
            </a:solidFill>
            <a:prstDash val="solid"/>
          </a:ln>
        </p:spPr>
      </p:sp>
      <p:sp>
        <p:nvSpPr>
          <p:cNvPr id="43" name="Text 41"/>
          <p:cNvSpPr txBox="1"/>
          <p:nvPr/>
        </p:nvSpPr>
        <p:spPr>
          <a:xfrm>
            <a:off x="8247888" y="5394960"/>
            <a:ext cx="128016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Peer review</a:t>
            </a:r>
            <a:endParaRPr lang="en-US" sz="1300" dirty="0"/>
          </a:p>
        </p:txBody>
      </p:sp>
      <p:sp>
        <p:nvSpPr>
          <p:cNvPr id="44" name="Shape 42"/>
          <p:cNvSpPr/>
          <p:nvPr/>
        </p:nvSpPr>
        <p:spPr>
          <a:xfrm>
            <a:off x="9829800" y="5394960"/>
            <a:ext cx="1783080" cy="685800"/>
          </a:xfrm>
          <a:prstGeom prst="chevron">
            <a:avLst/>
          </a:prstGeom>
          <a:solidFill>
            <a:srgbClr val="F26B21"/>
          </a:solidFill>
          <a:ln w="6350">
            <a:solidFill>
              <a:srgbClr val="F26B21"/>
            </a:solidFill>
            <a:prstDash val="solid"/>
          </a:ln>
        </p:spPr>
      </p:sp>
      <p:sp>
        <p:nvSpPr>
          <p:cNvPr id="45" name="Text 43"/>
          <p:cNvSpPr txBox="1"/>
          <p:nvPr/>
        </p:nvSpPr>
        <p:spPr>
          <a:xfrm>
            <a:off x="10104120" y="5394960"/>
            <a:ext cx="128016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Merge &amp; deploy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68" name="Picture 67">
            <a:extLst>
              <a:ext uri="{FF2B5EF4-FFF2-40B4-BE49-F238E27FC236}">
                <a16:creationId xmlns:a16="http://schemas.microsoft.com/office/drawing/2014/main" id="{1EE8EC48-5B8D-D729-78F4-D66C6BDCDFA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
                    </a14:imgEffect>
                    <a14:imgEffect>
                      <a14:colorTemperature colorTemp="4873"/>
                    </a14:imgEffect>
                    <a14:imgEffect>
                      <a14:saturation sat="165000"/>
                    </a14:imgEffect>
                    <a14:imgEffect>
                      <a14:brightnessContrast bright="-23000" contrast="-48000"/>
                    </a14:imgEffect>
                  </a14:imgLayer>
                </a14:imgProps>
              </a:ext>
            </a:extLst>
          </a:blip>
          <a:srcRect t="897"/>
          <a:stretch>
            <a:fillRect/>
          </a:stretch>
        </p:blipFill>
        <p:spPr>
          <a:xfrm>
            <a:off x="-308737" y="-85060"/>
            <a:ext cx="12639353" cy="7045841"/>
          </a:xfrm>
          <a:prstGeom prst="rect">
            <a:avLst/>
          </a:prstGeom>
          <a:effectLst>
            <a:outerShdw dist="50800" dir="5400000" algn="ctr" rotWithShape="0">
              <a:srgbClr val="000000"/>
            </a:outerShdw>
          </a:effectLst>
        </p:spPr>
      </p:pic>
      <p:sp>
        <p:nvSpPr>
          <p:cNvPr id="2" name="Text 0"/>
          <p:cNvSpPr txBox="1"/>
          <p:nvPr/>
        </p:nvSpPr>
        <p:spPr>
          <a:xfrm>
            <a:off x="548640" y="347472"/>
            <a:ext cx="731520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03  ·  SOLUTION  ›  TECH STACK</a:t>
            </a:r>
            <a:endParaRPr lang="en-US" sz="1200" dirty="0"/>
          </a:p>
        </p:txBody>
      </p:sp>
      <p:sp>
        <p:nvSpPr>
          <p:cNvPr id="3" name="Text 1"/>
          <p:cNvSpPr txBox="1"/>
          <p:nvPr/>
        </p:nvSpPr>
        <p:spPr>
          <a:xfrm>
            <a:off x="548640" y="621792"/>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A stack built the way enterprises build</a:t>
            </a:r>
            <a:endParaRPr lang="en-US" sz="3000" dirty="0"/>
          </a:p>
        </p:txBody>
      </p:sp>
      <p:sp>
        <p:nvSpPr>
          <p:cNvPr id="4" name="Shape 2"/>
          <p:cNvSpPr/>
          <p:nvPr/>
        </p:nvSpPr>
        <p:spPr>
          <a:xfrm>
            <a:off x="576072" y="6483096"/>
            <a:ext cx="128016" cy="128016"/>
          </a:xfrm>
          <a:prstGeom prst="ellipse">
            <a:avLst/>
          </a:prstGeom>
          <a:solidFill>
            <a:srgbClr val="0B1F3A"/>
          </a:solidFill>
          <a:ln w="12700">
            <a:solidFill>
              <a:srgbClr val="0B1F3A"/>
            </a:solidFill>
            <a:prstDash val="solid"/>
          </a:ln>
        </p:spPr>
      </p:sp>
      <p:sp>
        <p:nvSpPr>
          <p:cNvPr id="5" name="Text 3"/>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Introduction</a:t>
            </a:r>
            <a:endParaRPr lang="en-US" sz="1050" dirty="0"/>
          </a:p>
        </p:txBody>
      </p:sp>
      <p:sp>
        <p:nvSpPr>
          <p:cNvPr id="6" name="Shape 4"/>
          <p:cNvSpPr/>
          <p:nvPr/>
        </p:nvSpPr>
        <p:spPr>
          <a:xfrm>
            <a:off x="2039112" y="6483096"/>
            <a:ext cx="128016" cy="128016"/>
          </a:xfrm>
          <a:prstGeom prst="ellipse">
            <a:avLst/>
          </a:prstGeom>
          <a:solidFill>
            <a:srgbClr val="0B1F3A"/>
          </a:solidFill>
          <a:ln w="12700">
            <a:solidFill>
              <a:srgbClr val="0B1F3A"/>
            </a:solidFill>
            <a:prstDash val="solid"/>
          </a:ln>
        </p:spPr>
      </p:sp>
      <p:sp>
        <p:nvSpPr>
          <p:cNvPr id="7" name="Text 5"/>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Problem</a:t>
            </a:r>
            <a:endParaRPr lang="en-US" sz="1050" dirty="0"/>
          </a:p>
        </p:txBody>
      </p:sp>
      <p:sp>
        <p:nvSpPr>
          <p:cNvPr id="8" name="Shape 6"/>
          <p:cNvSpPr/>
          <p:nvPr/>
        </p:nvSpPr>
        <p:spPr>
          <a:xfrm>
            <a:off x="3081528" y="6391656"/>
            <a:ext cx="1097280" cy="310896"/>
          </a:xfrm>
          <a:prstGeom prst="roundRect">
            <a:avLst>
              <a:gd name="adj" fmla="val 50000"/>
            </a:avLst>
          </a:prstGeom>
          <a:solidFill>
            <a:srgbClr val="FDE8DA"/>
          </a:solidFill>
          <a:ln w="6350">
            <a:solidFill>
              <a:srgbClr val="FDE8DA"/>
            </a:solidFill>
            <a:prstDash val="solid"/>
          </a:ln>
        </p:spPr>
      </p:sp>
      <p:sp>
        <p:nvSpPr>
          <p:cNvPr id="9" name="Shape 7"/>
          <p:cNvSpPr/>
          <p:nvPr/>
        </p:nvSpPr>
        <p:spPr>
          <a:xfrm>
            <a:off x="3182112" y="6483096"/>
            <a:ext cx="128016" cy="128016"/>
          </a:xfrm>
          <a:prstGeom prst="ellipse">
            <a:avLst/>
          </a:prstGeom>
          <a:solidFill>
            <a:srgbClr val="F26B21"/>
          </a:solidFill>
          <a:ln w="12700">
            <a:solidFill>
              <a:srgbClr val="F26B21"/>
            </a:solidFill>
            <a:prstDash val="solid"/>
          </a:ln>
        </p:spPr>
      </p:sp>
      <p:sp>
        <p:nvSpPr>
          <p:cNvPr id="10" name="Text 8"/>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Solution</a:t>
            </a:r>
            <a:endParaRPr lang="en-US" sz="1100" dirty="0"/>
          </a:p>
        </p:txBody>
      </p:sp>
      <p:sp>
        <p:nvSpPr>
          <p:cNvPr id="11" name="Shape 9"/>
          <p:cNvSpPr/>
          <p:nvPr/>
        </p:nvSpPr>
        <p:spPr>
          <a:xfrm>
            <a:off x="4370832" y="6483096"/>
            <a:ext cx="128016" cy="128016"/>
          </a:xfrm>
          <a:prstGeom prst="ellipse">
            <a:avLst/>
          </a:prstGeom>
          <a:solidFill>
            <a:srgbClr val="FFFFFF"/>
          </a:solidFill>
          <a:ln w="12700">
            <a:solidFill>
              <a:srgbClr val="8A94A6"/>
            </a:solidFill>
            <a:prstDash val="solid"/>
          </a:ln>
        </p:spPr>
      </p:sp>
      <p:sp>
        <p:nvSpPr>
          <p:cNvPr id="12" name="Text 10"/>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Insights</a:t>
            </a:r>
            <a:endParaRPr lang="en-US" sz="1050" dirty="0"/>
          </a:p>
        </p:txBody>
      </p:sp>
      <p:sp>
        <p:nvSpPr>
          <p:cNvPr id="13" name="Shape 11"/>
          <p:cNvSpPr/>
          <p:nvPr/>
        </p:nvSpPr>
        <p:spPr>
          <a:xfrm>
            <a:off x="5559552" y="6483096"/>
            <a:ext cx="128016" cy="128016"/>
          </a:xfrm>
          <a:prstGeom prst="ellipse">
            <a:avLst/>
          </a:prstGeom>
          <a:solidFill>
            <a:srgbClr val="FFFFFF"/>
          </a:solidFill>
          <a:ln w="12700">
            <a:solidFill>
              <a:srgbClr val="8A94A6"/>
            </a:solidFill>
            <a:prstDash val="solid"/>
          </a:ln>
        </p:spPr>
      </p:sp>
      <p:sp>
        <p:nvSpPr>
          <p:cNvPr id="14" name="Text 12"/>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Challenges &amp; Lessons</a:t>
            </a:r>
            <a:endParaRPr lang="en-US" sz="1050" dirty="0"/>
          </a:p>
        </p:txBody>
      </p:sp>
      <p:sp>
        <p:nvSpPr>
          <p:cNvPr id="15" name="Shape 13"/>
          <p:cNvSpPr/>
          <p:nvPr/>
        </p:nvSpPr>
        <p:spPr>
          <a:xfrm>
            <a:off x="7571232" y="6483096"/>
            <a:ext cx="128016" cy="128016"/>
          </a:xfrm>
          <a:prstGeom prst="ellipse">
            <a:avLst/>
          </a:prstGeom>
          <a:solidFill>
            <a:srgbClr val="FFFFFF"/>
          </a:solidFill>
          <a:ln w="12700">
            <a:solidFill>
              <a:srgbClr val="8A94A6"/>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Conclusion</a:t>
            </a:r>
            <a:endParaRPr lang="en-US" sz="1050" dirty="0"/>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5B6678"/>
                </a:solidFill>
                <a:latin typeface="Calibri" pitchFamily="34" charset="0"/>
                <a:ea typeface="Calibri" pitchFamily="34" charset="-122"/>
                <a:cs typeface="Calibri" pitchFamily="34" charset="-120"/>
              </a:rPr>
              <a:t>5</a:t>
            </a:r>
            <a:endParaRPr lang="en-US" sz="1000" dirty="0"/>
          </a:p>
        </p:txBody>
      </p:sp>
      <p:sp>
        <p:nvSpPr>
          <p:cNvPr id="18" name="Shape 16"/>
          <p:cNvSpPr/>
          <p:nvPr/>
        </p:nvSpPr>
        <p:spPr>
          <a:xfrm>
            <a:off x="548640" y="1554480"/>
            <a:ext cx="3547872" cy="4023360"/>
          </a:xfrm>
          <a:prstGeom prst="roundRect">
            <a:avLst>
              <a:gd name="adj" fmla="val 2577"/>
            </a:avLst>
          </a:prstGeom>
          <a:solidFill>
            <a:srgbClr val="F1F4F9"/>
          </a:solidFill>
          <a:ln w="6350">
            <a:solidFill>
              <a:srgbClr val="F1F4F9"/>
            </a:solidFill>
            <a:prstDash val="solid"/>
          </a:ln>
        </p:spPr>
      </p:sp>
      <p:sp>
        <p:nvSpPr>
          <p:cNvPr id="19" name="Shape 17"/>
          <p:cNvSpPr/>
          <p:nvPr/>
        </p:nvSpPr>
        <p:spPr>
          <a:xfrm>
            <a:off x="822960" y="1828800"/>
            <a:ext cx="640080" cy="640080"/>
          </a:xfrm>
          <a:prstGeom prst="ellipse">
            <a:avLst/>
          </a:prstGeom>
          <a:solidFill>
            <a:srgbClr val="2F6FBF"/>
          </a:solidFill>
          <a:ln w="6350">
            <a:solidFill>
              <a:srgbClr val="2F6FBF"/>
            </a:solidFill>
            <a:prstDash val="solid"/>
          </a:ln>
        </p:spPr>
      </p:sp>
      <p:pic>
        <p:nvPicPr>
          <p:cNvPr id="20" name="Image 0" descr="preencoded.png"/>
          <p:cNvPicPr>
            <a:picLocks noChangeAspect="1"/>
          </p:cNvPicPr>
          <p:nvPr/>
        </p:nvPicPr>
        <p:blipFill>
          <a:blip r:embed="rId6"/>
          <a:stretch>
            <a:fillRect/>
          </a:stretch>
        </p:blipFill>
        <p:spPr>
          <a:xfrm>
            <a:off x="995782" y="2001622"/>
            <a:ext cx="294437" cy="294437"/>
          </a:xfrm>
          <a:prstGeom prst="rect">
            <a:avLst/>
          </a:prstGeom>
        </p:spPr>
      </p:pic>
      <p:sp>
        <p:nvSpPr>
          <p:cNvPr id="21" name="Text 18"/>
          <p:cNvSpPr txBox="1"/>
          <p:nvPr/>
        </p:nvSpPr>
        <p:spPr>
          <a:xfrm>
            <a:off x="1645920" y="1828800"/>
            <a:ext cx="2286000" cy="640080"/>
          </a:xfrm>
          <a:prstGeom prst="rect">
            <a:avLst/>
          </a:prstGeom>
          <a:noFill/>
          <a:ln/>
        </p:spPr>
        <p:txBody>
          <a:bodyPr wrap="square" lIns="0" tIns="0" rIns="0" bIns="0" rtlCol="0" anchor="ctr"/>
          <a:lstStyle/>
          <a:p>
            <a:pPr marL="0" indent="0">
              <a:buNone/>
            </a:pPr>
            <a:r>
              <a:rPr lang="en-US" sz="1800" b="1" dirty="0">
                <a:solidFill>
                  <a:srgbClr val="0B1F3A"/>
                </a:solidFill>
                <a:latin typeface="Calibri" pitchFamily="34" charset="0"/>
                <a:ea typeface="Calibri" pitchFamily="34" charset="-122"/>
                <a:cs typeface="Calibri" pitchFamily="34" charset="-120"/>
              </a:rPr>
              <a:t>Develop &amp; test</a:t>
            </a:r>
            <a:endParaRPr lang="en-US" sz="1800" dirty="0"/>
          </a:p>
        </p:txBody>
      </p:sp>
      <p:sp>
        <p:nvSpPr>
          <p:cNvPr id="22" name="Shape 19"/>
          <p:cNvSpPr/>
          <p:nvPr/>
        </p:nvSpPr>
        <p:spPr>
          <a:xfrm>
            <a:off x="822960" y="2816352"/>
            <a:ext cx="457200" cy="457200"/>
          </a:xfrm>
          <a:prstGeom prst="ellipse">
            <a:avLst/>
          </a:prstGeom>
          <a:solidFill>
            <a:srgbClr val="FFFFFF"/>
          </a:solidFill>
          <a:ln w="6350">
            <a:solidFill>
              <a:srgbClr val="FFFFFF"/>
            </a:solidFill>
            <a:prstDash val="solid"/>
          </a:ln>
        </p:spPr>
      </p:sp>
      <p:pic>
        <p:nvPicPr>
          <p:cNvPr id="23" name="Image 1" descr="preencoded.png"/>
          <p:cNvPicPr>
            <a:picLocks noChangeAspect="1"/>
          </p:cNvPicPr>
          <p:nvPr/>
        </p:nvPicPr>
        <p:blipFill>
          <a:blip r:embed="rId7"/>
          <a:stretch>
            <a:fillRect/>
          </a:stretch>
        </p:blipFill>
        <p:spPr>
          <a:xfrm>
            <a:off x="946404" y="2939796"/>
            <a:ext cx="210312" cy="210312"/>
          </a:xfrm>
          <a:prstGeom prst="rect">
            <a:avLst/>
          </a:prstGeom>
        </p:spPr>
      </p:pic>
      <p:sp>
        <p:nvSpPr>
          <p:cNvPr id="24" name="Text 20"/>
          <p:cNvSpPr txBox="1"/>
          <p:nvPr/>
        </p:nvSpPr>
        <p:spPr>
          <a:xfrm>
            <a:off x="1417320" y="2743200"/>
            <a:ext cx="2450592"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PySpark</a:t>
            </a:r>
            <a:endParaRPr lang="en-US" sz="1500" dirty="0"/>
          </a:p>
        </p:txBody>
      </p:sp>
      <p:sp>
        <p:nvSpPr>
          <p:cNvPr id="25" name="Text 21"/>
          <p:cNvSpPr txBox="1"/>
          <p:nvPr/>
        </p:nvSpPr>
        <p:spPr>
          <a:xfrm>
            <a:off x="1417320" y="3044952"/>
            <a:ext cx="2450592" cy="502920"/>
          </a:xfrm>
          <a:prstGeom prst="rect">
            <a:avLst/>
          </a:prstGeom>
          <a:noFill/>
          <a:ln/>
        </p:spPr>
        <p:txBody>
          <a:bodyPr wrap="square" lIns="0" tIns="0" rIns="0" bIns="0" rtlCol="0" anchor="t"/>
          <a:lstStyle/>
          <a:p>
            <a:pPr marL="0" indent="0">
              <a:buNone/>
            </a:pPr>
            <a:r>
              <a:rPr lang="en-US" sz="1250" dirty="0">
                <a:solidFill>
                  <a:srgbClr val="5B6678"/>
                </a:solidFill>
                <a:latin typeface="Calibri" pitchFamily="34" charset="0"/>
                <a:ea typeface="Calibri" pitchFamily="34" charset="-122"/>
                <a:cs typeface="Calibri" pitchFamily="34" charset="-120"/>
              </a:rPr>
              <a:t>Same engine as Fabric; portable to Databricks</a:t>
            </a:r>
            <a:endParaRPr lang="en-US" sz="1250" dirty="0"/>
          </a:p>
        </p:txBody>
      </p:sp>
      <p:sp>
        <p:nvSpPr>
          <p:cNvPr id="26" name="Shape 22"/>
          <p:cNvSpPr/>
          <p:nvPr/>
        </p:nvSpPr>
        <p:spPr>
          <a:xfrm>
            <a:off x="822960" y="3758184"/>
            <a:ext cx="457200" cy="457200"/>
          </a:xfrm>
          <a:prstGeom prst="ellipse">
            <a:avLst/>
          </a:prstGeom>
          <a:solidFill>
            <a:srgbClr val="FFFFFF"/>
          </a:solidFill>
          <a:ln w="6350">
            <a:solidFill>
              <a:srgbClr val="FFFFFF"/>
            </a:solidFill>
            <a:prstDash val="solid"/>
          </a:ln>
        </p:spPr>
      </p:sp>
      <p:pic>
        <p:nvPicPr>
          <p:cNvPr id="27" name="Image 2" descr="preencoded.png"/>
          <p:cNvPicPr>
            <a:picLocks noChangeAspect="1"/>
          </p:cNvPicPr>
          <p:nvPr/>
        </p:nvPicPr>
        <p:blipFill>
          <a:blip r:embed="rId8"/>
          <a:stretch>
            <a:fillRect/>
          </a:stretch>
        </p:blipFill>
        <p:spPr>
          <a:xfrm>
            <a:off x="946404" y="3881628"/>
            <a:ext cx="210312" cy="210312"/>
          </a:xfrm>
          <a:prstGeom prst="rect">
            <a:avLst/>
          </a:prstGeom>
        </p:spPr>
      </p:pic>
      <p:sp>
        <p:nvSpPr>
          <p:cNvPr id="28" name="Text 23"/>
          <p:cNvSpPr txBox="1"/>
          <p:nvPr/>
        </p:nvSpPr>
        <p:spPr>
          <a:xfrm>
            <a:off x="1417320" y="3685032"/>
            <a:ext cx="2450592"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VS Code + pytest</a:t>
            </a:r>
            <a:endParaRPr lang="en-US" sz="1500" dirty="0"/>
          </a:p>
        </p:txBody>
      </p:sp>
      <p:sp>
        <p:nvSpPr>
          <p:cNvPr id="29" name="Text 24"/>
          <p:cNvSpPr txBox="1"/>
          <p:nvPr/>
        </p:nvSpPr>
        <p:spPr>
          <a:xfrm>
            <a:off x="1417320" y="3986784"/>
            <a:ext cx="2450592" cy="502920"/>
          </a:xfrm>
          <a:prstGeom prst="rect">
            <a:avLst/>
          </a:prstGeom>
          <a:noFill/>
          <a:ln/>
        </p:spPr>
        <p:txBody>
          <a:bodyPr wrap="square" lIns="0" tIns="0" rIns="0" bIns="0" rtlCol="0" anchor="t"/>
          <a:lstStyle/>
          <a:p>
            <a:pPr marL="0" indent="0">
              <a:buNone/>
            </a:pPr>
            <a:r>
              <a:rPr lang="en-US" sz="1250" dirty="0">
                <a:solidFill>
                  <a:srgbClr val="5B6678"/>
                </a:solidFill>
                <a:latin typeface="Calibri" pitchFamily="34" charset="0"/>
                <a:ea typeface="Calibri" pitchFamily="34" charset="-122"/>
                <a:cs typeface="Calibri" pitchFamily="34" charset="-120"/>
              </a:rPr>
              <a:t>Lint, refactor and test before the cloud</a:t>
            </a:r>
            <a:endParaRPr lang="en-US" sz="1250" dirty="0"/>
          </a:p>
        </p:txBody>
      </p:sp>
      <p:sp>
        <p:nvSpPr>
          <p:cNvPr id="30" name="Shape 25"/>
          <p:cNvSpPr/>
          <p:nvPr/>
        </p:nvSpPr>
        <p:spPr>
          <a:xfrm>
            <a:off x="822960" y="4700016"/>
            <a:ext cx="457200" cy="457200"/>
          </a:xfrm>
          <a:prstGeom prst="ellipse">
            <a:avLst/>
          </a:prstGeom>
          <a:solidFill>
            <a:srgbClr val="FFFFFF"/>
          </a:solidFill>
          <a:ln w="6350">
            <a:solidFill>
              <a:srgbClr val="FFFFFF"/>
            </a:solidFill>
            <a:prstDash val="solid"/>
          </a:ln>
        </p:spPr>
      </p:sp>
      <p:pic>
        <p:nvPicPr>
          <p:cNvPr id="31" name="Image 3" descr="preencoded.png"/>
          <p:cNvPicPr>
            <a:picLocks noChangeAspect="1"/>
          </p:cNvPicPr>
          <p:nvPr/>
        </p:nvPicPr>
        <p:blipFill>
          <a:blip r:embed="rId9"/>
          <a:stretch>
            <a:fillRect/>
          </a:stretch>
        </p:blipFill>
        <p:spPr>
          <a:xfrm>
            <a:off x="946404" y="4823460"/>
            <a:ext cx="210312" cy="210312"/>
          </a:xfrm>
          <a:prstGeom prst="rect">
            <a:avLst/>
          </a:prstGeom>
        </p:spPr>
      </p:pic>
      <p:sp>
        <p:nvSpPr>
          <p:cNvPr id="32" name="Text 26"/>
          <p:cNvSpPr txBox="1"/>
          <p:nvPr/>
        </p:nvSpPr>
        <p:spPr>
          <a:xfrm>
            <a:off x="1417320" y="4626864"/>
            <a:ext cx="2450592"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ruff + black</a:t>
            </a:r>
            <a:endParaRPr lang="en-US" sz="1500" dirty="0"/>
          </a:p>
        </p:txBody>
      </p:sp>
      <p:sp>
        <p:nvSpPr>
          <p:cNvPr id="33" name="Text 27"/>
          <p:cNvSpPr txBox="1"/>
          <p:nvPr/>
        </p:nvSpPr>
        <p:spPr>
          <a:xfrm>
            <a:off x="1417320" y="4928616"/>
            <a:ext cx="2450592" cy="502920"/>
          </a:xfrm>
          <a:prstGeom prst="rect">
            <a:avLst/>
          </a:prstGeom>
          <a:noFill/>
          <a:ln/>
        </p:spPr>
        <p:txBody>
          <a:bodyPr wrap="square" lIns="0" tIns="0" rIns="0" bIns="0" rtlCol="0" anchor="t"/>
          <a:lstStyle/>
          <a:p>
            <a:pPr marL="0" indent="0">
              <a:buNone/>
            </a:pPr>
            <a:r>
              <a:rPr lang="en-US" sz="1250" dirty="0">
                <a:solidFill>
                  <a:srgbClr val="5B6678"/>
                </a:solidFill>
                <a:latin typeface="Calibri" pitchFamily="34" charset="0"/>
                <a:ea typeface="Calibri" pitchFamily="34" charset="-122"/>
                <a:cs typeface="Calibri" pitchFamily="34" charset="-120"/>
              </a:rPr>
              <a:t>Consistent code across four contributors</a:t>
            </a:r>
            <a:endParaRPr lang="en-US" sz="1250" dirty="0"/>
          </a:p>
        </p:txBody>
      </p:sp>
      <p:sp>
        <p:nvSpPr>
          <p:cNvPr id="34" name="Shape 28"/>
          <p:cNvSpPr/>
          <p:nvPr/>
        </p:nvSpPr>
        <p:spPr>
          <a:xfrm>
            <a:off x="4315968" y="1554480"/>
            <a:ext cx="3547872" cy="4023360"/>
          </a:xfrm>
          <a:prstGeom prst="roundRect">
            <a:avLst>
              <a:gd name="adj" fmla="val 2577"/>
            </a:avLst>
          </a:prstGeom>
          <a:solidFill>
            <a:srgbClr val="F1F4F9"/>
          </a:solidFill>
          <a:ln w="6350">
            <a:solidFill>
              <a:srgbClr val="F1F4F9"/>
            </a:solidFill>
            <a:prstDash val="solid"/>
          </a:ln>
        </p:spPr>
      </p:sp>
      <p:sp>
        <p:nvSpPr>
          <p:cNvPr id="35" name="Shape 29"/>
          <p:cNvSpPr/>
          <p:nvPr/>
        </p:nvSpPr>
        <p:spPr>
          <a:xfrm>
            <a:off x="4590288" y="1828800"/>
            <a:ext cx="640080" cy="640080"/>
          </a:xfrm>
          <a:prstGeom prst="ellipse">
            <a:avLst/>
          </a:prstGeom>
          <a:solidFill>
            <a:srgbClr val="0B1F3A"/>
          </a:solidFill>
          <a:ln w="6350">
            <a:solidFill>
              <a:srgbClr val="0B1F3A"/>
            </a:solidFill>
            <a:prstDash val="solid"/>
          </a:ln>
        </p:spPr>
      </p:sp>
      <p:pic>
        <p:nvPicPr>
          <p:cNvPr id="36" name="Image 4" descr="preencoded.png"/>
          <p:cNvPicPr>
            <a:picLocks noChangeAspect="1"/>
          </p:cNvPicPr>
          <p:nvPr/>
        </p:nvPicPr>
        <p:blipFill>
          <a:blip r:embed="rId10"/>
          <a:stretch>
            <a:fillRect/>
          </a:stretch>
        </p:blipFill>
        <p:spPr>
          <a:xfrm>
            <a:off x="4763110" y="2001622"/>
            <a:ext cx="294437" cy="294437"/>
          </a:xfrm>
          <a:prstGeom prst="rect">
            <a:avLst/>
          </a:prstGeom>
        </p:spPr>
      </p:pic>
      <p:sp>
        <p:nvSpPr>
          <p:cNvPr id="37" name="Text 30"/>
          <p:cNvSpPr txBox="1"/>
          <p:nvPr/>
        </p:nvSpPr>
        <p:spPr>
          <a:xfrm>
            <a:off x="5413248" y="1828800"/>
            <a:ext cx="2286000" cy="640080"/>
          </a:xfrm>
          <a:prstGeom prst="rect">
            <a:avLst/>
          </a:prstGeom>
          <a:noFill/>
          <a:ln/>
        </p:spPr>
        <p:txBody>
          <a:bodyPr wrap="square" lIns="0" tIns="0" rIns="0" bIns="0" rtlCol="0" anchor="ctr"/>
          <a:lstStyle/>
          <a:p>
            <a:pPr marL="0" indent="0">
              <a:buNone/>
            </a:pPr>
            <a:r>
              <a:rPr lang="en-US" sz="1800" b="1" dirty="0">
                <a:solidFill>
                  <a:srgbClr val="0B1F3A"/>
                </a:solidFill>
                <a:latin typeface="Calibri" pitchFamily="34" charset="0"/>
                <a:ea typeface="Calibri" pitchFamily="34" charset="-122"/>
                <a:cs typeface="Calibri" pitchFamily="34" charset="-120"/>
              </a:rPr>
              <a:t>Build &amp; deploy</a:t>
            </a:r>
            <a:endParaRPr lang="en-US" sz="1800" dirty="0"/>
          </a:p>
        </p:txBody>
      </p:sp>
      <p:sp>
        <p:nvSpPr>
          <p:cNvPr id="38" name="Shape 31"/>
          <p:cNvSpPr/>
          <p:nvPr/>
        </p:nvSpPr>
        <p:spPr>
          <a:xfrm>
            <a:off x="4590288" y="2816352"/>
            <a:ext cx="457200" cy="457200"/>
          </a:xfrm>
          <a:prstGeom prst="ellipse">
            <a:avLst/>
          </a:prstGeom>
          <a:solidFill>
            <a:srgbClr val="FFFFFF"/>
          </a:solidFill>
          <a:ln w="6350">
            <a:solidFill>
              <a:srgbClr val="FFFFFF"/>
            </a:solidFill>
            <a:prstDash val="solid"/>
          </a:ln>
        </p:spPr>
      </p:sp>
      <p:pic>
        <p:nvPicPr>
          <p:cNvPr id="39" name="Image 5" descr="preencoded.png"/>
          <p:cNvPicPr>
            <a:picLocks noChangeAspect="1"/>
          </p:cNvPicPr>
          <p:nvPr/>
        </p:nvPicPr>
        <p:blipFill>
          <a:blip r:embed="rId11"/>
          <a:stretch>
            <a:fillRect/>
          </a:stretch>
        </p:blipFill>
        <p:spPr>
          <a:xfrm>
            <a:off x="4713732" y="2939796"/>
            <a:ext cx="210312" cy="210312"/>
          </a:xfrm>
          <a:prstGeom prst="rect">
            <a:avLst/>
          </a:prstGeom>
        </p:spPr>
      </p:pic>
      <p:sp>
        <p:nvSpPr>
          <p:cNvPr id="40" name="Text 32"/>
          <p:cNvSpPr txBox="1"/>
          <p:nvPr/>
        </p:nvSpPr>
        <p:spPr>
          <a:xfrm>
            <a:off x="5184648" y="2743200"/>
            <a:ext cx="2450592"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GitHub</a:t>
            </a:r>
            <a:endParaRPr lang="en-US" sz="1500" dirty="0"/>
          </a:p>
        </p:txBody>
      </p:sp>
      <p:sp>
        <p:nvSpPr>
          <p:cNvPr id="41" name="Text 33"/>
          <p:cNvSpPr txBox="1"/>
          <p:nvPr/>
        </p:nvSpPr>
        <p:spPr>
          <a:xfrm>
            <a:off x="5184648" y="3044952"/>
            <a:ext cx="2450592" cy="502920"/>
          </a:xfrm>
          <a:prstGeom prst="rect">
            <a:avLst/>
          </a:prstGeom>
          <a:noFill/>
          <a:ln/>
        </p:spPr>
        <p:txBody>
          <a:bodyPr wrap="square" lIns="0" tIns="0" rIns="0" bIns="0" rtlCol="0" anchor="t"/>
          <a:lstStyle/>
          <a:p>
            <a:pPr marL="0" indent="0">
              <a:buNone/>
            </a:pPr>
            <a:r>
              <a:rPr lang="en-US" sz="1250" dirty="0">
                <a:solidFill>
                  <a:srgbClr val="5B6678"/>
                </a:solidFill>
                <a:latin typeface="Calibri" pitchFamily="34" charset="0"/>
                <a:ea typeface="Calibri" pitchFamily="34" charset="-122"/>
                <a:cs typeface="Calibri" pitchFamily="34" charset="-120"/>
              </a:rPr>
              <a:t>Branches, PR reviews, one source of truth</a:t>
            </a:r>
            <a:endParaRPr lang="en-US" sz="1250" dirty="0"/>
          </a:p>
        </p:txBody>
      </p:sp>
      <p:sp>
        <p:nvSpPr>
          <p:cNvPr id="42" name="Shape 34"/>
          <p:cNvSpPr/>
          <p:nvPr/>
        </p:nvSpPr>
        <p:spPr>
          <a:xfrm>
            <a:off x="4590288" y="3758184"/>
            <a:ext cx="457200" cy="457200"/>
          </a:xfrm>
          <a:prstGeom prst="ellipse">
            <a:avLst/>
          </a:prstGeom>
          <a:solidFill>
            <a:srgbClr val="FFFFFF"/>
          </a:solidFill>
          <a:ln w="6350">
            <a:solidFill>
              <a:srgbClr val="FFFFFF"/>
            </a:solidFill>
            <a:prstDash val="solid"/>
          </a:ln>
        </p:spPr>
      </p:sp>
      <p:pic>
        <p:nvPicPr>
          <p:cNvPr id="43" name="Image 6" descr="preencoded.png"/>
          <p:cNvPicPr>
            <a:picLocks noChangeAspect="1"/>
          </p:cNvPicPr>
          <p:nvPr/>
        </p:nvPicPr>
        <p:blipFill>
          <a:blip r:embed="rId12"/>
          <a:stretch>
            <a:fillRect/>
          </a:stretch>
        </p:blipFill>
        <p:spPr>
          <a:xfrm>
            <a:off x="4713732" y="3881628"/>
            <a:ext cx="210312" cy="210312"/>
          </a:xfrm>
          <a:prstGeom prst="rect">
            <a:avLst/>
          </a:prstGeom>
        </p:spPr>
      </p:pic>
      <p:sp>
        <p:nvSpPr>
          <p:cNvPr id="44" name="Text 35"/>
          <p:cNvSpPr txBox="1"/>
          <p:nvPr/>
        </p:nvSpPr>
        <p:spPr>
          <a:xfrm>
            <a:off x="5184648" y="3685032"/>
            <a:ext cx="2450592"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GitHub Actions</a:t>
            </a:r>
            <a:endParaRPr lang="en-US" sz="1500" dirty="0"/>
          </a:p>
        </p:txBody>
      </p:sp>
      <p:sp>
        <p:nvSpPr>
          <p:cNvPr id="45" name="Text 36"/>
          <p:cNvSpPr txBox="1"/>
          <p:nvPr/>
        </p:nvSpPr>
        <p:spPr>
          <a:xfrm>
            <a:off x="5184648" y="3986784"/>
            <a:ext cx="2450592" cy="502920"/>
          </a:xfrm>
          <a:prstGeom prst="rect">
            <a:avLst/>
          </a:prstGeom>
          <a:noFill/>
          <a:ln/>
        </p:spPr>
        <p:txBody>
          <a:bodyPr wrap="square" lIns="0" tIns="0" rIns="0" bIns="0" rtlCol="0" anchor="t"/>
          <a:lstStyle/>
          <a:p>
            <a:pPr marL="0" indent="0">
              <a:buNone/>
            </a:pPr>
            <a:r>
              <a:rPr lang="en-US" sz="1250" dirty="0">
                <a:solidFill>
                  <a:srgbClr val="5B6678"/>
                </a:solidFill>
                <a:latin typeface="Calibri" pitchFamily="34" charset="0"/>
                <a:ea typeface="Calibri" pitchFamily="34" charset="-122"/>
                <a:cs typeface="Calibri" pitchFamily="34" charset="-120"/>
              </a:rPr>
              <a:t>CI on every PR; deploys notebooks via API</a:t>
            </a:r>
            <a:endParaRPr lang="en-US" sz="1250" dirty="0"/>
          </a:p>
        </p:txBody>
      </p:sp>
      <p:sp>
        <p:nvSpPr>
          <p:cNvPr id="46" name="Shape 37"/>
          <p:cNvSpPr/>
          <p:nvPr/>
        </p:nvSpPr>
        <p:spPr>
          <a:xfrm>
            <a:off x="4590288" y="4700016"/>
            <a:ext cx="457200" cy="457200"/>
          </a:xfrm>
          <a:prstGeom prst="ellipse">
            <a:avLst/>
          </a:prstGeom>
          <a:solidFill>
            <a:srgbClr val="FFFFFF"/>
          </a:solidFill>
          <a:ln w="6350">
            <a:solidFill>
              <a:srgbClr val="FFFFFF"/>
            </a:solidFill>
            <a:prstDash val="solid"/>
          </a:ln>
        </p:spPr>
      </p:sp>
      <p:pic>
        <p:nvPicPr>
          <p:cNvPr id="47" name="Image 7" descr="preencoded.png"/>
          <p:cNvPicPr>
            <a:picLocks noChangeAspect="1"/>
          </p:cNvPicPr>
          <p:nvPr/>
        </p:nvPicPr>
        <p:blipFill>
          <a:blip r:embed="rId13"/>
          <a:stretch>
            <a:fillRect/>
          </a:stretch>
        </p:blipFill>
        <p:spPr>
          <a:xfrm>
            <a:off x="4713732" y="4823460"/>
            <a:ext cx="210312" cy="210312"/>
          </a:xfrm>
          <a:prstGeom prst="rect">
            <a:avLst/>
          </a:prstGeom>
        </p:spPr>
      </p:pic>
      <p:sp>
        <p:nvSpPr>
          <p:cNvPr id="48" name="Text 38"/>
          <p:cNvSpPr txBox="1"/>
          <p:nvPr/>
        </p:nvSpPr>
        <p:spPr>
          <a:xfrm>
            <a:off x="5184648" y="4626864"/>
            <a:ext cx="2450592"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Azure service principal</a:t>
            </a:r>
            <a:endParaRPr lang="en-US" sz="1500" dirty="0"/>
          </a:p>
        </p:txBody>
      </p:sp>
      <p:sp>
        <p:nvSpPr>
          <p:cNvPr id="49" name="Text 39"/>
          <p:cNvSpPr txBox="1"/>
          <p:nvPr/>
        </p:nvSpPr>
        <p:spPr>
          <a:xfrm>
            <a:off x="5184648" y="4928616"/>
            <a:ext cx="2450592" cy="502920"/>
          </a:xfrm>
          <a:prstGeom prst="rect">
            <a:avLst/>
          </a:prstGeom>
          <a:noFill/>
          <a:ln/>
        </p:spPr>
        <p:txBody>
          <a:bodyPr wrap="square" lIns="0" tIns="0" rIns="0" bIns="0" rtlCol="0" anchor="t"/>
          <a:lstStyle/>
          <a:p>
            <a:pPr marL="0" indent="0">
              <a:buNone/>
            </a:pPr>
            <a:r>
              <a:rPr lang="en-US" sz="1250" dirty="0">
                <a:solidFill>
                  <a:srgbClr val="5B6678"/>
                </a:solidFill>
                <a:latin typeface="Calibri" pitchFamily="34" charset="0"/>
                <a:ea typeface="Calibri" pitchFamily="34" charset="-122"/>
                <a:cs typeface="Calibri" pitchFamily="34" charset="-120"/>
              </a:rPr>
              <a:t>Scoped, non-personal credentials in secrets</a:t>
            </a:r>
            <a:endParaRPr lang="en-US" sz="1250" dirty="0"/>
          </a:p>
        </p:txBody>
      </p:sp>
      <p:sp>
        <p:nvSpPr>
          <p:cNvPr id="50" name="Shape 40"/>
          <p:cNvSpPr/>
          <p:nvPr/>
        </p:nvSpPr>
        <p:spPr>
          <a:xfrm>
            <a:off x="8083296" y="1554480"/>
            <a:ext cx="3547872" cy="4023360"/>
          </a:xfrm>
          <a:prstGeom prst="roundRect">
            <a:avLst>
              <a:gd name="adj" fmla="val 2577"/>
            </a:avLst>
          </a:prstGeom>
          <a:solidFill>
            <a:srgbClr val="F1F4F9"/>
          </a:solidFill>
          <a:ln w="6350">
            <a:solidFill>
              <a:srgbClr val="F1F4F9"/>
            </a:solidFill>
            <a:prstDash val="solid"/>
          </a:ln>
        </p:spPr>
      </p:sp>
      <p:sp>
        <p:nvSpPr>
          <p:cNvPr id="51" name="Shape 41"/>
          <p:cNvSpPr/>
          <p:nvPr/>
        </p:nvSpPr>
        <p:spPr>
          <a:xfrm>
            <a:off x="8357616" y="1828800"/>
            <a:ext cx="640080" cy="640080"/>
          </a:xfrm>
          <a:prstGeom prst="ellipse">
            <a:avLst/>
          </a:prstGeom>
          <a:solidFill>
            <a:srgbClr val="F26B21"/>
          </a:solidFill>
          <a:ln w="6350">
            <a:solidFill>
              <a:srgbClr val="F26B21"/>
            </a:solidFill>
            <a:prstDash val="solid"/>
          </a:ln>
        </p:spPr>
      </p:sp>
      <p:pic>
        <p:nvPicPr>
          <p:cNvPr id="52" name="Image 8" descr="preencoded.png"/>
          <p:cNvPicPr>
            <a:picLocks noChangeAspect="1"/>
          </p:cNvPicPr>
          <p:nvPr/>
        </p:nvPicPr>
        <p:blipFill>
          <a:blip r:embed="rId14"/>
          <a:stretch>
            <a:fillRect/>
          </a:stretch>
        </p:blipFill>
        <p:spPr>
          <a:xfrm>
            <a:off x="8530438" y="2001622"/>
            <a:ext cx="294437" cy="294437"/>
          </a:xfrm>
          <a:prstGeom prst="rect">
            <a:avLst/>
          </a:prstGeom>
        </p:spPr>
      </p:pic>
      <p:sp>
        <p:nvSpPr>
          <p:cNvPr id="53" name="Text 42"/>
          <p:cNvSpPr txBox="1"/>
          <p:nvPr/>
        </p:nvSpPr>
        <p:spPr>
          <a:xfrm>
            <a:off x="9180576" y="1828800"/>
            <a:ext cx="2286000" cy="640080"/>
          </a:xfrm>
          <a:prstGeom prst="rect">
            <a:avLst/>
          </a:prstGeom>
          <a:noFill/>
          <a:ln/>
        </p:spPr>
        <p:txBody>
          <a:bodyPr wrap="square" lIns="0" tIns="0" rIns="0" bIns="0" rtlCol="0" anchor="ctr"/>
          <a:lstStyle/>
          <a:p>
            <a:pPr marL="0" indent="0">
              <a:buNone/>
            </a:pPr>
            <a:r>
              <a:rPr lang="en-US" sz="1800" b="1" dirty="0">
                <a:solidFill>
                  <a:srgbClr val="0B1F3A"/>
                </a:solidFill>
                <a:latin typeface="Calibri" pitchFamily="34" charset="0"/>
                <a:ea typeface="Calibri" pitchFamily="34" charset="-122"/>
                <a:cs typeface="Calibri" pitchFamily="34" charset="-120"/>
              </a:rPr>
              <a:t>Store, model &amp; serve</a:t>
            </a:r>
            <a:endParaRPr lang="en-US" sz="1800" dirty="0"/>
          </a:p>
        </p:txBody>
      </p:sp>
      <p:sp>
        <p:nvSpPr>
          <p:cNvPr id="54" name="Shape 43"/>
          <p:cNvSpPr/>
          <p:nvPr/>
        </p:nvSpPr>
        <p:spPr>
          <a:xfrm>
            <a:off x="8357616" y="2816352"/>
            <a:ext cx="457200" cy="457200"/>
          </a:xfrm>
          <a:prstGeom prst="ellipse">
            <a:avLst/>
          </a:prstGeom>
          <a:solidFill>
            <a:srgbClr val="FFFFFF"/>
          </a:solidFill>
          <a:ln w="6350">
            <a:solidFill>
              <a:srgbClr val="FFFFFF"/>
            </a:solidFill>
            <a:prstDash val="solid"/>
          </a:ln>
        </p:spPr>
      </p:sp>
      <p:pic>
        <p:nvPicPr>
          <p:cNvPr id="55" name="Image 9" descr="preencoded.png"/>
          <p:cNvPicPr>
            <a:picLocks noChangeAspect="1"/>
          </p:cNvPicPr>
          <p:nvPr/>
        </p:nvPicPr>
        <p:blipFill>
          <a:blip r:embed="rId15"/>
          <a:stretch>
            <a:fillRect/>
          </a:stretch>
        </p:blipFill>
        <p:spPr>
          <a:xfrm>
            <a:off x="8481060" y="2939796"/>
            <a:ext cx="210312" cy="210312"/>
          </a:xfrm>
          <a:prstGeom prst="rect">
            <a:avLst/>
          </a:prstGeom>
        </p:spPr>
      </p:pic>
      <p:sp>
        <p:nvSpPr>
          <p:cNvPr id="56" name="Text 44"/>
          <p:cNvSpPr txBox="1"/>
          <p:nvPr/>
        </p:nvSpPr>
        <p:spPr>
          <a:xfrm>
            <a:off x="8951976" y="2743200"/>
            <a:ext cx="2450592"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Fabric Lakehouse + OneLake</a:t>
            </a:r>
            <a:endParaRPr lang="en-US" sz="1500" dirty="0"/>
          </a:p>
        </p:txBody>
      </p:sp>
      <p:sp>
        <p:nvSpPr>
          <p:cNvPr id="57" name="Text 45"/>
          <p:cNvSpPr txBox="1"/>
          <p:nvPr/>
        </p:nvSpPr>
        <p:spPr>
          <a:xfrm>
            <a:off x="8951976" y="3044952"/>
            <a:ext cx="2450592" cy="502920"/>
          </a:xfrm>
          <a:prstGeom prst="rect">
            <a:avLst/>
          </a:prstGeom>
          <a:noFill/>
          <a:ln/>
        </p:spPr>
        <p:txBody>
          <a:bodyPr wrap="square" lIns="0" tIns="0" rIns="0" bIns="0" rtlCol="0" anchor="t"/>
          <a:lstStyle/>
          <a:p>
            <a:pPr marL="0" indent="0">
              <a:buNone/>
            </a:pPr>
            <a:r>
              <a:rPr lang="en-US" sz="1250" dirty="0">
                <a:solidFill>
                  <a:srgbClr val="5B6678"/>
                </a:solidFill>
                <a:latin typeface="Calibri" pitchFamily="34" charset="0"/>
                <a:ea typeface="Calibri" pitchFamily="34" charset="-122"/>
                <a:cs typeface="Calibri" pitchFamily="34" charset="-120"/>
              </a:rPr>
              <a:t>One home for all data, as Delta tables</a:t>
            </a:r>
            <a:endParaRPr lang="en-US" sz="1250" dirty="0"/>
          </a:p>
        </p:txBody>
      </p:sp>
      <p:sp>
        <p:nvSpPr>
          <p:cNvPr id="58" name="Shape 46"/>
          <p:cNvSpPr/>
          <p:nvPr/>
        </p:nvSpPr>
        <p:spPr>
          <a:xfrm>
            <a:off x="8357616" y="3758184"/>
            <a:ext cx="457200" cy="457200"/>
          </a:xfrm>
          <a:prstGeom prst="ellipse">
            <a:avLst/>
          </a:prstGeom>
          <a:solidFill>
            <a:srgbClr val="FFFFFF"/>
          </a:solidFill>
          <a:ln w="6350">
            <a:solidFill>
              <a:srgbClr val="FFFFFF"/>
            </a:solidFill>
            <a:prstDash val="solid"/>
          </a:ln>
        </p:spPr>
      </p:sp>
      <p:pic>
        <p:nvPicPr>
          <p:cNvPr id="59" name="Image 10" descr="preencoded.png"/>
          <p:cNvPicPr>
            <a:picLocks noChangeAspect="1"/>
          </p:cNvPicPr>
          <p:nvPr/>
        </p:nvPicPr>
        <p:blipFill>
          <a:blip r:embed="rId16"/>
          <a:stretch>
            <a:fillRect/>
          </a:stretch>
        </p:blipFill>
        <p:spPr>
          <a:xfrm>
            <a:off x="8481060" y="3881628"/>
            <a:ext cx="210312" cy="210312"/>
          </a:xfrm>
          <a:prstGeom prst="rect">
            <a:avLst/>
          </a:prstGeom>
        </p:spPr>
      </p:pic>
      <p:sp>
        <p:nvSpPr>
          <p:cNvPr id="60" name="Text 47"/>
          <p:cNvSpPr txBox="1"/>
          <p:nvPr/>
        </p:nvSpPr>
        <p:spPr>
          <a:xfrm>
            <a:off x="8951976" y="3685032"/>
            <a:ext cx="2450592"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Fabric Pipelines</a:t>
            </a:r>
            <a:endParaRPr lang="en-US" sz="1500" dirty="0"/>
          </a:p>
        </p:txBody>
      </p:sp>
      <p:sp>
        <p:nvSpPr>
          <p:cNvPr id="61" name="Text 48"/>
          <p:cNvSpPr txBox="1"/>
          <p:nvPr/>
        </p:nvSpPr>
        <p:spPr>
          <a:xfrm>
            <a:off x="8951976" y="3986784"/>
            <a:ext cx="2450592" cy="502920"/>
          </a:xfrm>
          <a:prstGeom prst="rect">
            <a:avLst/>
          </a:prstGeom>
          <a:noFill/>
          <a:ln/>
        </p:spPr>
        <p:txBody>
          <a:bodyPr wrap="square" lIns="0" tIns="0" rIns="0" bIns="0" rtlCol="0" anchor="t"/>
          <a:lstStyle/>
          <a:p>
            <a:pPr marL="0" indent="0">
              <a:buNone/>
            </a:pPr>
            <a:r>
              <a:rPr lang="en-US" sz="1250" dirty="0">
                <a:solidFill>
                  <a:srgbClr val="5B6678"/>
                </a:solidFill>
                <a:latin typeface="Calibri" pitchFamily="34" charset="0"/>
                <a:ea typeface="Calibri" pitchFamily="34" charset="-122"/>
                <a:cs typeface="Calibri" pitchFamily="34" charset="-120"/>
              </a:rPr>
              <a:t>Runs Bronze → Silver → Gold in order</a:t>
            </a:r>
            <a:endParaRPr lang="en-US" sz="1250" dirty="0"/>
          </a:p>
        </p:txBody>
      </p:sp>
      <p:sp>
        <p:nvSpPr>
          <p:cNvPr id="62" name="Shape 49"/>
          <p:cNvSpPr/>
          <p:nvPr/>
        </p:nvSpPr>
        <p:spPr>
          <a:xfrm>
            <a:off x="8357616" y="4700016"/>
            <a:ext cx="457200" cy="457200"/>
          </a:xfrm>
          <a:prstGeom prst="ellipse">
            <a:avLst/>
          </a:prstGeom>
          <a:solidFill>
            <a:srgbClr val="FFFFFF"/>
          </a:solidFill>
          <a:ln w="6350">
            <a:solidFill>
              <a:srgbClr val="FFFFFF"/>
            </a:solidFill>
            <a:prstDash val="solid"/>
          </a:ln>
        </p:spPr>
      </p:sp>
      <p:pic>
        <p:nvPicPr>
          <p:cNvPr id="63" name="Image 11" descr="preencoded.png"/>
          <p:cNvPicPr>
            <a:picLocks noChangeAspect="1"/>
          </p:cNvPicPr>
          <p:nvPr/>
        </p:nvPicPr>
        <p:blipFill>
          <a:blip r:embed="rId17"/>
          <a:stretch>
            <a:fillRect/>
          </a:stretch>
        </p:blipFill>
        <p:spPr>
          <a:xfrm>
            <a:off x="8481060" y="4823460"/>
            <a:ext cx="210312" cy="210312"/>
          </a:xfrm>
          <a:prstGeom prst="rect">
            <a:avLst/>
          </a:prstGeom>
        </p:spPr>
      </p:pic>
      <p:sp>
        <p:nvSpPr>
          <p:cNvPr id="64" name="Text 50"/>
          <p:cNvSpPr txBox="1"/>
          <p:nvPr/>
        </p:nvSpPr>
        <p:spPr>
          <a:xfrm>
            <a:off x="8951976" y="4626864"/>
            <a:ext cx="2450592"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Power BI</a:t>
            </a:r>
            <a:endParaRPr lang="en-US" sz="1500" dirty="0"/>
          </a:p>
        </p:txBody>
      </p:sp>
      <p:sp>
        <p:nvSpPr>
          <p:cNvPr id="65" name="Text 51"/>
          <p:cNvSpPr txBox="1"/>
          <p:nvPr/>
        </p:nvSpPr>
        <p:spPr>
          <a:xfrm>
            <a:off x="8951976" y="4928616"/>
            <a:ext cx="2450592" cy="502920"/>
          </a:xfrm>
          <a:prstGeom prst="rect">
            <a:avLst/>
          </a:prstGeom>
          <a:noFill/>
          <a:ln/>
        </p:spPr>
        <p:txBody>
          <a:bodyPr wrap="square" lIns="0" tIns="0" rIns="0" bIns="0" rtlCol="0" anchor="t"/>
          <a:lstStyle/>
          <a:p>
            <a:pPr marL="0" indent="0">
              <a:buNone/>
            </a:pPr>
            <a:r>
              <a:rPr lang="en-US" sz="1250" dirty="0">
                <a:solidFill>
                  <a:srgbClr val="5B6678"/>
                </a:solidFill>
                <a:latin typeface="Calibri" pitchFamily="34" charset="0"/>
                <a:ea typeface="Calibri" pitchFamily="34" charset="-122"/>
                <a:cs typeface="Calibri" pitchFamily="34" charset="-120"/>
              </a:rPr>
              <a:t>Semantic model and dashboard on Gold</a:t>
            </a:r>
            <a:endParaRPr lang="en-US" sz="1250" dirty="0"/>
          </a:p>
        </p:txBody>
      </p:sp>
      <p:sp>
        <p:nvSpPr>
          <p:cNvPr id="66" name="Text 52"/>
          <p:cNvSpPr txBox="1"/>
          <p:nvPr/>
        </p:nvSpPr>
        <p:spPr>
          <a:xfrm>
            <a:off x="548640" y="5760720"/>
            <a:ext cx="11064240" cy="457200"/>
          </a:xfrm>
          <a:prstGeom prst="rect">
            <a:avLst/>
          </a:prstGeom>
          <a:noFill/>
          <a:ln/>
        </p:spPr>
        <p:txBody>
          <a:bodyPr wrap="square" lIns="0" tIns="0" rIns="0" bIns="0" rtlCol="0" anchor="t"/>
          <a:lstStyle/>
          <a:p>
            <a:pPr marL="0" indent="0">
              <a:buNone/>
            </a:pPr>
            <a:r>
              <a:rPr lang="en-US" sz="1300" i="1" dirty="0">
                <a:solidFill>
                  <a:srgbClr val="5B6678"/>
                </a:solidFill>
                <a:latin typeface="Calibri" pitchFamily="34" charset="0"/>
                <a:ea typeface="Calibri" pitchFamily="34" charset="-122"/>
                <a:cs typeface="Calibri" pitchFamily="34" charset="-120"/>
              </a:rPr>
              <a:t>Selected after comparing three stack options (local-first, full Microsoft cloud, modern hybrid with dbt) on delivery time, portfolio value and job-market demand.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66" name="Picture 65">
            <a:extLst>
              <a:ext uri="{FF2B5EF4-FFF2-40B4-BE49-F238E27FC236}">
                <a16:creationId xmlns:a16="http://schemas.microsoft.com/office/drawing/2014/main" id="{18537159-1522-7B01-6FF7-8FEE70007B2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
                    </a14:imgEffect>
                    <a14:imgEffect>
                      <a14:colorTemperature colorTemp="4873"/>
                    </a14:imgEffect>
                    <a14:imgEffect>
                      <a14:saturation sat="165000"/>
                    </a14:imgEffect>
                    <a14:imgEffect>
                      <a14:brightnessContrast bright="-23000" contrast="-48000"/>
                    </a14:imgEffect>
                  </a14:imgLayer>
                </a14:imgProps>
              </a:ext>
            </a:extLst>
          </a:blip>
          <a:srcRect t="897"/>
          <a:stretch>
            <a:fillRect/>
          </a:stretch>
        </p:blipFill>
        <p:spPr>
          <a:xfrm>
            <a:off x="-308737" y="-85060"/>
            <a:ext cx="12639353" cy="7045841"/>
          </a:xfrm>
          <a:prstGeom prst="rect">
            <a:avLst/>
          </a:prstGeom>
          <a:effectLst>
            <a:outerShdw dist="50800" dir="5400000" algn="ctr" rotWithShape="0">
              <a:srgbClr val="000000"/>
            </a:outerShdw>
          </a:effectLst>
        </p:spPr>
      </p:pic>
      <p:sp>
        <p:nvSpPr>
          <p:cNvPr id="2" name="Text 0"/>
          <p:cNvSpPr txBox="1"/>
          <p:nvPr/>
        </p:nvSpPr>
        <p:spPr>
          <a:xfrm>
            <a:off x="548640" y="347472"/>
            <a:ext cx="731520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03  ·  SOLUTION  ›  ARCHITECTURE</a:t>
            </a:r>
            <a:endParaRPr lang="en-US" sz="1200" dirty="0"/>
          </a:p>
        </p:txBody>
      </p:sp>
      <p:sp>
        <p:nvSpPr>
          <p:cNvPr id="3" name="Text 1"/>
          <p:cNvSpPr txBox="1"/>
          <p:nvPr/>
        </p:nvSpPr>
        <p:spPr>
          <a:xfrm>
            <a:off x="548640" y="621792"/>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Architecture: code and data follow two paths</a:t>
            </a:r>
            <a:endParaRPr lang="en-US" sz="3000" dirty="0"/>
          </a:p>
        </p:txBody>
      </p:sp>
      <p:sp>
        <p:nvSpPr>
          <p:cNvPr id="4" name="Shape 2"/>
          <p:cNvSpPr/>
          <p:nvPr/>
        </p:nvSpPr>
        <p:spPr>
          <a:xfrm>
            <a:off x="576072" y="6483096"/>
            <a:ext cx="128016" cy="128016"/>
          </a:xfrm>
          <a:prstGeom prst="ellipse">
            <a:avLst/>
          </a:prstGeom>
          <a:solidFill>
            <a:srgbClr val="0B1F3A"/>
          </a:solidFill>
          <a:ln w="12700">
            <a:solidFill>
              <a:srgbClr val="0B1F3A"/>
            </a:solidFill>
            <a:prstDash val="solid"/>
          </a:ln>
        </p:spPr>
      </p:sp>
      <p:sp>
        <p:nvSpPr>
          <p:cNvPr id="5" name="Text 3"/>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Introduction</a:t>
            </a:r>
            <a:endParaRPr lang="en-US" sz="1050" dirty="0"/>
          </a:p>
        </p:txBody>
      </p:sp>
      <p:sp>
        <p:nvSpPr>
          <p:cNvPr id="6" name="Shape 4"/>
          <p:cNvSpPr/>
          <p:nvPr/>
        </p:nvSpPr>
        <p:spPr>
          <a:xfrm>
            <a:off x="2039112" y="6483096"/>
            <a:ext cx="128016" cy="128016"/>
          </a:xfrm>
          <a:prstGeom prst="ellipse">
            <a:avLst/>
          </a:prstGeom>
          <a:solidFill>
            <a:srgbClr val="0B1F3A"/>
          </a:solidFill>
          <a:ln w="12700">
            <a:solidFill>
              <a:srgbClr val="0B1F3A"/>
            </a:solidFill>
            <a:prstDash val="solid"/>
          </a:ln>
        </p:spPr>
      </p:sp>
      <p:sp>
        <p:nvSpPr>
          <p:cNvPr id="7" name="Text 5"/>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Problem</a:t>
            </a:r>
            <a:endParaRPr lang="en-US" sz="1050" dirty="0"/>
          </a:p>
        </p:txBody>
      </p:sp>
      <p:sp>
        <p:nvSpPr>
          <p:cNvPr id="8" name="Shape 6"/>
          <p:cNvSpPr/>
          <p:nvPr/>
        </p:nvSpPr>
        <p:spPr>
          <a:xfrm>
            <a:off x="3081528" y="6391656"/>
            <a:ext cx="1097280" cy="310896"/>
          </a:xfrm>
          <a:prstGeom prst="roundRect">
            <a:avLst>
              <a:gd name="adj" fmla="val 50000"/>
            </a:avLst>
          </a:prstGeom>
          <a:solidFill>
            <a:srgbClr val="FDE8DA"/>
          </a:solidFill>
          <a:ln w="6350">
            <a:solidFill>
              <a:srgbClr val="FDE8DA"/>
            </a:solidFill>
            <a:prstDash val="solid"/>
          </a:ln>
        </p:spPr>
      </p:sp>
      <p:sp>
        <p:nvSpPr>
          <p:cNvPr id="9" name="Shape 7"/>
          <p:cNvSpPr/>
          <p:nvPr/>
        </p:nvSpPr>
        <p:spPr>
          <a:xfrm>
            <a:off x="3182112" y="6483096"/>
            <a:ext cx="128016" cy="128016"/>
          </a:xfrm>
          <a:prstGeom prst="ellipse">
            <a:avLst/>
          </a:prstGeom>
          <a:solidFill>
            <a:srgbClr val="F26B21"/>
          </a:solidFill>
          <a:ln w="12700">
            <a:solidFill>
              <a:srgbClr val="F26B21"/>
            </a:solidFill>
            <a:prstDash val="solid"/>
          </a:ln>
        </p:spPr>
      </p:sp>
      <p:sp>
        <p:nvSpPr>
          <p:cNvPr id="10" name="Text 8"/>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Solution</a:t>
            </a:r>
            <a:endParaRPr lang="en-US" sz="1100" dirty="0"/>
          </a:p>
        </p:txBody>
      </p:sp>
      <p:sp>
        <p:nvSpPr>
          <p:cNvPr id="11" name="Shape 9"/>
          <p:cNvSpPr/>
          <p:nvPr/>
        </p:nvSpPr>
        <p:spPr>
          <a:xfrm>
            <a:off x="4370832" y="6483096"/>
            <a:ext cx="128016" cy="128016"/>
          </a:xfrm>
          <a:prstGeom prst="ellipse">
            <a:avLst/>
          </a:prstGeom>
          <a:solidFill>
            <a:srgbClr val="FFFFFF"/>
          </a:solidFill>
          <a:ln w="12700">
            <a:solidFill>
              <a:srgbClr val="8A94A6"/>
            </a:solidFill>
            <a:prstDash val="solid"/>
          </a:ln>
        </p:spPr>
      </p:sp>
      <p:sp>
        <p:nvSpPr>
          <p:cNvPr id="12" name="Text 10"/>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Insights</a:t>
            </a:r>
            <a:endParaRPr lang="en-US" sz="1050" dirty="0"/>
          </a:p>
        </p:txBody>
      </p:sp>
      <p:sp>
        <p:nvSpPr>
          <p:cNvPr id="13" name="Shape 11"/>
          <p:cNvSpPr/>
          <p:nvPr/>
        </p:nvSpPr>
        <p:spPr>
          <a:xfrm>
            <a:off x="5559552" y="6483096"/>
            <a:ext cx="128016" cy="128016"/>
          </a:xfrm>
          <a:prstGeom prst="ellipse">
            <a:avLst/>
          </a:prstGeom>
          <a:solidFill>
            <a:srgbClr val="FFFFFF"/>
          </a:solidFill>
          <a:ln w="12700">
            <a:solidFill>
              <a:srgbClr val="8A94A6"/>
            </a:solidFill>
            <a:prstDash val="solid"/>
          </a:ln>
        </p:spPr>
      </p:sp>
      <p:sp>
        <p:nvSpPr>
          <p:cNvPr id="14" name="Text 12"/>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Challenges &amp; Lessons</a:t>
            </a:r>
            <a:endParaRPr lang="en-US" sz="1050" dirty="0"/>
          </a:p>
        </p:txBody>
      </p:sp>
      <p:sp>
        <p:nvSpPr>
          <p:cNvPr id="15" name="Shape 13"/>
          <p:cNvSpPr/>
          <p:nvPr/>
        </p:nvSpPr>
        <p:spPr>
          <a:xfrm>
            <a:off x="7571232" y="6483096"/>
            <a:ext cx="128016" cy="128016"/>
          </a:xfrm>
          <a:prstGeom prst="ellipse">
            <a:avLst/>
          </a:prstGeom>
          <a:solidFill>
            <a:srgbClr val="FFFFFF"/>
          </a:solidFill>
          <a:ln w="12700">
            <a:solidFill>
              <a:srgbClr val="8A94A6"/>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Conclusion</a:t>
            </a:r>
            <a:endParaRPr lang="en-US" sz="1050" dirty="0"/>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5B6678"/>
                </a:solidFill>
                <a:latin typeface="Calibri" pitchFamily="34" charset="0"/>
                <a:ea typeface="Calibri" pitchFamily="34" charset="-122"/>
                <a:cs typeface="Calibri" pitchFamily="34" charset="-120"/>
              </a:rPr>
              <a:t>6</a:t>
            </a:r>
            <a:endParaRPr lang="en-US" sz="1000" dirty="0"/>
          </a:p>
        </p:txBody>
      </p:sp>
      <p:sp>
        <p:nvSpPr>
          <p:cNvPr id="18" name="Text 16"/>
          <p:cNvSpPr txBox="1"/>
          <p:nvPr/>
        </p:nvSpPr>
        <p:spPr>
          <a:xfrm>
            <a:off x="548640" y="1371600"/>
            <a:ext cx="7315200" cy="256032"/>
          </a:xfrm>
          <a:prstGeom prst="rect">
            <a:avLst/>
          </a:prstGeom>
          <a:noFill/>
          <a:ln/>
        </p:spPr>
        <p:txBody>
          <a:bodyPr wrap="square" lIns="0" tIns="0" rIns="0" bIns="0" rtlCol="0" anchor="t"/>
          <a:lstStyle/>
          <a:p>
            <a:pPr marL="0" indent="0">
              <a:buNone/>
            </a:pPr>
            <a:r>
              <a:rPr lang="en-US" sz="1100" b="1" kern="0" spc="200" dirty="0">
                <a:solidFill>
                  <a:srgbClr val="5B6678"/>
                </a:solidFill>
                <a:latin typeface="Calibri" pitchFamily="34" charset="0"/>
                <a:ea typeface="Calibri" pitchFamily="34" charset="-122"/>
                <a:cs typeface="Calibri" pitchFamily="34" charset="-120"/>
              </a:rPr>
              <a:t>ENGINEERING PATH  ·  HOW CODE MOVES</a:t>
            </a:r>
            <a:endParaRPr lang="en-US" sz="1100" dirty="0"/>
          </a:p>
        </p:txBody>
      </p:sp>
      <p:sp>
        <p:nvSpPr>
          <p:cNvPr id="19" name="Shape 17"/>
          <p:cNvSpPr/>
          <p:nvPr/>
        </p:nvSpPr>
        <p:spPr>
          <a:xfrm>
            <a:off x="548640" y="1691640"/>
            <a:ext cx="3291840" cy="1051560"/>
          </a:xfrm>
          <a:prstGeom prst="roundRect">
            <a:avLst>
              <a:gd name="adj" fmla="val 8696"/>
            </a:avLst>
          </a:prstGeom>
          <a:solidFill>
            <a:srgbClr val="F1F4F9"/>
          </a:solidFill>
          <a:ln w="12700">
            <a:solidFill>
              <a:srgbClr val="D5DBE6"/>
            </a:solidFill>
            <a:prstDash val="solid"/>
          </a:ln>
        </p:spPr>
      </p:sp>
      <p:sp>
        <p:nvSpPr>
          <p:cNvPr id="20" name="Shape 18"/>
          <p:cNvSpPr/>
          <p:nvPr/>
        </p:nvSpPr>
        <p:spPr>
          <a:xfrm>
            <a:off x="731520" y="1965960"/>
            <a:ext cx="502920" cy="502920"/>
          </a:xfrm>
          <a:prstGeom prst="ellipse">
            <a:avLst/>
          </a:prstGeom>
          <a:solidFill>
            <a:srgbClr val="0B1F3A"/>
          </a:solidFill>
          <a:ln w="6350">
            <a:solidFill>
              <a:srgbClr val="0B1F3A"/>
            </a:solidFill>
            <a:prstDash val="solid"/>
          </a:ln>
        </p:spPr>
      </p:sp>
      <p:pic>
        <p:nvPicPr>
          <p:cNvPr id="21" name="Image 0" descr="preencoded.png"/>
          <p:cNvPicPr>
            <a:picLocks noChangeAspect="1"/>
          </p:cNvPicPr>
          <p:nvPr/>
        </p:nvPicPr>
        <p:blipFill>
          <a:blip r:embed="rId6"/>
          <a:stretch>
            <a:fillRect/>
          </a:stretch>
        </p:blipFill>
        <p:spPr>
          <a:xfrm>
            <a:off x="867308" y="2101748"/>
            <a:ext cx="231343" cy="231343"/>
          </a:xfrm>
          <a:prstGeom prst="rect">
            <a:avLst/>
          </a:prstGeom>
        </p:spPr>
      </p:pic>
      <p:sp>
        <p:nvSpPr>
          <p:cNvPr id="22" name="Text 19"/>
          <p:cNvSpPr txBox="1"/>
          <p:nvPr/>
        </p:nvSpPr>
        <p:spPr>
          <a:xfrm>
            <a:off x="1417320" y="1691640"/>
            <a:ext cx="2286000" cy="1051560"/>
          </a:xfrm>
          <a:prstGeom prst="rect">
            <a:avLst/>
          </a:prstGeom>
          <a:noFill/>
          <a:ln/>
        </p:spPr>
        <p:txBody>
          <a:bodyPr wrap="square" lIns="0" tIns="0" rIns="0" bIns="0" rtlCol="0" anchor="ctr"/>
          <a:lstStyle/>
          <a:p>
            <a:pPr marL="0" indent="0">
              <a:spcAft>
                <a:spcPts val="400"/>
              </a:spcAft>
              <a:buNone/>
            </a:pPr>
            <a:r>
              <a:rPr lang="en-US" sz="1600" b="1" dirty="0">
                <a:solidFill>
                  <a:srgbClr val="0B1F3A"/>
                </a:solidFill>
                <a:latin typeface="Calibri" pitchFamily="34" charset="0"/>
                <a:ea typeface="Calibri" pitchFamily="34" charset="-122"/>
                <a:cs typeface="Calibri" pitchFamily="34" charset="-120"/>
              </a:rPr>
              <a:t>VS Code + PySpark</a:t>
            </a:r>
            <a:endParaRPr lang="en-US" sz="1600" dirty="0"/>
          </a:p>
          <a:p>
            <a:pPr marL="0" indent="0">
              <a:buNone/>
            </a:pPr>
            <a:r>
              <a:rPr lang="en-US" sz="1200" dirty="0">
                <a:solidFill>
                  <a:srgbClr val="5B6678"/>
                </a:solidFill>
                <a:latin typeface="Calibri" pitchFamily="34" charset="0"/>
                <a:ea typeface="Calibri" pitchFamily="34" charset="-122"/>
                <a:cs typeface="Calibri" pitchFamily="34" charset="-120"/>
              </a:rPr>
              <a:t>Modular clean, validate and test code; pytest run locally</a:t>
            </a:r>
            <a:endParaRPr lang="en-US" sz="1600" dirty="0"/>
          </a:p>
        </p:txBody>
      </p:sp>
      <p:sp>
        <p:nvSpPr>
          <p:cNvPr id="23" name="Shape 20"/>
          <p:cNvSpPr/>
          <p:nvPr/>
        </p:nvSpPr>
        <p:spPr>
          <a:xfrm>
            <a:off x="4434840" y="1691640"/>
            <a:ext cx="3291840" cy="1051560"/>
          </a:xfrm>
          <a:prstGeom prst="roundRect">
            <a:avLst>
              <a:gd name="adj" fmla="val 8696"/>
            </a:avLst>
          </a:prstGeom>
          <a:solidFill>
            <a:srgbClr val="F1F4F9"/>
          </a:solidFill>
          <a:ln w="12700">
            <a:solidFill>
              <a:srgbClr val="D5DBE6"/>
            </a:solidFill>
            <a:prstDash val="solid"/>
          </a:ln>
        </p:spPr>
      </p:sp>
      <p:sp>
        <p:nvSpPr>
          <p:cNvPr id="24" name="Shape 21"/>
          <p:cNvSpPr/>
          <p:nvPr/>
        </p:nvSpPr>
        <p:spPr>
          <a:xfrm>
            <a:off x="4617720" y="1965960"/>
            <a:ext cx="502920" cy="502920"/>
          </a:xfrm>
          <a:prstGeom prst="ellipse">
            <a:avLst/>
          </a:prstGeom>
          <a:solidFill>
            <a:srgbClr val="0B1F3A"/>
          </a:solidFill>
          <a:ln w="6350">
            <a:solidFill>
              <a:srgbClr val="0B1F3A"/>
            </a:solidFill>
            <a:prstDash val="solid"/>
          </a:ln>
        </p:spPr>
      </p:sp>
      <p:pic>
        <p:nvPicPr>
          <p:cNvPr id="25" name="Image 1" descr="preencoded.png"/>
          <p:cNvPicPr>
            <a:picLocks noChangeAspect="1"/>
          </p:cNvPicPr>
          <p:nvPr/>
        </p:nvPicPr>
        <p:blipFill>
          <a:blip r:embed="rId7"/>
          <a:stretch>
            <a:fillRect/>
          </a:stretch>
        </p:blipFill>
        <p:spPr>
          <a:xfrm>
            <a:off x="4753508" y="2101748"/>
            <a:ext cx="231343" cy="231343"/>
          </a:xfrm>
          <a:prstGeom prst="rect">
            <a:avLst/>
          </a:prstGeom>
        </p:spPr>
      </p:pic>
      <p:sp>
        <p:nvSpPr>
          <p:cNvPr id="26" name="Text 22"/>
          <p:cNvSpPr txBox="1"/>
          <p:nvPr/>
        </p:nvSpPr>
        <p:spPr>
          <a:xfrm>
            <a:off x="5303520" y="1691640"/>
            <a:ext cx="2286000" cy="1051560"/>
          </a:xfrm>
          <a:prstGeom prst="rect">
            <a:avLst/>
          </a:prstGeom>
          <a:noFill/>
          <a:ln/>
        </p:spPr>
        <p:txBody>
          <a:bodyPr wrap="square" lIns="0" tIns="0" rIns="0" bIns="0" rtlCol="0" anchor="ctr"/>
          <a:lstStyle/>
          <a:p>
            <a:pPr marL="0" indent="0">
              <a:spcAft>
                <a:spcPts val="400"/>
              </a:spcAft>
              <a:buNone/>
            </a:pPr>
            <a:r>
              <a:rPr lang="en-US" sz="1600" b="1" dirty="0">
                <a:solidFill>
                  <a:srgbClr val="0B1F3A"/>
                </a:solidFill>
                <a:latin typeface="Calibri" pitchFamily="34" charset="0"/>
                <a:ea typeface="Calibri" pitchFamily="34" charset="-122"/>
                <a:cs typeface="Calibri" pitchFamily="34" charset="-120"/>
              </a:rPr>
              <a:t>GitHub</a:t>
            </a:r>
            <a:endParaRPr lang="en-US" sz="1600" dirty="0"/>
          </a:p>
          <a:p>
            <a:pPr marL="0" indent="0">
              <a:buNone/>
            </a:pPr>
            <a:r>
              <a:rPr lang="en-US" sz="1200" dirty="0">
                <a:solidFill>
                  <a:srgbClr val="5B6678"/>
                </a:solidFill>
                <a:latin typeface="Calibri" pitchFamily="34" charset="0"/>
                <a:ea typeface="Calibri" pitchFamily="34" charset="-122"/>
                <a:cs typeface="Calibri" pitchFamily="34" charset="-120"/>
              </a:rPr>
              <a:t>Feature branches, pull requests and peer review</a:t>
            </a:r>
            <a:endParaRPr lang="en-US" sz="1600" dirty="0"/>
          </a:p>
        </p:txBody>
      </p:sp>
      <p:sp>
        <p:nvSpPr>
          <p:cNvPr id="27" name="Shape 23"/>
          <p:cNvSpPr/>
          <p:nvPr/>
        </p:nvSpPr>
        <p:spPr>
          <a:xfrm>
            <a:off x="8321040" y="1691640"/>
            <a:ext cx="3291840" cy="1051560"/>
          </a:xfrm>
          <a:prstGeom prst="roundRect">
            <a:avLst>
              <a:gd name="adj" fmla="val 8696"/>
            </a:avLst>
          </a:prstGeom>
          <a:solidFill>
            <a:srgbClr val="F1F4F9"/>
          </a:solidFill>
          <a:ln w="12700">
            <a:solidFill>
              <a:srgbClr val="D5DBE6"/>
            </a:solidFill>
            <a:prstDash val="solid"/>
          </a:ln>
        </p:spPr>
      </p:sp>
      <p:sp>
        <p:nvSpPr>
          <p:cNvPr id="28" name="Shape 24"/>
          <p:cNvSpPr/>
          <p:nvPr/>
        </p:nvSpPr>
        <p:spPr>
          <a:xfrm>
            <a:off x="8503920" y="1965960"/>
            <a:ext cx="502920" cy="502920"/>
          </a:xfrm>
          <a:prstGeom prst="ellipse">
            <a:avLst/>
          </a:prstGeom>
          <a:solidFill>
            <a:srgbClr val="0B1F3A"/>
          </a:solidFill>
          <a:ln w="6350">
            <a:solidFill>
              <a:srgbClr val="0B1F3A"/>
            </a:solidFill>
            <a:prstDash val="solid"/>
          </a:ln>
        </p:spPr>
      </p:sp>
      <p:pic>
        <p:nvPicPr>
          <p:cNvPr id="29" name="Image 2" descr="preencoded.png"/>
          <p:cNvPicPr>
            <a:picLocks noChangeAspect="1"/>
          </p:cNvPicPr>
          <p:nvPr/>
        </p:nvPicPr>
        <p:blipFill>
          <a:blip r:embed="rId8"/>
          <a:stretch>
            <a:fillRect/>
          </a:stretch>
        </p:blipFill>
        <p:spPr>
          <a:xfrm>
            <a:off x="8639708" y="2101748"/>
            <a:ext cx="231343" cy="231343"/>
          </a:xfrm>
          <a:prstGeom prst="rect">
            <a:avLst/>
          </a:prstGeom>
        </p:spPr>
      </p:pic>
      <p:sp>
        <p:nvSpPr>
          <p:cNvPr id="30" name="Text 25"/>
          <p:cNvSpPr txBox="1"/>
          <p:nvPr/>
        </p:nvSpPr>
        <p:spPr>
          <a:xfrm>
            <a:off x="9189720" y="1691640"/>
            <a:ext cx="2286000" cy="1051560"/>
          </a:xfrm>
          <a:prstGeom prst="rect">
            <a:avLst/>
          </a:prstGeom>
          <a:noFill/>
          <a:ln/>
        </p:spPr>
        <p:txBody>
          <a:bodyPr wrap="square" lIns="0" tIns="0" rIns="0" bIns="0" rtlCol="0" anchor="ctr"/>
          <a:lstStyle/>
          <a:p>
            <a:pPr marL="0" indent="0">
              <a:spcAft>
                <a:spcPts val="400"/>
              </a:spcAft>
              <a:buNone/>
            </a:pPr>
            <a:r>
              <a:rPr lang="en-US" sz="1600" b="1" dirty="0">
                <a:solidFill>
                  <a:srgbClr val="0B1F3A"/>
                </a:solidFill>
                <a:latin typeface="Calibri" pitchFamily="34" charset="0"/>
                <a:ea typeface="Calibri" pitchFamily="34" charset="-122"/>
                <a:cs typeface="Calibri" pitchFamily="34" charset="-120"/>
              </a:rPr>
              <a:t>GitHub Actions</a:t>
            </a:r>
            <a:endParaRPr lang="en-US" sz="1600" dirty="0"/>
          </a:p>
          <a:p>
            <a:pPr marL="0" indent="0">
              <a:buNone/>
            </a:pPr>
            <a:r>
              <a:rPr lang="en-US" sz="1200" dirty="0">
                <a:solidFill>
                  <a:srgbClr val="5B6678"/>
                </a:solidFill>
                <a:latin typeface="Calibri" pitchFamily="34" charset="0"/>
                <a:ea typeface="Calibri" pitchFamily="34" charset="-122"/>
                <a:cs typeface="Calibri" pitchFamily="34" charset="-120"/>
              </a:rPr>
              <a:t>CI: ruff · black · pytest.  CD: deploy notebooks</a:t>
            </a:r>
            <a:endParaRPr lang="en-US" sz="1600" dirty="0"/>
          </a:p>
        </p:txBody>
      </p:sp>
      <p:sp>
        <p:nvSpPr>
          <p:cNvPr id="31" name="Shape 26"/>
          <p:cNvSpPr/>
          <p:nvPr/>
        </p:nvSpPr>
        <p:spPr>
          <a:xfrm>
            <a:off x="3886200" y="2217420"/>
            <a:ext cx="502920" cy="0"/>
          </a:xfrm>
          <a:prstGeom prst="line">
            <a:avLst/>
          </a:prstGeom>
          <a:noFill/>
          <a:ln w="19050">
            <a:solidFill>
              <a:srgbClr val="8A94A6"/>
            </a:solidFill>
            <a:prstDash val="solid"/>
            <a:tailEnd type="triangle"/>
          </a:ln>
        </p:spPr>
      </p:sp>
      <p:sp>
        <p:nvSpPr>
          <p:cNvPr id="32" name="Shape 27"/>
          <p:cNvSpPr/>
          <p:nvPr/>
        </p:nvSpPr>
        <p:spPr>
          <a:xfrm>
            <a:off x="7772400" y="2217420"/>
            <a:ext cx="502920" cy="0"/>
          </a:xfrm>
          <a:prstGeom prst="line">
            <a:avLst/>
          </a:prstGeom>
          <a:noFill/>
          <a:ln w="19050">
            <a:solidFill>
              <a:srgbClr val="8A94A6"/>
            </a:solidFill>
            <a:prstDash val="solid"/>
            <a:tailEnd type="triangle"/>
          </a:ln>
        </p:spPr>
      </p:sp>
      <p:sp>
        <p:nvSpPr>
          <p:cNvPr id="33" name="Shape 28"/>
          <p:cNvSpPr/>
          <p:nvPr/>
        </p:nvSpPr>
        <p:spPr>
          <a:xfrm>
            <a:off x="9966960" y="2743200"/>
            <a:ext cx="0" cy="658368"/>
          </a:xfrm>
          <a:prstGeom prst="line">
            <a:avLst/>
          </a:prstGeom>
          <a:noFill/>
          <a:ln w="19050">
            <a:solidFill>
              <a:srgbClr val="8A94A6"/>
            </a:solidFill>
            <a:prstDash val="solid"/>
            <a:tailEnd type="triangle"/>
          </a:ln>
        </p:spPr>
      </p:sp>
      <p:sp>
        <p:nvSpPr>
          <p:cNvPr id="34" name="Text 29"/>
          <p:cNvSpPr txBox="1"/>
          <p:nvPr/>
        </p:nvSpPr>
        <p:spPr>
          <a:xfrm>
            <a:off x="5852160" y="2788920"/>
            <a:ext cx="3977640" cy="502920"/>
          </a:xfrm>
          <a:prstGeom prst="rect">
            <a:avLst/>
          </a:prstGeom>
          <a:noFill/>
          <a:ln/>
        </p:spPr>
        <p:txBody>
          <a:bodyPr wrap="square" lIns="0" tIns="0" rIns="0" bIns="0" rtlCol="0" anchor="t"/>
          <a:lstStyle/>
          <a:p>
            <a:pPr marL="0" indent="0" algn="r">
              <a:buNone/>
            </a:pPr>
            <a:r>
              <a:rPr lang="en-US" sz="1150" b="1" dirty="0">
                <a:solidFill>
                  <a:srgbClr val="5B6678"/>
                </a:solidFill>
                <a:latin typeface="Calibri" pitchFamily="34" charset="0"/>
                <a:ea typeface="Calibri" pitchFamily="34" charset="-122"/>
                <a:cs typeface="Calibri" pitchFamily="34" charset="-120"/>
              </a:rPr>
              <a:t>Fabric REST API</a:t>
            </a:r>
            <a:endParaRPr lang="en-US" sz="1150" dirty="0"/>
          </a:p>
          <a:p>
            <a:pPr marL="0" indent="0" algn="r">
              <a:buNone/>
            </a:pPr>
            <a:r>
              <a:rPr lang="en-US" sz="1150" dirty="0">
                <a:solidFill>
                  <a:srgbClr val="5B6678"/>
                </a:solidFill>
                <a:latin typeface="Calibri" pitchFamily="34" charset="0"/>
                <a:ea typeface="Calibri" pitchFamily="34" charset="-122"/>
                <a:cs typeface="Calibri" pitchFamily="34" charset="-120"/>
              </a:rPr>
              <a:t>deploys notebook code; notebook pulls src/ modules from GitHub</a:t>
            </a:r>
            <a:endParaRPr lang="en-US" sz="1150" dirty="0"/>
          </a:p>
        </p:txBody>
      </p:sp>
      <p:sp>
        <p:nvSpPr>
          <p:cNvPr id="35" name="Shape 30"/>
          <p:cNvSpPr/>
          <p:nvPr/>
        </p:nvSpPr>
        <p:spPr>
          <a:xfrm>
            <a:off x="548640" y="3429000"/>
            <a:ext cx="11091672" cy="2651760"/>
          </a:xfrm>
          <a:prstGeom prst="roundRect">
            <a:avLst>
              <a:gd name="adj" fmla="val 5172"/>
            </a:avLst>
          </a:prstGeom>
          <a:solidFill>
            <a:srgbClr val="FFFFFF"/>
          </a:solidFill>
          <a:ln w="19050">
            <a:solidFill>
              <a:srgbClr val="0B1F3A"/>
            </a:solidFill>
            <a:prstDash val="solid"/>
          </a:ln>
        </p:spPr>
      </p:sp>
      <p:sp>
        <p:nvSpPr>
          <p:cNvPr id="36" name="Text 31"/>
          <p:cNvSpPr txBox="1"/>
          <p:nvPr/>
        </p:nvSpPr>
        <p:spPr>
          <a:xfrm>
            <a:off x="822960" y="3547872"/>
            <a:ext cx="10515600" cy="256032"/>
          </a:xfrm>
          <a:prstGeom prst="rect">
            <a:avLst/>
          </a:prstGeom>
          <a:noFill/>
          <a:ln/>
        </p:spPr>
        <p:txBody>
          <a:bodyPr wrap="square" lIns="0" tIns="0" rIns="0" bIns="0" rtlCol="0" anchor="t"/>
          <a:lstStyle/>
          <a:p>
            <a:pPr marL="0" indent="0">
              <a:buNone/>
            </a:pPr>
            <a:r>
              <a:rPr lang="en-US" sz="1100" b="1" kern="0" spc="150" dirty="0">
                <a:solidFill>
                  <a:srgbClr val="0B1F3A"/>
                </a:solidFill>
                <a:latin typeface="Calibri" pitchFamily="34" charset="0"/>
                <a:ea typeface="Calibri" pitchFamily="34" charset="-122"/>
                <a:cs typeface="Calibri" pitchFamily="34" charset="-120"/>
              </a:rPr>
              <a:t>MICROSOFT FABRIC  ·  ONELAKE (DELTA TABLES)  ·  ORCHESTRATED BY Olist_ETL_Pipeline</a:t>
            </a:r>
            <a:endParaRPr lang="en-US" sz="1100" dirty="0"/>
          </a:p>
        </p:txBody>
      </p:sp>
      <p:sp>
        <p:nvSpPr>
          <p:cNvPr id="37" name="Shape 32"/>
          <p:cNvSpPr/>
          <p:nvPr/>
        </p:nvSpPr>
        <p:spPr>
          <a:xfrm>
            <a:off x="896112" y="4023360"/>
            <a:ext cx="1783080" cy="1554480"/>
          </a:xfrm>
          <a:prstGeom prst="roundRect">
            <a:avLst>
              <a:gd name="adj" fmla="val 5882"/>
            </a:avLst>
          </a:prstGeom>
          <a:solidFill>
            <a:srgbClr val="F1F4F9"/>
          </a:solidFill>
          <a:ln w="15875">
            <a:solidFill>
              <a:srgbClr val="D5DBE6"/>
            </a:solidFill>
            <a:prstDash val="solid"/>
          </a:ln>
        </p:spPr>
      </p:sp>
      <p:sp>
        <p:nvSpPr>
          <p:cNvPr id="38" name="Shape 33"/>
          <p:cNvSpPr/>
          <p:nvPr/>
        </p:nvSpPr>
        <p:spPr>
          <a:xfrm>
            <a:off x="1033272" y="4133088"/>
            <a:ext cx="411480" cy="411480"/>
          </a:xfrm>
          <a:prstGeom prst="ellipse">
            <a:avLst/>
          </a:prstGeom>
          <a:solidFill>
            <a:srgbClr val="0B1F3A"/>
          </a:solidFill>
          <a:ln w="6350">
            <a:solidFill>
              <a:srgbClr val="0B1F3A"/>
            </a:solidFill>
            <a:prstDash val="solid"/>
          </a:ln>
        </p:spPr>
      </p:sp>
      <p:pic>
        <p:nvPicPr>
          <p:cNvPr id="39" name="Image 3" descr="preencoded.png"/>
          <p:cNvPicPr>
            <a:picLocks noChangeAspect="1"/>
          </p:cNvPicPr>
          <p:nvPr/>
        </p:nvPicPr>
        <p:blipFill>
          <a:blip r:embed="rId9"/>
          <a:stretch>
            <a:fillRect/>
          </a:stretch>
        </p:blipFill>
        <p:spPr>
          <a:xfrm>
            <a:off x="1144372" y="4244188"/>
            <a:ext cx="189281" cy="189281"/>
          </a:xfrm>
          <a:prstGeom prst="rect">
            <a:avLst/>
          </a:prstGeom>
        </p:spPr>
      </p:pic>
      <p:sp>
        <p:nvSpPr>
          <p:cNvPr id="40" name="Text 34"/>
          <p:cNvSpPr txBox="1"/>
          <p:nvPr/>
        </p:nvSpPr>
        <p:spPr>
          <a:xfrm>
            <a:off x="1033272" y="4626864"/>
            <a:ext cx="1554480" cy="896112"/>
          </a:xfrm>
          <a:prstGeom prst="rect">
            <a:avLst/>
          </a:prstGeom>
          <a:noFill/>
          <a:ln/>
        </p:spPr>
        <p:txBody>
          <a:bodyPr wrap="square" lIns="0" tIns="0" rIns="0" bIns="0" rtlCol="0" anchor="t"/>
          <a:lstStyle/>
          <a:p>
            <a:pPr marL="0" indent="0">
              <a:spcAft>
                <a:spcPts val="400"/>
              </a:spcAft>
              <a:buNone/>
            </a:pPr>
            <a:r>
              <a:rPr lang="en-US" sz="1600" b="1" dirty="0">
                <a:solidFill>
                  <a:srgbClr val="0B1F3A"/>
                </a:solidFill>
                <a:latin typeface="Calibri" pitchFamily="34" charset="0"/>
                <a:ea typeface="Calibri" pitchFamily="34" charset="-122"/>
                <a:cs typeface="Calibri" pitchFamily="34" charset="-120"/>
              </a:rPr>
              <a:t>Kaggle CSVs</a:t>
            </a:r>
            <a:endParaRPr lang="en-US" sz="1600" dirty="0"/>
          </a:p>
          <a:p>
            <a:pPr marL="0" indent="0">
              <a:buNone/>
            </a:pPr>
            <a:r>
              <a:rPr lang="en-US" sz="1200" dirty="0">
                <a:solidFill>
                  <a:srgbClr val="5B6678"/>
                </a:solidFill>
                <a:latin typeface="Calibri" pitchFamily="34" charset="0"/>
                <a:ea typeface="Calibri" pitchFamily="34" charset="-122"/>
                <a:cs typeface="Calibri" pitchFamily="34" charset="-120"/>
              </a:rPr>
              <a:t>9 raw files, about 150 MB, 2016–2018</a:t>
            </a:r>
            <a:endParaRPr lang="en-US" sz="1600" dirty="0"/>
          </a:p>
        </p:txBody>
      </p:sp>
      <p:sp>
        <p:nvSpPr>
          <p:cNvPr id="41" name="Shape 35"/>
          <p:cNvSpPr/>
          <p:nvPr/>
        </p:nvSpPr>
        <p:spPr>
          <a:xfrm>
            <a:off x="2706624" y="4800600"/>
            <a:ext cx="310896" cy="0"/>
          </a:xfrm>
          <a:prstGeom prst="line">
            <a:avLst/>
          </a:prstGeom>
          <a:noFill/>
          <a:ln w="19050">
            <a:solidFill>
              <a:srgbClr val="8A94A6"/>
            </a:solidFill>
            <a:prstDash val="solid"/>
            <a:tailEnd type="triangle"/>
          </a:ln>
        </p:spPr>
      </p:sp>
      <p:sp>
        <p:nvSpPr>
          <p:cNvPr id="42" name="Shape 36"/>
          <p:cNvSpPr/>
          <p:nvPr/>
        </p:nvSpPr>
        <p:spPr>
          <a:xfrm>
            <a:off x="3044952" y="4023360"/>
            <a:ext cx="1783080" cy="1554480"/>
          </a:xfrm>
          <a:prstGeom prst="roundRect">
            <a:avLst>
              <a:gd name="adj" fmla="val 5882"/>
            </a:avLst>
          </a:prstGeom>
          <a:solidFill>
            <a:srgbClr val="F3E3D3"/>
          </a:solidFill>
          <a:ln w="15875">
            <a:solidFill>
              <a:srgbClr val="B87333"/>
            </a:solidFill>
            <a:prstDash val="solid"/>
          </a:ln>
        </p:spPr>
      </p:sp>
      <p:sp>
        <p:nvSpPr>
          <p:cNvPr id="43" name="Shape 37"/>
          <p:cNvSpPr/>
          <p:nvPr/>
        </p:nvSpPr>
        <p:spPr>
          <a:xfrm>
            <a:off x="3182112" y="4133088"/>
            <a:ext cx="411480" cy="411480"/>
          </a:xfrm>
          <a:prstGeom prst="ellipse">
            <a:avLst/>
          </a:prstGeom>
          <a:solidFill>
            <a:srgbClr val="B87333"/>
          </a:solidFill>
          <a:ln w="6350">
            <a:solidFill>
              <a:srgbClr val="B87333"/>
            </a:solidFill>
            <a:prstDash val="solid"/>
          </a:ln>
        </p:spPr>
      </p:sp>
      <p:pic>
        <p:nvPicPr>
          <p:cNvPr id="44" name="Image 4" descr="preencoded.png"/>
          <p:cNvPicPr>
            <a:picLocks noChangeAspect="1"/>
          </p:cNvPicPr>
          <p:nvPr/>
        </p:nvPicPr>
        <p:blipFill>
          <a:blip r:embed="rId10"/>
          <a:stretch>
            <a:fillRect/>
          </a:stretch>
        </p:blipFill>
        <p:spPr>
          <a:xfrm>
            <a:off x="3293212" y="4244188"/>
            <a:ext cx="189281" cy="189281"/>
          </a:xfrm>
          <a:prstGeom prst="rect">
            <a:avLst/>
          </a:prstGeom>
        </p:spPr>
      </p:pic>
      <p:sp>
        <p:nvSpPr>
          <p:cNvPr id="45" name="Text 38"/>
          <p:cNvSpPr txBox="1"/>
          <p:nvPr/>
        </p:nvSpPr>
        <p:spPr>
          <a:xfrm>
            <a:off x="3182112" y="4626864"/>
            <a:ext cx="1554480" cy="896112"/>
          </a:xfrm>
          <a:prstGeom prst="rect">
            <a:avLst/>
          </a:prstGeom>
          <a:noFill/>
          <a:ln/>
        </p:spPr>
        <p:txBody>
          <a:bodyPr wrap="square" lIns="0" tIns="0" rIns="0" bIns="0" rtlCol="0" anchor="t"/>
          <a:lstStyle/>
          <a:p>
            <a:pPr marL="0" indent="0">
              <a:spcAft>
                <a:spcPts val="400"/>
              </a:spcAft>
              <a:buNone/>
            </a:pPr>
            <a:r>
              <a:rPr lang="en-US" sz="1600" b="1" dirty="0">
                <a:solidFill>
                  <a:srgbClr val="8A4B16"/>
                </a:solidFill>
                <a:latin typeface="Calibri" pitchFamily="34" charset="0"/>
                <a:ea typeface="Calibri" pitchFamily="34" charset="-122"/>
                <a:cs typeface="Calibri" pitchFamily="34" charset="-120"/>
              </a:rPr>
              <a:t>Bronze</a:t>
            </a:r>
            <a:endParaRPr lang="en-US" sz="1600" dirty="0"/>
          </a:p>
          <a:p>
            <a:pPr marL="0" indent="0">
              <a:buNone/>
            </a:pPr>
            <a:r>
              <a:rPr lang="en-US" sz="1200" dirty="0">
                <a:solidFill>
                  <a:srgbClr val="1A2233"/>
                </a:solidFill>
                <a:latin typeface="Calibri" pitchFamily="34" charset="0"/>
                <a:ea typeface="Calibri" pitchFamily="34" charset="-122"/>
                <a:cs typeface="Calibri" pitchFamily="34" charset="-120"/>
              </a:rPr>
              <a:t>Raw landing: CSV ingested as-is for audit</a:t>
            </a:r>
            <a:endParaRPr lang="en-US" sz="1600" dirty="0"/>
          </a:p>
        </p:txBody>
      </p:sp>
      <p:sp>
        <p:nvSpPr>
          <p:cNvPr id="46" name="Shape 39"/>
          <p:cNvSpPr/>
          <p:nvPr/>
        </p:nvSpPr>
        <p:spPr>
          <a:xfrm>
            <a:off x="4855464" y="4800600"/>
            <a:ext cx="310896" cy="0"/>
          </a:xfrm>
          <a:prstGeom prst="line">
            <a:avLst/>
          </a:prstGeom>
          <a:noFill/>
          <a:ln w="19050">
            <a:solidFill>
              <a:srgbClr val="8A94A6"/>
            </a:solidFill>
            <a:prstDash val="solid"/>
            <a:tailEnd type="triangle"/>
          </a:ln>
        </p:spPr>
      </p:sp>
      <p:sp>
        <p:nvSpPr>
          <p:cNvPr id="47" name="Shape 40"/>
          <p:cNvSpPr/>
          <p:nvPr/>
        </p:nvSpPr>
        <p:spPr>
          <a:xfrm>
            <a:off x="5193792" y="4023360"/>
            <a:ext cx="1783080" cy="1554480"/>
          </a:xfrm>
          <a:prstGeom prst="roundRect">
            <a:avLst>
              <a:gd name="adj" fmla="val 5882"/>
            </a:avLst>
          </a:prstGeom>
          <a:solidFill>
            <a:srgbClr val="E6EAF0"/>
          </a:solidFill>
          <a:ln w="15875">
            <a:solidFill>
              <a:srgbClr val="8A94A6"/>
            </a:solidFill>
            <a:prstDash val="solid"/>
          </a:ln>
        </p:spPr>
      </p:sp>
      <p:sp>
        <p:nvSpPr>
          <p:cNvPr id="48" name="Shape 41"/>
          <p:cNvSpPr/>
          <p:nvPr/>
        </p:nvSpPr>
        <p:spPr>
          <a:xfrm>
            <a:off x="5330952" y="4133088"/>
            <a:ext cx="411480" cy="411480"/>
          </a:xfrm>
          <a:prstGeom prst="ellipse">
            <a:avLst/>
          </a:prstGeom>
          <a:solidFill>
            <a:srgbClr val="6B7689"/>
          </a:solidFill>
          <a:ln w="6350">
            <a:solidFill>
              <a:srgbClr val="6B7689"/>
            </a:solidFill>
            <a:prstDash val="solid"/>
          </a:ln>
        </p:spPr>
      </p:sp>
      <p:pic>
        <p:nvPicPr>
          <p:cNvPr id="49" name="Image 5" descr="preencoded.png"/>
          <p:cNvPicPr>
            <a:picLocks noChangeAspect="1"/>
          </p:cNvPicPr>
          <p:nvPr/>
        </p:nvPicPr>
        <p:blipFill>
          <a:blip r:embed="rId11"/>
          <a:stretch>
            <a:fillRect/>
          </a:stretch>
        </p:blipFill>
        <p:spPr>
          <a:xfrm>
            <a:off x="5442052" y="4244188"/>
            <a:ext cx="189281" cy="189281"/>
          </a:xfrm>
          <a:prstGeom prst="rect">
            <a:avLst/>
          </a:prstGeom>
        </p:spPr>
      </p:pic>
      <p:sp>
        <p:nvSpPr>
          <p:cNvPr id="50" name="Text 42"/>
          <p:cNvSpPr txBox="1"/>
          <p:nvPr/>
        </p:nvSpPr>
        <p:spPr>
          <a:xfrm>
            <a:off x="5330952" y="4626864"/>
            <a:ext cx="1554480" cy="896112"/>
          </a:xfrm>
          <a:prstGeom prst="rect">
            <a:avLst/>
          </a:prstGeom>
          <a:noFill/>
          <a:ln/>
        </p:spPr>
        <p:txBody>
          <a:bodyPr wrap="square" lIns="0" tIns="0" rIns="0" bIns="0" rtlCol="0" anchor="t"/>
          <a:lstStyle/>
          <a:p>
            <a:pPr marL="0" indent="0">
              <a:spcAft>
                <a:spcPts val="400"/>
              </a:spcAft>
              <a:buNone/>
            </a:pPr>
            <a:r>
              <a:rPr lang="en-US" sz="1600" b="1" dirty="0">
                <a:solidFill>
                  <a:srgbClr val="3F4A5E"/>
                </a:solidFill>
                <a:latin typeface="Calibri" pitchFamily="34" charset="0"/>
                <a:ea typeface="Calibri" pitchFamily="34" charset="-122"/>
                <a:cs typeface="Calibri" pitchFamily="34" charset="-120"/>
              </a:rPr>
              <a:t>Silver</a:t>
            </a:r>
            <a:endParaRPr lang="en-US" sz="1600" dirty="0"/>
          </a:p>
          <a:p>
            <a:pPr marL="0" indent="0">
              <a:buNone/>
            </a:pPr>
            <a:r>
              <a:rPr lang="en-US" sz="1200" dirty="0">
                <a:solidFill>
                  <a:srgbClr val="1A2233"/>
                </a:solidFill>
                <a:latin typeface="Calibri" pitchFamily="34" charset="0"/>
                <a:ea typeface="Calibri" pitchFamily="34" charset="-122"/>
                <a:cs typeface="Calibri" pitchFamily="34" charset="-120"/>
              </a:rPr>
              <a:t>Types, nulls, dedupe; bad rows quarantined</a:t>
            </a:r>
            <a:endParaRPr lang="en-US" sz="1600" dirty="0"/>
          </a:p>
        </p:txBody>
      </p:sp>
      <p:sp>
        <p:nvSpPr>
          <p:cNvPr id="51" name="Shape 43"/>
          <p:cNvSpPr/>
          <p:nvPr/>
        </p:nvSpPr>
        <p:spPr>
          <a:xfrm>
            <a:off x="7004304" y="4800600"/>
            <a:ext cx="310896" cy="0"/>
          </a:xfrm>
          <a:prstGeom prst="line">
            <a:avLst/>
          </a:prstGeom>
          <a:noFill/>
          <a:ln w="19050">
            <a:solidFill>
              <a:srgbClr val="8A94A6"/>
            </a:solidFill>
            <a:prstDash val="solid"/>
            <a:tailEnd type="triangle"/>
          </a:ln>
        </p:spPr>
      </p:sp>
      <p:sp>
        <p:nvSpPr>
          <p:cNvPr id="52" name="Shape 44"/>
          <p:cNvSpPr/>
          <p:nvPr/>
        </p:nvSpPr>
        <p:spPr>
          <a:xfrm>
            <a:off x="7342632" y="4023360"/>
            <a:ext cx="1783080" cy="1554480"/>
          </a:xfrm>
          <a:prstGeom prst="roundRect">
            <a:avLst>
              <a:gd name="adj" fmla="val 5882"/>
            </a:avLst>
          </a:prstGeom>
          <a:solidFill>
            <a:srgbClr val="F8EBC8"/>
          </a:solidFill>
          <a:ln w="15875">
            <a:solidFill>
              <a:srgbClr val="D9A93F"/>
            </a:solidFill>
            <a:prstDash val="solid"/>
          </a:ln>
        </p:spPr>
      </p:sp>
      <p:sp>
        <p:nvSpPr>
          <p:cNvPr id="53" name="Shape 45"/>
          <p:cNvSpPr/>
          <p:nvPr/>
        </p:nvSpPr>
        <p:spPr>
          <a:xfrm>
            <a:off x="7479792" y="4133088"/>
            <a:ext cx="411480" cy="411480"/>
          </a:xfrm>
          <a:prstGeom prst="ellipse">
            <a:avLst/>
          </a:prstGeom>
          <a:solidFill>
            <a:srgbClr val="C4922A"/>
          </a:solidFill>
          <a:ln w="6350">
            <a:solidFill>
              <a:srgbClr val="C4922A"/>
            </a:solidFill>
            <a:prstDash val="solid"/>
          </a:ln>
        </p:spPr>
      </p:sp>
      <p:pic>
        <p:nvPicPr>
          <p:cNvPr id="54" name="Image 6" descr="preencoded.png"/>
          <p:cNvPicPr>
            <a:picLocks noChangeAspect="1"/>
          </p:cNvPicPr>
          <p:nvPr/>
        </p:nvPicPr>
        <p:blipFill>
          <a:blip r:embed="rId12"/>
          <a:stretch>
            <a:fillRect/>
          </a:stretch>
        </p:blipFill>
        <p:spPr>
          <a:xfrm>
            <a:off x="7590892" y="4244188"/>
            <a:ext cx="189281" cy="189281"/>
          </a:xfrm>
          <a:prstGeom prst="rect">
            <a:avLst/>
          </a:prstGeom>
        </p:spPr>
      </p:pic>
      <p:sp>
        <p:nvSpPr>
          <p:cNvPr id="55" name="Text 46"/>
          <p:cNvSpPr txBox="1"/>
          <p:nvPr/>
        </p:nvSpPr>
        <p:spPr>
          <a:xfrm>
            <a:off x="7479792" y="4626864"/>
            <a:ext cx="1554480" cy="896112"/>
          </a:xfrm>
          <a:prstGeom prst="rect">
            <a:avLst/>
          </a:prstGeom>
          <a:noFill/>
          <a:ln/>
        </p:spPr>
        <p:txBody>
          <a:bodyPr wrap="square" lIns="0" tIns="0" rIns="0" bIns="0" rtlCol="0" anchor="t"/>
          <a:lstStyle/>
          <a:p>
            <a:pPr marL="0" indent="0">
              <a:spcAft>
                <a:spcPts val="400"/>
              </a:spcAft>
              <a:buNone/>
            </a:pPr>
            <a:r>
              <a:rPr lang="en-US" sz="1600" b="1" dirty="0">
                <a:solidFill>
                  <a:srgbClr val="7A5C0E"/>
                </a:solidFill>
                <a:latin typeface="Calibri" pitchFamily="34" charset="0"/>
                <a:ea typeface="Calibri" pitchFamily="34" charset="-122"/>
                <a:cs typeface="Calibri" pitchFamily="34" charset="-120"/>
              </a:rPr>
              <a:t>Gold</a:t>
            </a:r>
            <a:endParaRPr lang="en-US" sz="1600" dirty="0"/>
          </a:p>
          <a:p>
            <a:pPr marL="0" indent="0">
              <a:buNone/>
            </a:pPr>
            <a:r>
              <a:rPr lang="en-US" sz="1200" dirty="0">
                <a:solidFill>
                  <a:srgbClr val="1A2233"/>
                </a:solidFill>
                <a:latin typeface="Calibri" pitchFamily="34" charset="0"/>
                <a:ea typeface="Calibri" pitchFamily="34" charset="-122"/>
                <a:cs typeface="Calibri" pitchFamily="34" charset="-120"/>
              </a:rPr>
              <a:t>Star schema: 4 facts + 6 dimensions</a:t>
            </a:r>
            <a:endParaRPr lang="en-US" sz="1600" dirty="0"/>
          </a:p>
        </p:txBody>
      </p:sp>
      <p:sp>
        <p:nvSpPr>
          <p:cNvPr id="56" name="Shape 47"/>
          <p:cNvSpPr/>
          <p:nvPr/>
        </p:nvSpPr>
        <p:spPr>
          <a:xfrm>
            <a:off x="9153144" y="4800600"/>
            <a:ext cx="310896" cy="0"/>
          </a:xfrm>
          <a:prstGeom prst="line">
            <a:avLst/>
          </a:prstGeom>
          <a:noFill/>
          <a:ln w="19050">
            <a:solidFill>
              <a:srgbClr val="8A94A6"/>
            </a:solidFill>
            <a:prstDash val="solid"/>
            <a:tailEnd type="triangle"/>
          </a:ln>
        </p:spPr>
      </p:sp>
      <p:sp>
        <p:nvSpPr>
          <p:cNvPr id="57" name="Shape 48"/>
          <p:cNvSpPr/>
          <p:nvPr/>
        </p:nvSpPr>
        <p:spPr>
          <a:xfrm>
            <a:off x="9491472" y="4023360"/>
            <a:ext cx="1783080" cy="1554480"/>
          </a:xfrm>
          <a:prstGeom prst="roundRect">
            <a:avLst>
              <a:gd name="adj" fmla="val 5882"/>
            </a:avLst>
          </a:prstGeom>
          <a:solidFill>
            <a:srgbClr val="F26B21"/>
          </a:solidFill>
          <a:ln w="15875">
            <a:solidFill>
              <a:srgbClr val="F26B21"/>
            </a:solidFill>
            <a:prstDash val="solid"/>
          </a:ln>
        </p:spPr>
      </p:sp>
      <p:sp>
        <p:nvSpPr>
          <p:cNvPr id="58" name="Shape 49"/>
          <p:cNvSpPr/>
          <p:nvPr/>
        </p:nvSpPr>
        <p:spPr>
          <a:xfrm>
            <a:off x="9628632" y="4133088"/>
            <a:ext cx="411480" cy="411480"/>
          </a:xfrm>
          <a:prstGeom prst="ellipse">
            <a:avLst/>
          </a:prstGeom>
          <a:solidFill>
            <a:srgbClr val="FFFFFF"/>
          </a:solidFill>
          <a:ln w="6350">
            <a:solidFill>
              <a:srgbClr val="FFFFFF"/>
            </a:solidFill>
            <a:prstDash val="solid"/>
          </a:ln>
        </p:spPr>
      </p:sp>
      <p:pic>
        <p:nvPicPr>
          <p:cNvPr id="59" name="Image 7" descr="preencoded.png"/>
          <p:cNvPicPr>
            <a:picLocks noChangeAspect="1"/>
          </p:cNvPicPr>
          <p:nvPr/>
        </p:nvPicPr>
        <p:blipFill>
          <a:blip r:embed="rId13"/>
          <a:stretch>
            <a:fillRect/>
          </a:stretch>
        </p:blipFill>
        <p:spPr>
          <a:xfrm>
            <a:off x="9739732" y="4244188"/>
            <a:ext cx="189281" cy="189281"/>
          </a:xfrm>
          <a:prstGeom prst="rect">
            <a:avLst/>
          </a:prstGeom>
        </p:spPr>
      </p:pic>
      <p:sp>
        <p:nvSpPr>
          <p:cNvPr id="60" name="Text 50"/>
          <p:cNvSpPr txBox="1"/>
          <p:nvPr/>
        </p:nvSpPr>
        <p:spPr>
          <a:xfrm>
            <a:off x="9628632" y="4626864"/>
            <a:ext cx="1554480" cy="896112"/>
          </a:xfrm>
          <a:prstGeom prst="rect">
            <a:avLst/>
          </a:prstGeom>
          <a:noFill/>
          <a:ln/>
        </p:spPr>
        <p:txBody>
          <a:bodyPr wrap="square" lIns="0" tIns="0" rIns="0" bIns="0" rtlCol="0" anchor="t"/>
          <a:lstStyle/>
          <a:p>
            <a:pPr marL="0" indent="0">
              <a:spcAft>
                <a:spcPts val="400"/>
              </a:spcAft>
              <a:buNone/>
            </a:pPr>
            <a:r>
              <a:rPr lang="en-US" sz="1600" b="1" dirty="0">
                <a:solidFill>
                  <a:srgbClr val="FFFFFF"/>
                </a:solidFill>
                <a:latin typeface="Calibri" pitchFamily="34" charset="0"/>
                <a:ea typeface="Calibri" pitchFamily="34" charset="-122"/>
                <a:cs typeface="Calibri" pitchFamily="34" charset="-120"/>
              </a:rPr>
              <a:t>Power BI</a:t>
            </a:r>
            <a:endParaRPr lang="en-US" sz="1600" dirty="0"/>
          </a:p>
          <a:p>
            <a:pPr marL="0" indent="0">
              <a:buNone/>
            </a:pPr>
            <a:r>
              <a:rPr lang="en-US" sz="1200" dirty="0">
                <a:solidFill>
                  <a:srgbClr val="FFFFFF"/>
                </a:solidFill>
                <a:latin typeface="Calibri" pitchFamily="34" charset="0"/>
                <a:ea typeface="Calibri" pitchFamily="34" charset="-122"/>
                <a:cs typeface="Calibri" pitchFamily="34" charset="-120"/>
              </a:rPr>
              <a:t>Semantic model and interactive dashboard</a:t>
            </a:r>
            <a:endParaRPr lang="en-US" sz="1600" dirty="0"/>
          </a:p>
        </p:txBody>
      </p:sp>
      <p:sp>
        <p:nvSpPr>
          <p:cNvPr id="61" name="Text 51"/>
          <p:cNvSpPr txBox="1"/>
          <p:nvPr/>
        </p:nvSpPr>
        <p:spPr>
          <a:xfrm>
            <a:off x="896112" y="5669280"/>
            <a:ext cx="10378440" cy="274320"/>
          </a:xfrm>
          <a:prstGeom prst="rect">
            <a:avLst/>
          </a:prstGeom>
          <a:noFill/>
          <a:ln/>
        </p:spPr>
        <p:txBody>
          <a:bodyPr wrap="square" lIns="0" tIns="0" rIns="0" bIns="0" rtlCol="0" anchor="t"/>
          <a:lstStyle/>
          <a:p>
            <a:pPr marL="0" indent="0" algn="ctr">
              <a:buNone/>
            </a:pPr>
            <a:r>
              <a:rPr lang="en-US" sz="1200" dirty="0">
                <a:solidFill>
                  <a:srgbClr val="5B6678"/>
                </a:solidFill>
                <a:latin typeface="Calibri" pitchFamily="34" charset="0"/>
                <a:ea typeface="Calibri" pitchFamily="34" charset="-122"/>
                <a:cs typeface="Calibri" pitchFamily="34" charset="-120"/>
              </a:rPr>
              <a:t>Notebooks:  Bronze_Ingest  →  Silver_Clean  →  Gold_Star_Schema</a:t>
            </a:r>
            <a:endParaRPr lang="en-US" sz="1200" dirty="0"/>
          </a:p>
        </p:txBody>
      </p:sp>
      <p:sp>
        <p:nvSpPr>
          <p:cNvPr id="62" name="Text 52"/>
          <p:cNvSpPr txBox="1"/>
          <p:nvPr/>
        </p:nvSpPr>
        <p:spPr>
          <a:xfrm>
            <a:off x="548640" y="6172200"/>
            <a:ext cx="7315200" cy="228600"/>
          </a:xfrm>
          <a:prstGeom prst="rect">
            <a:avLst/>
          </a:prstGeom>
          <a:noFill/>
          <a:ln/>
        </p:spPr>
        <p:txBody>
          <a:bodyPr wrap="square" lIns="0" tIns="0" rIns="0" bIns="0" rtlCol="0" anchor="t"/>
          <a:lstStyle/>
          <a:p>
            <a:pPr marL="0" indent="0">
              <a:buNone/>
            </a:pPr>
            <a:r>
              <a:rPr lang="en-US" sz="1100" i="1" dirty="0">
                <a:solidFill>
                  <a:srgbClr val="5B6678"/>
                </a:solidFill>
                <a:latin typeface="Calibri" pitchFamily="34" charset="0"/>
                <a:ea typeface="Calibri" pitchFamily="34" charset="-122"/>
                <a:cs typeface="Calibri" pitchFamily="34" charset="-120"/>
              </a:rPr>
              <a:t>Only code lives in GitHub. The data stays in OneLake.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60" name="Picture 59">
            <a:extLst>
              <a:ext uri="{FF2B5EF4-FFF2-40B4-BE49-F238E27FC236}">
                <a16:creationId xmlns:a16="http://schemas.microsoft.com/office/drawing/2014/main" id="{C3471A1D-517B-386D-6730-7537E7AF9FA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8000"/>
                    </a14:imgEffect>
                    <a14:imgEffect>
                      <a14:colorTemperature colorTemp="3409"/>
                    </a14:imgEffect>
                    <a14:imgEffect>
                      <a14:saturation sat="50000"/>
                    </a14:imgEffect>
                    <a14:imgEffect>
                      <a14:brightnessContrast bright="-36000" contrast="-4000"/>
                    </a14:imgEffect>
                  </a14:imgLayer>
                </a14:imgProps>
              </a:ext>
            </a:extLst>
          </a:blip>
          <a:srcRect t="3716" b="7582"/>
          <a:stretch>
            <a:fillRect/>
          </a:stretch>
        </p:blipFill>
        <p:spPr>
          <a:xfrm>
            <a:off x="-15240" y="-31898"/>
            <a:ext cx="12207240" cy="6921795"/>
          </a:xfrm>
          <a:prstGeom prst="rect">
            <a:avLst/>
          </a:prstGeom>
          <a:solidFill>
            <a:schemeClr val="bg1">
              <a:alpha val="43000"/>
            </a:schemeClr>
          </a:solidFill>
          <a:ln>
            <a:solidFill>
              <a:srgbClr val="F1F4F9">
                <a:alpha val="43000"/>
              </a:srgbClr>
            </a:solidFill>
          </a:ln>
          <a:effectLst>
            <a:glow rad="127000">
              <a:schemeClr val="accent1">
                <a:alpha val="11000"/>
              </a:schemeClr>
            </a:glow>
            <a:outerShdw blurRad="50800" dist="50800" dir="5400000" algn="ctr" rotWithShape="0">
              <a:srgbClr val="000000">
                <a:alpha val="0"/>
              </a:srgbClr>
            </a:outerShdw>
          </a:effectLst>
        </p:spPr>
      </p:pic>
      <p:sp>
        <p:nvSpPr>
          <p:cNvPr id="2" name="Text 0"/>
          <p:cNvSpPr txBox="1"/>
          <p:nvPr/>
        </p:nvSpPr>
        <p:spPr>
          <a:xfrm>
            <a:off x="531706" y="195070"/>
            <a:ext cx="731520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03  ·  </a:t>
            </a:r>
            <a:r>
              <a:rPr lang="en-US" sz="2000" b="1" kern="0" spc="200" dirty="0">
                <a:solidFill>
                  <a:srgbClr val="F26B21"/>
                </a:solidFill>
                <a:latin typeface="Calibri" pitchFamily="34" charset="0"/>
                <a:ea typeface="Calibri" pitchFamily="34" charset="-122"/>
                <a:cs typeface="Calibri" pitchFamily="34" charset="-120"/>
              </a:rPr>
              <a:t>SOLUTION</a:t>
            </a:r>
            <a:r>
              <a:rPr lang="en-US" sz="1200" b="1" kern="0" spc="200" dirty="0">
                <a:solidFill>
                  <a:srgbClr val="F26B21"/>
                </a:solidFill>
                <a:latin typeface="Calibri" pitchFamily="34" charset="0"/>
                <a:ea typeface="Calibri" pitchFamily="34" charset="-122"/>
                <a:cs typeface="Calibri" pitchFamily="34" charset="-120"/>
              </a:rPr>
              <a:t>  ›  </a:t>
            </a:r>
            <a:r>
              <a:rPr lang="en-US" sz="3200" b="1" kern="0" spc="200" dirty="0">
                <a:solidFill>
                  <a:srgbClr val="F26B21"/>
                </a:solidFill>
                <a:latin typeface="Calibri" pitchFamily="34" charset="0"/>
                <a:ea typeface="Calibri" pitchFamily="34" charset="-122"/>
                <a:cs typeface="Calibri" pitchFamily="34" charset="-120"/>
              </a:rPr>
              <a:t>DATA MODEL</a:t>
            </a:r>
            <a:endParaRPr lang="en-US" sz="3200" dirty="0"/>
          </a:p>
        </p:txBody>
      </p:sp>
      <p:sp>
        <p:nvSpPr>
          <p:cNvPr id="3" name="Text 1"/>
          <p:cNvSpPr txBox="1"/>
          <p:nvPr/>
        </p:nvSpPr>
        <p:spPr>
          <a:xfrm>
            <a:off x="1737360" y="790956"/>
            <a:ext cx="9692640" cy="685800"/>
          </a:xfrm>
          <a:prstGeom prst="rect">
            <a:avLst/>
          </a:prstGeom>
          <a:noFill/>
          <a:ln/>
        </p:spPr>
        <p:txBody>
          <a:bodyPr wrap="square" lIns="0" tIns="0" rIns="0" bIns="0" rtlCol="0" anchor="t"/>
          <a:lstStyle/>
          <a:p>
            <a:pPr marL="0" indent="0">
              <a:buNone/>
            </a:pPr>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ambria" pitchFamily="34" charset="0"/>
                <a:ea typeface="Cambria" pitchFamily="34" charset="-122"/>
                <a:cs typeface="Cambria" pitchFamily="34" charset="-120"/>
              </a:rPr>
              <a:t>A star schema designed around the hypothesis</a:t>
            </a:r>
            <a:endPar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4" name="Shape 2"/>
          <p:cNvSpPr/>
          <p:nvPr/>
        </p:nvSpPr>
        <p:spPr>
          <a:xfrm>
            <a:off x="576072" y="6483096"/>
            <a:ext cx="128016" cy="128016"/>
          </a:xfrm>
          <a:prstGeom prst="ellipse">
            <a:avLst/>
          </a:prstGeom>
          <a:solidFill>
            <a:srgbClr val="0B1F3A"/>
          </a:solidFill>
          <a:ln w="12700">
            <a:solidFill>
              <a:srgbClr val="0B1F3A"/>
            </a:solidFill>
            <a:prstDash val="solid"/>
          </a:ln>
        </p:spPr>
      </p:sp>
      <p:sp>
        <p:nvSpPr>
          <p:cNvPr id="5" name="Text 3"/>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050" dirty="0">
                <a:solidFill>
                  <a:schemeClr val="bg1"/>
                </a:solidFill>
                <a:latin typeface="Calibri" pitchFamily="34" charset="0"/>
                <a:ea typeface="Calibri" pitchFamily="34" charset="-122"/>
                <a:cs typeface="Calibri" pitchFamily="34" charset="-120"/>
              </a:rPr>
              <a:t>Introduction</a:t>
            </a:r>
            <a:endParaRPr lang="en-US" sz="1050" dirty="0">
              <a:solidFill>
                <a:schemeClr val="bg1"/>
              </a:solidFill>
            </a:endParaRPr>
          </a:p>
        </p:txBody>
      </p:sp>
      <p:sp>
        <p:nvSpPr>
          <p:cNvPr id="6" name="Shape 4"/>
          <p:cNvSpPr/>
          <p:nvPr/>
        </p:nvSpPr>
        <p:spPr>
          <a:xfrm>
            <a:off x="2039112" y="6483096"/>
            <a:ext cx="128016" cy="128016"/>
          </a:xfrm>
          <a:prstGeom prst="ellipse">
            <a:avLst/>
          </a:prstGeom>
          <a:solidFill>
            <a:srgbClr val="0B1F3A"/>
          </a:solidFill>
          <a:ln w="12700">
            <a:solidFill>
              <a:srgbClr val="0B1F3A"/>
            </a:solidFill>
            <a:prstDash val="solid"/>
          </a:ln>
        </p:spPr>
      </p:sp>
      <p:sp>
        <p:nvSpPr>
          <p:cNvPr id="7" name="Text 5"/>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050" dirty="0">
                <a:solidFill>
                  <a:schemeClr val="bg1"/>
                </a:solidFill>
                <a:latin typeface="Calibri" pitchFamily="34" charset="0"/>
                <a:ea typeface="Calibri" pitchFamily="34" charset="-122"/>
                <a:cs typeface="Calibri" pitchFamily="34" charset="-120"/>
              </a:rPr>
              <a:t>Problem</a:t>
            </a:r>
            <a:endParaRPr lang="en-US" sz="1050" dirty="0">
              <a:solidFill>
                <a:schemeClr val="bg1"/>
              </a:solidFill>
            </a:endParaRPr>
          </a:p>
        </p:txBody>
      </p:sp>
      <p:sp>
        <p:nvSpPr>
          <p:cNvPr id="8" name="Shape 6"/>
          <p:cNvSpPr/>
          <p:nvPr/>
        </p:nvSpPr>
        <p:spPr>
          <a:xfrm>
            <a:off x="3081528" y="6391656"/>
            <a:ext cx="1097280" cy="310896"/>
          </a:xfrm>
          <a:prstGeom prst="roundRect">
            <a:avLst>
              <a:gd name="adj" fmla="val 50000"/>
            </a:avLst>
          </a:prstGeom>
          <a:solidFill>
            <a:srgbClr val="FDE8DA"/>
          </a:solidFill>
          <a:ln w="6350">
            <a:solidFill>
              <a:srgbClr val="FDE8DA"/>
            </a:solidFill>
            <a:prstDash val="solid"/>
          </a:ln>
        </p:spPr>
      </p:sp>
      <p:sp>
        <p:nvSpPr>
          <p:cNvPr id="9" name="Shape 7"/>
          <p:cNvSpPr/>
          <p:nvPr/>
        </p:nvSpPr>
        <p:spPr>
          <a:xfrm>
            <a:off x="3182112" y="6483096"/>
            <a:ext cx="128016" cy="128016"/>
          </a:xfrm>
          <a:prstGeom prst="ellipse">
            <a:avLst/>
          </a:prstGeom>
          <a:solidFill>
            <a:srgbClr val="F26B21"/>
          </a:solidFill>
          <a:ln w="12700">
            <a:solidFill>
              <a:srgbClr val="F26B21"/>
            </a:solidFill>
            <a:prstDash val="solid"/>
          </a:ln>
        </p:spPr>
      </p:sp>
      <p:sp>
        <p:nvSpPr>
          <p:cNvPr id="10" name="Text 8"/>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Solution</a:t>
            </a:r>
            <a:endParaRPr lang="en-US" sz="1100" dirty="0"/>
          </a:p>
        </p:txBody>
      </p:sp>
      <p:sp>
        <p:nvSpPr>
          <p:cNvPr id="11" name="Shape 9"/>
          <p:cNvSpPr/>
          <p:nvPr/>
        </p:nvSpPr>
        <p:spPr>
          <a:xfrm>
            <a:off x="4370832" y="6483096"/>
            <a:ext cx="128016" cy="128016"/>
          </a:xfrm>
          <a:prstGeom prst="ellipse">
            <a:avLst/>
          </a:prstGeom>
          <a:solidFill>
            <a:srgbClr val="FFFFFF"/>
          </a:solidFill>
          <a:ln w="12700">
            <a:solidFill>
              <a:srgbClr val="8A94A6"/>
            </a:solidFill>
            <a:prstDash val="solid"/>
          </a:ln>
        </p:spPr>
      </p:sp>
      <p:sp>
        <p:nvSpPr>
          <p:cNvPr id="12" name="Text 10"/>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050" dirty="0">
                <a:solidFill>
                  <a:schemeClr val="bg1"/>
                </a:solidFill>
                <a:latin typeface="Calibri" pitchFamily="34" charset="0"/>
                <a:ea typeface="Calibri" pitchFamily="34" charset="-122"/>
                <a:cs typeface="Calibri" pitchFamily="34" charset="-120"/>
              </a:rPr>
              <a:t>Insights</a:t>
            </a:r>
            <a:endParaRPr lang="en-US" sz="1050" dirty="0">
              <a:solidFill>
                <a:schemeClr val="bg1"/>
              </a:solidFill>
            </a:endParaRPr>
          </a:p>
        </p:txBody>
      </p:sp>
      <p:sp>
        <p:nvSpPr>
          <p:cNvPr id="13" name="Shape 11"/>
          <p:cNvSpPr/>
          <p:nvPr/>
        </p:nvSpPr>
        <p:spPr>
          <a:xfrm>
            <a:off x="5559552" y="6483096"/>
            <a:ext cx="128016" cy="128016"/>
          </a:xfrm>
          <a:prstGeom prst="ellipse">
            <a:avLst/>
          </a:prstGeom>
          <a:solidFill>
            <a:srgbClr val="FFFFFF"/>
          </a:solidFill>
          <a:ln w="12700">
            <a:solidFill>
              <a:srgbClr val="8A94A6"/>
            </a:solidFill>
            <a:prstDash val="solid"/>
          </a:ln>
        </p:spPr>
      </p:sp>
      <p:sp>
        <p:nvSpPr>
          <p:cNvPr id="14" name="Text 12"/>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050" dirty="0">
                <a:solidFill>
                  <a:schemeClr val="bg1"/>
                </a:solidFill>
                <a:latin typeface="Calibri" pitchFamily="34" charset="0"/>
                <a:ea typeface="Calibri" pitchFamily="34" charset="-122"/>
                <a:cs typeface="Calibri" pitchFamily="34" charset="-120"/>
              </a:rPr>
              <a:t>Challenges &amp; Lessons</a:t>
            </a:r>
            <a:endParaRPr lang="en-US" sz="1050" dirty="0">
              <a:solidFill>
                <a:schemeClr val="bg1"/>
              </a:solidFill>
            </a:endParaRPr>
          </a:p>
        </p:txBody>
      </p:sp>
      <p:sp>
        <p:nvSpPr>
          <p:cNvPr id="15" name="Shape 13"/>
          <p:cNvSpPr/>
          <p:nvPr/>
        </p:nvSpPr>
        <p:spPr>
          <a:xfrm>
            <a:off x="7571232" y="6483096"/>
            <a:ext cx="128016" cy="128016"/>
          </a:xfrm>
          <a:prstGeom prst="ellipse">
            <a:avLst/>
          </a:prstGeom>
          <a:solidFill>
            <a:srgbClr val="FFFFFF"/>
          </a:solidFill>
          <a:ln w="12700">
            <a:solidFill>
              <a:srgbClr val="8A94A6"/>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050" dirty="0">
                <a:solidFill>
                  <a:schemeClr val="bg1"/>
                </a:solidFill>
                <a:latin typeface="Calibri" pitchFamily="34" charset="0"/>
                <a:ea typeface="Calibri" pitchFamily="34" charset="-122"/>
                <a:cs typeface="Calibri" pitchFamily="34" charset="-120"/>
              </a:rPr>
              <a:t>Conclusion</a:t>
            </a:r>
            <a:endParaRPr lang="en-US" sz="1050" dirty="0">
              <a:solidFill>
                <a:schemeClr val="bg1"/>
              </a:solidFill>
            </a:endParaRPr>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5B6678"/>
                </a:solidFill>
                <a:latin typeface="Calibri" pitchFamily="34" charset="0"/>
                <a:ea typeface="Calibri" pitchFamily="34" charset="-122"/>
                <a:cs typeface="Calibri" pitchFamily="34" charset="-120"/>
              </a:rPr>
              <a:t>7</a:t>
            </a:r>
            <a:endParaRPr lang="en-US" sz="1000" dirty="0"/>
          </a:p>
        </p:txBody>
      </p:sp>
      <p:sp>
        <p:nvSpPr>
          <p:cNvPr id="18" name="Shape 16"/>
          <p:cNvSpPr/>
          <p:nvPr/>
        </p:nvSpPr>
        <p:spPr>
          <a:xfrm>
            <a:off x="548640" y="1463040"/>
            <a:ext cx="2377440" cy="960120"/>
          </a:xfrm>
          <a:prstGeom prst="roundRect">
            <a:avLst>
              <a:gd name="adj" fmla="val 7619"/>
            </a:avLst>
          </a:prstGeom>
          <a:solidFill>
            <a:srgbClr val="E3EEF9"/>
          </a:solidFill>
          <a:ln w="12700">
            <a:solidFill>
              <a:srgbClr val="2F6FBF"/>
            </a:solidFill>
            <a:prstDash val="solid"/>
          </a:ln>
        </p:spPr>
      </p:sp>
      <p:sp>
        <p:nvSpPr>
          <p:cNvPr id="19" name="Text 17"/>
          <p:cNvSpPr txBox="1"/>
          <p:nvPr/>
        </p:nvSpPr>
        <p:spPr>
          <a:xfrm>
            <a:off x="658368" y="1463040"/>
            <a:ext cx="2157984" cy="960120"/>
          </a:xfrm>
          <a:prstGeom prst="rect">
            <a:avLst/>
          </a:prstGeom>
          <a:noFill/>
          <a:ln/>
        </p:spPr>
        <p:txBody>
          <a:bodyPr wrap="square" lIns="0" tIns="0" rIns="0" bIns="0" rtlCol="0" anchor="ctr"/>
          <a:lstStyle/>
          <a:p>
            <a:pPr marL="0" indent="0">
              <a:spcAft>
                <a:spcPts val="200"/>
              </a:spcAft>
              <a:buNone/>
            </a:pPr>
            <a:r>
              <a:rPr lang="en-US" sz="1400" b="1" dirty="0">
                <a:solidFill>
                  <a:srgbClr val="0B1F3A"/>
                </a:solidFill>
                <a:latin typeface="Calibri" pitchFamily="34" charset="0"/>
                <a:ea typeface="Calibri" pitchFamily="34" charset="-122"/>
                <a:cs typeface="Calibri" pitchFamily="34" charset="-120"/>
              </a:rPr>
              <a:t>dim_sellers</a:t>
            </a:r>
            <a:endParaRPr lang="en-US" sz="1400" dirty="0"/>
          </a:p>
          <a:p>
            <a:pPr marL="0" indent="0">
              <a:buNone/>
            </a:pPr>
            <a:r>
              <a:rPr lang="en-US" sz="1100" dirty="0">
                <a:solidFill>
                  <a:srgbClr val="5B6678"/>
                </a:solidFill>
                <a:latin typeface="Calibri" pitchFamily="34" charset="0"/>
                <a:ea typeface="Calibri" pitchFamily="34" charset="-122"/>
                <a:cs typeface="Calibri" pitchFamily="34" charset="-120"/>
              </a:rPr>
              <a:t>seller_id (PK) · city · state</a:t>
            </a:r>
            <a:endParaRPr lang="en-US" sz="1400" dirty="0"/>
          </a:p>
        </p:txBody>
      </p:sp>
      <p:sp>
        <p:nvSpPr>
          <p:cNvPr id="20" name="Shape 18"/>
          <p:cNvSpPr/>
          <p:nvPr/>
        </p:nvSpPr>
        <p:spPr>
          <a:xfrm>
            <a:off x="4905756" y="1463040"/>
            <a:ext cx="2377440" cy="960120"/>
          </a:xfrm>
          <a:prstGeom prst="roundRect">
            <a:avLst>
              <a:gd name="adj" fmla="val 7619"/>
            </a:avLst>
          </a:prstGeom>
          <a:ln/>
        </p:spPr>
        <p:style>
          <a:lnRef idx="1">
            <a:schemeClr val="accent1"/>
          </a:lnRef>
          <a:fillRef idx="3">
            <a:schemeClr val="accent1"/>
          </a:fillRef>
          <a:effectRef idx="2">
            <a:schemeClr val="accent1"/>
          </a:effectRef>
          <a:fontRef idx="minor">
            <a:schemeClr val="lt1"/>
          </a:fontRef>
        </p:style>
      </p:sp>
      <p:sp>
        <p:nvSpPr>
          <p:cNvPr id="21" name="Text 19"/>
          <p:cNvSpPr txBox="1"/>
          <p:nvPr/>
        </p:nvSpPr>
        <p:spPr>
          <a:xfrm>
            <a:off x="5015484" y="1463040"/>
            <a:ext cx="2157984" cy="960120"/>
          </a:xfrm>
          <a:prstGeom prst="rect">
            <a:avLst/>
          </a:prstGeom>
          <a:noFill/>
          <a:ln/>
        </p:spPr>
        <p:txBody>
          <a:bodyPr wrap="square" lIns="0" tIns="0" rIns="0" bIns="0" rtlCol="0" anchor="ctr"/>
          <a:lstStyle/>
          <a:p>
            <a:pPr marL="0" indent="0">
              <a:spcAft>
                <a:spcPts val="200"/>
              </a:spcAft>
              <a:buNone/>
            </a:pPr>
            <a:r>
              <a:rPr lang="en-US" sz="1400" b="1" dirty="0">
                <a:solidFill>
                  <a:srgbClr val="FFFFFF"/>
                </a:solidFill>
                <a:latin typeface="Calibri" pitchFamily="34" charset="0"/>
                <a:ea typeface="Calibri" pitchFamily="34" charset="-122"/>
                <a:cs typeface="Calibri" pitchFamily="34" charset="-120"/>
              </a:rPr>
              <a:t>fact_order_items</a:t>
            </a:r>
            <a:endParaRPr lang="en-US" sz="1400" dirty="0"/>
          </a:p>
          <a:p>
            <a:pPr marL="0" indent="0">
              <a:buNone/>
            </a:pPr>
            <a:r>
              <a:rPr lang="en-US" sz="1100" dirty="0">
                <a:solidFill>
                  <a:srgbClr val="C9D6EA"/>
                </a:solidFill>
                <a:latin typeface="Calibri" pitchFamily="34" charset="0"/>
                <a:ea typeface="Calibri" pitchFamily="34" charset="-122"/>
                <a:cs typeface="Calibri" pitchFamily="34" charset="-120"/>
              </a:rPr>
              <a:t>order_id + item_id (PK) · price · freight</a:t>
            </a:r>
            <a:endParaRPr lang="en-US" sz="1400" dirty="0"/>
          </a:p>
          <a:p>
            <a:pPr marL="0" indent="0">
              <a:buNone/>
            </a:pPr>
            <a:r>
              <a:rPr lang="en-US" sz="1100" b="1" dirty="0">
                <a:solidFill>
                  <a:srgbClr val="FFB88A"/>
                </a:solidFill>
                <a:latin typeface="Calibri" pitchFamily="34" charset="0"/>
                <a:ea typeface="Calibri" pitchFamily="34" charset="-122"/>
                <a:cs typeface="Calibri" pitchFamily="34" charset="-120"/>
              </a:rPr>
              <a:t>gross_sales · discount_rate</a:t>
            </a:r>
            <a:endParaRPr lang="en-US" sz="1400" dirty="0"/>
          </a:p>
        </p:txBody>
      </p:sp>
      <p:sp>
        <p:nvSpPr>
          <p:cNvPr id="22" name="Shape 20"/>
          <p:cNvSpPr/>
          <p:nvPr/>
        </p:nvSpPr>
        <p:spPr>
          <a:xfrm>
            <a:off x="9262872" y="1463040"/>
            <a:ext cx="2377440" cy="960120"/>
          </a:xfrm>
          <a:prstGeom prst="roundRect">
            <a:avLst>
              <a:gd name="adj" fmla="val 7619"/>
            </a:avLst>
          </a:prstGeom>
          <a:solidFill>
            <a:srgbClr val="E3EEF9"/>
          </a:solidFill>
          <a:ln w="12700">
            <a:solidFill>
              <a:srgbClr val="2F6FBF"/>
            </a:solidFill>
            <a:prstDash val="solid"/>
          </a:ln>
        </p:spPr>
      </p:sp>
      <p:sp>
        <p:nvSpPr>
          <p:cNvPr id="23" name="Text 21"/>
          <p:cNvSpPr txBox="1"/>
          <p:nvPr/>
        </p:nvSpPr>
        <p:spPr>
          <a:xfrm>
            <a:off x="9372600" y="1463040"/>
            <a:ext cx="2157984" cy="960120"/>
          </a:xfrm>
          <a:prstGeom prst="rect">
            <a:avLst/>
          </a:prstGeom>
          <a:noFill/>
          <a:ln/>
        </p:spPr>
        <p:txBody>
          <a:bodyPr wrap="square" lIns="0" tIns="0" rIns="0" bIns="0" rtlCol="0" anchor="ctr"/>
          <a:lstStyle/>
          <a:p>
            <a:pPr marL="0" indent="0">
              <a:spcAft>
                <a:spcPts val="200"/>
              </a:spcAft>
              <a:buNone/>
            </a:pPr>
            <a:r>
              <a:rPr lang="en-US" sz="1400" b="1" dirty="0">
                <a:solidFill>
                  <a:srgbClr val="0B1F3A"/>
                </a:solidFill>
                <a:latin typeface="Calibri" pitchFamily="34" charset="0"/>
                <a:ea typeface="Calibri" pitchFamily="34" charset="-122"/>
                <a:cs typeface="Calibri" pitchFamily="34" charset="-120"/>
              </a:rPr>
              <a:t>dim_products</a:t>
            </a:r>
            <a:endParaRPr lang="en-US" sz="1400" dirty="0"/>
          </a:p>
          <a:p>
            <a:pPr marL="0" indent="0">
              <a:buNone/>
            </a:pPr>
            <a:r>
              <a:rPr lang="en-US" sz="1100" dirty="0">
                <a:solidFill>
                  <a:srgbClr val="5B6678"/>
                </a:solidFill>
                <a:latin typeface="Calibri" pitchFamily="34" charset="0"/>
                <a:ea typeface="Calibri" pitchFamily="34" charset="-122"/>
                <a:cs typeface="Calibri" pitchFamily="34" charset="-120"/>
              </a:rPr>
              <a:t>product_id (PK) · weight · dimensions</a:t>
            </a:r>
            <a:endParaRPr lang="en-US" sz="1400" dirty="0"/>
          </a:p>
        </p:txBody>
      </p:sp>
      <p:sp>
        <p:nvSpPr>
          <p:cNvPr id="24" name="Shape 22"/>
          <p:cNvSpPr/>
          <p:nvPr/>
        </p:nvSpPr>
        <p:spPr>
          <a:xfrm>
            <a:off x="548640" y="2624328"/>
            <a:ext cx="2377440" cy="960120"/>
          </a:xfrm>
          <a:prstGeom prst="roundRect">
            <a:avLst>
              <a:gd name="adj" fmla="val 7619"/>
            </a:avLst>
          </a:prstGeom>
          <a:solidFill>
            <a:srgbClr val="E3EEF9"/>
          </a:solidFill>
          <a:ln w="12700">
            <a:solidFill>
              <a:srgbClr val="2F6FBF"/>
            </a:solidFill>
            <a:prstDash val="solid"/>
          </a:ln>
        </p:spPr>
      </p:sp>
      <p:sp>
        <p:nvSpPr>
          <p:cNvPr id="25" name="Text 23"/>
          <p:cNvSpPr txBox="1"/>
          <p:nvPr/>
        </p:nvSpPr>
        <p:spPr>
          <a:xfrm>
            <a:off x="658368" y="2624328"/>
            <a:ext cx="2157984" cy="960120"/>
          </a:xfrm>
          <a:prstGeom prst="rect">
            <a:avLst/>
          </a:prstGeom>
          <a:noFill/>
          <a:ln/>
        </p:spPr>
        <p:txBody>
          <a:bodyPr wrap="square" lIns="0" tIns="0" rIns="0" bIns="0" rtlCol="0" anchor="ctr"/>
          <a:lstStyle/>
          <a:p>
            <a:pPr marL="0" indent="0">
              <a:spcAft>
                <a:spcPts val="200"/>
              </a:spcAft>
              <a:buNone/>
            </a:pPr>
            <a:r>
              <a:rPr lang="en-US" sz="1400" b="1" dirty="0">
                <a:solidFill>
                  <a:srgbClr val="0B1F3A"/>
                </a:solidFill>
                <a:latin typeface="Calibri" pitchFamily="34" charset="0"/>
                <a:ea typeface="Calibri" pitchFamily="34" charset="-122"/>
                <a:cs typeface="Calibri" pitchFamily="34" charset="-120"/>
              </a:rPr>
              <a:t>dim_geolocation</a:t>
            </a:r>
            <a:endParaRPr lang="en-US" sz="1400" dirty="0"/>
          </a:p>
          <a:p>
            <a:pPr marL="0" indent="0">
              <a:buNone/>
            </a:pPr>
            <a:r>
              <a:rPr lang="en-US" sz="1100" dirty="0">
                <a:solidFill>
                  <a:srgbClr val="5B6678"/>
                </a:solidFill>
                <a:latin typeface="Calibri" pitchFamily="34" charset="0"/>
                <a:ea typeface="Calibri" pitchFamily="34" charset="-122"/>
                <a:cs typeface="Calibri" pitchFamily="34" charset="-120"/>
              </a:rPr>
              <a:t>zip_prefix (PK) · lat · lng</a:t>
            </a:r>
            <a:endParaRPr lang="en-US" sz="1400" dirty="0"/>
          </a:p>
        </p:txBody>
      </p:sp>
      <p:sp>
        <p:nvSpPr>
          <p:cNvPr id="26" name="Shape 24"/>
          <p:cNvSpPr/>
          <p:nvPr/>
        </p:nvSpPr>
        <p:spPr>
          <a:xfrm>
            <a:off x="9262872" y="2624328"/>
            <a:ext cx="2377440" cy="960120"/>
          </a:xfrm>
          <a:prstGeom prst="roundRect">
            <a:avLst>
              <a:gd name="adj" fmla="val 7619"/>
            </a:avLst>
          </a:prstGeom>
          <a:solidFill>
            <a:srgbClr val="E3EEF9"/>
          </a:solidFill>
          <a:ln w="12700">
            <a:solidFill>
              <a:srgbClr val="2F6FBF"/>
            </a:solidFill>
            <a:prstDash val="solid"/>
          </a:ln>
        </p:spPr>
      </p:sp>
      <p:sp>
        <p:nvSpPr>
          <p:cNvPr id="27" name="Text 25"/>
          <p:cNvSpPr txBox="1"/>
          <p:nvPr/>
        </p:nvSpPr>
        <p:spPr>
          <a:xfrm>
            <a:off x="9372600" y="2624328"/>
            <a:ext cx="2157984" cy="960120"/>
          </a:xfrm>
          <a:prstGeom prst="rect">
            <a:avLst/>
          </a:prstGeom>
          <a:noFill/>
          <a:ln/>
        </p:spPr>
        <p:txBody>
          <a:bodyPr wrap="square" lIns="0" tIns="0" rIns="0" bIns="0" rtlCol="0" anchor="ctr"/>
          <a:lstStyle/>
          <a:p>
            <a:pPr marL="0" indent="0">
              <a:spcAft>
                <a:spcPts val="200"/>
              </a:spcAft>
              <a:buNone/>
            </a:pPr>
            <a:r>
              <a:rPr lang="en-US" sz="1250" b="1" dirty="0">
                <a:solidFill>
                  <a:srgbClr val="0B1F3A"/>
                </a:solidFill>
                <a:latin typeface="Calibri" pitchFamily="34" charset="0"/>
                <a:ea typeface="Calibri" pitchFamily="34" charset="-122"/>
                <a:cs typeface="Calibri" pitchFamily="34" charset="-120"/>
              </a:rPr>
              <a:t>dim_product_category_name</a:t>
            </a:r>
            <a:endParaRPr lang="en-US" sz="1250" dirty="0"/>
          </a:p>
          <a:p>
            <a:pPr marL="0" indent="0">
              <a:buNone/>
            </a:pPr>
            <a:r>
              <a:rPr lang="en-US" sz="1100" dirty="0">
                <a:solidFill>
                  <a:srgbClr val="5B6678"/>
                </a:solidFill>
                <a:latin typeface="Calibri" pitchFamily="34" charset="0"/>
                <a:ea typeface="Calibri" pitchFamily="34" charset="-122"/>
                <a:cs typeface="Calibri" pitchFamily="34" charset="-120"/>
              </a:rPr>
              <a:t>category (PK) · English name</a:t>
            </a:r>
            <a:endParaRPr lang="en-US" sz="1250" dirty="0"/>
          </a:p>
        </p:txBody>
      </p:sp>
      <p:sp>
        <p:nvSpPr>
          <p:cNvPr id="28" name="Shape 26"/>
          <p:cNvSpPr/>
          <p:nvPr/>
        </p:nvSpPr>
        <p:spPr>
          <a:xfrm>
            <a:off x="548640" y="3785616"/>
            <a:ext cx="2377440" cy="960120"/>
          </a:xfrm>
          <a:prstGeom prst="roundRect">
            <a:avLst>
              <a:gd name="adj" fmla="val 7619"/>
            </a:avLst>
          </a:prstGeom>
          <a:solidFill>
            <a:srgbClr val="E3EEF9"/>
          </a:solidFill>
          <a:ln w="12700">
            <a:solidFill>
              <a:srgbClr val="2F6FBF"/>
            </a:solidFill>
            <a:prstDash val="solid"/>
          </a:ln>
        </p:spPr>
      </p:sp>
      <p:sp>
        <p:nvSpPr>
          <p:cNvPr id="29" name="Text 27"/>
          <p:cNvSpPr txBox="1"/>
          <p:nvPr/>
        </p:nvSpPr>
        <p:spPr>
          <a:xfrm>
            <a:off x="658368" y="3785616"/>
            <a:ext cx="2157984" cy="960120"/>
          </a:xfrm>
          <a:prstGeom prst="rect">
            <a:avLst/>
          </a:prstGeom>
          <a:noFill/>
          <a:ln/>
        </p:spPr>
        <p:txBody>
          <a:bodyPr wrap="square" lIns="0" tIns="0" rIns="0" bIns="0" rtlCol="0" anchor="ctr"/>
          <a:lstStyle/>
          <a:p>
            <a:pPr marL="0" indent="0">
              <a:spcAft>
                <a:spcPts val="200"/>
              </a:spcAft>
              <a:buNone/>
            </a:pPr>
            <a:r>
              <a:rPr lang="en-US" sz="1400" b="1" dirty="0">
                <a:solidFill>
                  <a:srgbClr val="0B1F3A"/>
                </a:solidFill>
                <a:latin typeface="Calibri" pitchFamily="34" charset="0"/>
                <a:ea typeface="Calibri" pitchFamily="34" charset="-122"/>
                <a:cs typeface="Calibri" pitchFamily="34" charset="-120"/>
              </a:rPr>
              <a:t>dim_customers</a:t>
            </a:r>
            <a:endParaRPr lang="en-US" sz="1400" dirty="0"/>
          </a:p>
          <a:p>
            <a:pPr marL="0" indent="0">
              <a:buNone/>
            </a:pPr>
            <a:r>
              <a:rPr lang="en-US" sz="1100" dirty="0">
                <a:solidFill>
                  <a:srgbClr val="5B6678"/>
                </a:solidFill>
                <a:latin typeface="Calibri" pitchFamily="34" charset="0"/>
                <a:ea typeface="Calibri" pitchFamily="34" charset="-122"/>
                <a:cs typeface="Calibri" pitchFamily="34" charset="-120"/>
              </a:rPr>
              <a:t>customer_id (PK) · state</a:t>
            </a:r>
            <a:endParaRPr lang="en-US" sz="1400" dirty="0"/>
          </a:p>
          <a:p>
            <a:pPr marL="0" indent="0">
              <a:buNone/>
            </a:pPr>
            <a:r>
              <a:rPr lang="en-US" sz="1100" b="1" dirty="0">
                <a:solidFill>
                  <a:srgbClr val="C2410C"/>
                </a:solidFill>
                <a:latin typeface="Calibri" pitchFamily="34" charset="0"/>
                <a:ea typeface="Calibri" pitchFamily="34" charset="-122"/>
                <a:cs typeface="Calibri" pitchFamily="34" charset="-120"/>
              </a:rPr>
              <a:t>first_purchase_date</a:t>
            </a:r>
            <a:endParaRPr lang="en-US" sz="1400" dirty="0"/>
          </a:p>
        </p:txBody>
      </p:sp>
      <p:sp>
        <p:nvSpPr>
          <p:cNvPr id="30" name="Shape 28"/>
          <p:cNvSpPr/>
          <p:nvPr/>
        </p:nvSpPr>
        <p:spPr>
          <a:xfrm>
            <a:off x="4905756" y="3785616"/>
            <a:ext cx="2377440" cy="960120"/>
          </a:xfrm>
          <a:prstGeom prst="roundRect">
            <a:avLst>
              <a:gd name="adj" fmla="val 7619"/>
            </a:avLst>
          </a:prstGeom>
          <a:ln/>
        </p:spPr>
        <p:style>
          <a:lnRef idx="1">
            <a:schemeClr val="accent1"/>
          </a:lnRef>
          <a:fillRef idx="3">
            <a:schemeClr val="accent1"/>
          </a:fillRef>
          <a:effectRef idx="2">
            <a:schemeClr val="accent1"/>
          </a:effectRef>
          <a:fontRef idx="minor">
            <a:schemeClr val="lt1"/>
          </a:fontRef>
        </p:style>
      </p:sp>
      <p:sp>
        <p:nvSpPr>
          <p:cNvPr id="31" name="Text 29"/>
          <p:cNvSpPr txBox="1"/>
          <p:nvPr/>
        </p:nvSpPr>
        <p:spPr>
          <a:xfrm>
            <a:off x="5015484" y="3785616"/>
            <a:ext cx="2157984" cy="960120"/>
          </a:xfrm>
          <a:prstGeom prst="rect">
            <a:avLst/>
          </a:prstGeom>
          <a:noFill/>
          <a:ln/>
        </p:spPr>
        <p:txBody>
          <a:bodyPr wrap="square" lIns="0" tIns="0" rIns="0" bIns="0" rtlCol="0" anchor="ctr"/>
          <a:lstStyle/>
          <a:p>
            <a:pPr marL="0" indent="0">
              <a:spcAft>
                <a:spcPts val="200"/>
              </a:spcAft>
              <a:buNone/>
            </a:pPr>
            <a:r>
              <a:rPr lang="en-US" sz="1400" b="1" dirty="0">
                <a:solidFill>
                  <a:srgbClr val="FFFFFF"/>
                </a:solidFill>
                <a:latin typeface="Calibri" pitchFamily="34" charset="0"/>
                <a:ea typeface="Calibri" pitchFamily="34" charset="-122"/>
                <a:cs typeface="Calibri" pitchFamily="34" charset="-120"/>
              </a:rPr>
              <a:t>fact_orders</a:t>
            </a:r>
            <a:endParaRPr lang="en-US" sz="1400" dirty="0"/>
          </a:p>
          <a:p>
            <a:pPr marL="0" indent="0">
              <a:buNone/>
            </a:pPr>
            <a:r>
              <a:rPr lang="en-US" sz="1100" dirty="0">
                <a:solidFill>
                  <a:srgbClr val="C9D6EA"/>
                </a:solidFill>
                <a:latin typeface="Calibri" pitchFamily="34" charset="0"/>
                <a:ea typeface="Calibri" pitchFamily="34" charset="-122"/>
                <a:cs typeface="Calibri" pitchFamily="34" charset="-120"/>
              </a:rPr>
              <a:t>order_id (PK) · customer_id (FK)</a:t>
            </a:r>
            <a:endParaRPr lang="en-US" sz="1400" dirty="0"/>
          </a:p>
          <a:p>
            <a:pPr marL="0" indent="0">
              <a:buNone/>
            </a:pPr>
            <a:r>
              <a:rPr lang="en-US" sz="1100" b="1" dirty="0">
                <a:solidFill>
                  <a:srgbClr val="FFB88A"/>
                </a:solidFill>
                <a:latin typeface="Calibri" pitchFamily="34" charset="0"/>
                <a:ea typeface="Calibri" pitchFamily="34" charset="-122"/>
                <a:cs typeface="Calibri" pitchFamily="34" charset="-120"/>
              </a:rPr>
              <a:t>event_flag · new_customer_flag · delivery_delay_days</a:t>
            </a:r>
            <a:endParaRPr lang="en-US" sz="1400" dirty="0"/>
          </a:p>
        </p:txBody>
      </p:sp>
      <p:sp>
        <p:nvSpPr>
          <p:cNvPr id="32" name="Shape 30"/>
          <p:cNvSpPr/>
          <p:nvPr/>
        </p:nvSpPr>
        <p:spPr>
          <a:xfrm>
            <a:off x="9262872" y="3785616"/>
            <a:ext cx="2377440" cy="960120"/>
          </a:xfrm>
          <a:prstGeom prst="roundRect">
            <a:avLst>
              <a:gd name="adj" fmla="val 7619"/>
            </a:avLst>
          </a:prstGeom>
          <a:solidFill>
            <a:srgbClr val="E3EEF9"/>
          </a:solidFill>
          <a:ln w="12700">
            <a:solidFill>
              <a:srgbClr val="2F6FBF"/>
            </a:solidFill>
            <a:prstDash val="solid"/>
          </a:ln>
        </p:spPr>
      </p:sp>
      <p:sp>
        <p:nvSpPr>
          <p:cNvPr id="33" name="Text 31"/>
          <p:cNvSpPr txBox="1"/>
          <p:nvPr/>
        </p:nvSpPr>
        <p:spPr>
          <a:xfrm>
            <a:off x="9372600" y="3785616"/>
            <a:ext cx="2157984" cy="960120"/>
          </a:xfrm>
          <a:prstGeom prst="rect">
            <a:avLst/>
          </a:prstGeom>
          <a:noFill/>
          <a:ln/>
        </p:spPr>
        <p:txBody>
          <a:bodyPr wrap="square" lIns="0" tIns="0" rIns="0" bIns="0" rtlCol="0" anchor="ctr"/>
          <a:lstStyle/>
          <a:p>
            <a:pPr marL="0" indent="0">
              <a:spcAft>
                <a:spcPts val="200"/>
              </a:spcAft>
              <a:buNone/>
            </a:pPr>
            <a:r>
              <a:rPr lang="en-US" sz="1400" b="1" dirty="0">
                <a:solidFill>
                  <a:srgbClr val="0B1F3A"/>
                </a:solidFill>
                <a:latin typeface="Calibri" pitchFamily="34" charset="0"/>
                <a:ea typeface="Calibri" pitchFamily="34" charset="-122"/>
                <a:cs typeface="Calibri" pitchFamily="34" charset="-120"/>
              </a:rPr>
              <a:t>dim_event_calendar</a:t>
            </a:r>
            <a:endParaRPr lang="en-US" sz="1400" dirty="0"/>
          </a:p>
          <a:p>
            <a:pPr marL="0" indent="0">
              <a:buNone/>
            </a:pPr>
            <a:r>
              <a:rPr lang="en-US" sz="1100" dirty="0">
                <a:solidFill>
                  <a:srgbClr val="5B6678"/>
                </a:solidFill>
                <a:latin typeface="Calibri" pitchFamily="34" charset="0"/>
                <a:ea typeface="Calibri" pitchFamily="34" charset="-122"/>
                <a:cs typeface="Calibri" pitchFamily="34" charset="-120"/>
              </a:rPr>
              <a:t>date (PK) · is_black_friday · is_event_period · is_post_event</a:t>
            </a:r>
            <a:endParaRPr lang="en-US" sz="1400" dirty="0"/>
          </a:p>
        </p:txBody>
      </p:sp>
      <p:sp>
        <p:nvSpPr>
          <p:cNvPr id="34" name="Shape 32"/>
          <p:cNvSpPr/>
          <p:nvPr/>
        </p:nvSpPr>
        <p:spPr>
          <a:xfrm>
            <a:off x="3854196" y="5029200"/>
            <a:ext cx="2103120" cy="960120"/>
          </a:xfrm>
          <a:prstGeom prst="roundRect">
            <a:avLst>
              <a:gd name="adj" fmla="val 7619"/>
            </a:avLst>
          </a:prstGeom>
          <a:ln/>
        </p:spPr>
        <p:style>
          <a:lnRef idx="1">
            <a:schemeClr val="accent1"/>
          </a:lnRef>
          <a:fillRef idx="3">
            <a:schemeClr val="accent1"/>
          </a:fillRef>
          <a:effectRef idx="2">
            <a:schemeClr val="accent1"/>
          </a:effectRef>
          <a:fontRef idx="minor">
            <a:schemeClr val="lt1"/>
          </a:fontRef>
        </p:style>
      </p:sp>
      <p:sp>
        <p:nvSpPr>
          <p:cNvPr id="35" name="Text 33"/>
          <p:cNvSpPr txBox="1"/>
          <p:nvPr/>
        </p:nvSpPr>
        <p:spPr>
          <a:xfrm>
            <a:off x="3963924" y="5029200"/>
            <a:ext cx="1883664" cy="960120"/>
          </a:xfrm>
          <a:prstGeom prst="rect">
            <a:avLst/>
          </a:prstGeom>
          <a:noFill/>
          <a:ln/>
        </p:spPr>
        <p:txBody>
          <a:bodyPr wrap="square" lIns="0" tIns="0" rIns="0" bIns="0" rtlCol="0" anchor="ctr"/>
          <a:lstStyle/>
          <a:p>
            <a:pPr marL="0" indent="0">
              <a:spcAft>
                <a:spcPts val="200"/>
              </a:spcAft>
              <a:buNone/>
            </a:pPr>
            <a:r>
              <a:rPr lang="en-US" sz="1400" b="1" dirty="0">
                <a:solidFill>
                  <a:srgbClr val="FFFFFF"/>
                </a:solidFill>
                <a:latin typeface="Calibri" pitchFamily="34" charset="0"/>
                <a:ea typeface="Calibri" pitchFamily="34" charset="-122"/>
                <a:cs typeface="Calibri" pitchFamily="34" charset="-120"/>
              </a:rPr>
              <a:t>fact_payments</a:t>
            </a:r>
            <a:endParaRPr lang="en-US" sz="1400" dirty="0"/>
          </a:p>
          <a:p>
            <a:pPr marL="0" indent="0">
              <a:buNone/>
            </a:pPr>
            <a:r>
              <a:rPr lang="en-US" sz="1100" dirty="0">
                <a:solidFill>
                  <a:srgbClr val="C9D6EA"/>
                </a:solidFill>
                <a:latin typeface="Calibri" pitchFamily="34" charset="0"/>
                <a:ea typeface="Calibri" pitchFamily="34" charset="-122"/>
                <a:cs typeface="Calibri" pitchFamily="34" charset="-120"/>
              </a:rPr>
              <a:t>order_id (FK) · payment_sequential (PK) · type · value</a:t>
            </a:r>
            <a:endParaRPr lang="en-US" sz="1400" dirty="0"/>
          </a:p>
        </p:txBody>
      </p:sp>
      <p:sp>
        <p:nvSpPr>
          <p:cNvPr id="36" name="Shape 34"/>
          <p:cNvSpPr/>
          <p:nvPr/>
        </p:nvSpPr>
        <p:spPr>
          <a:xfrm>
            <a:off x="6231636" y="5029200"/>
            <a:ext cx="2103120" cy="960120"/>
          </a:xfrm>
          <a:prstGeom prst="roundRect">
            <a:avLst>
              <a:gd name="adj" fmla="val 7619"/>
            </a:avLst>
          </a:prstGeom>
          <a:ln/>
        </p:spPr>
        <p:style>
          <a:lnRef idx="1">
            <a:schemeClr val="accent1"/>
          </a:lnRef>
          <a:fillRef idx="3">
            <a:schemeClr val="accent1"/>
          </a:fillRef>
          <a:effectRef idx="2">
            <a:schemeClr val="accent1"/>
          </a:effectRef>
          <a:fontRef idx="minor">
            <a:schemeClr val="lt1"/>
          </a:fontRef>
        </p:style>
      </p:sp>
      <p:sp>
        <p:nvSpPr>
          <p:cNvPr id="37" name="Text 35"/>
          <p:cNvSpPr txBox="1"/>
          <p:nvPr/>
        </p:nvSpPr>
        <p:spPr>
          <a:xfrm>
            <a:off x="6341364" y="5029200"/>
            <a:ext cx="1883664" cy="960120"/>
          </a:xfrm>
          <a:prstGeom prst="rect">
            <a:avLst/>
          </a:prstGeom>
          <a:noFill/>
          <a:ln/>
        </p:spPr>
        <p:txBody>
          <a:bodyPr wrap="square" lIns="0" tIns="0" rIns="0" bIns="0" rtlCol="0" anchor="ctr"/>
          <a:lstStyle/>
          <a:p>
            <a:pPr marL="0" indent="0">
              <a:spcAft>
                <a:spcPts val="200"/>
              </a:spcAft>
              <a:buNone/>
            </a:pPr>
            <a:r>
              <a:rPr lang="en-US" sz="1400" b="1" dirty="0">
                <a:solidFill>
                  <a:srgbClr val="FFFFFF"/>
                </a:solidFill>
                <a:latin typeface="Calibri" pitchFamily="34" charset="0"/>
                <a:ea typeface="Calibri" pitchFamily="34" charset="-122"/>
                <a:cs typeface="Calibri" pitchFamily="34" charset="-120"/>
              </a:rPr>
              <a:t>fact_reviews</a:t>
            </a:r>
            <a:endParaRPr lang="en-US" sz="1400" dirty="0"/>
          </a:p>
          <a:p>
            <a:pPr marL="0" indent="0">
              <a:buNone/>
            </a:pPr>
            <a:r>
              <a:rPr lang="en-US" sz="1100" dirty="0">
                <a:solidFill>
                  <a:srgbClr val="C9D6EA"/>
                </a:solidFill>
                <a:latin typeface="Calibri" pitchFamily="34" charset="0"/>
                <a:ea typeface="Calibri" pitchFamily="34" charset="-122"/>
                <a:cs typeface="Calibri" pitchFamily="34" charset="-120"/>
              </a:rPr>
              <a:t>review_id (PK) · order_id (FK) · review_score</a:t>
            </a:r>
            <a:endParaRPr lang="en-US" sz="1400" dirty="0"/>
          </a:p>
          <a:p>
            <a:pPr marL="0" indent="0">
              <a:buNone/>
            </a:pPr>
            <a:r>
              <a:rPr lang="en-US" sz="1100" b="1" dirty="0">
                <a:solidFill>
                  <a:srgbClr val="FFB88A"/>
                </a:solidFill>
                <a:latin typeface="Calibri" pitchFamily="34" charset="0"/>
                <a:ea typeface="Calibri" pitchFamily="34" charset="-122"/>
                <a:cs typeface="Calibri" pitchFamily="34" charset="-120"/>
              </a:rPr>
              <a:t>review_period_flag</a:t>
            </a:r>
            <a:endParaRPr lang="en-US" sz="1400" dirty="0"/>
          </a:p>
        </p:txBody>
      </p:sp>
      <p:sp>
        <p:nvSpPr>
          <p:cNvPr id="38" name="Shape 36"/>
          <p:cNvSpPr/>
          <p:nvPr/>
        </p:nvSpPr>
        <p:spPr>
          <a:xfrm>
            <a:off x="2926080" y="1943100"/>
            <a:ext cx="1979676" cy="0"/>
          </a:xfrm>
          <a:prstGeom prst="line">
            <a:avLst/>
          </a:prstGeom>
          <a:noFill/>
          <a:ln w="19050">
            <a:solidFill>
              <a:srgbClr val="8A94A6"/>
            </a:solidFill>
            <a:prstDash val="solid"/>
          </a:ln>
        </p:spPr>
      </p:sp>
      <p:sp>
        <p:nvSpPr>
          <p:cNvPr id="39" name="Shape 37"/>
          <p:cNvSpPr/>
          <p:nvPr/>
        </p:nvSpPr>
        <p:spPr>
          <a:xfrm>
            <a:off x="7283196" y="1943100"/>
            <a:ext cx="1979676" cy="0"/>
          </a:xfrm>
          <a:prstGeom prst="line">
            <a:avLst/>
          </a:prstGeom>
          <a:noFill/>
          <a:ln w="19050">
            <a:solidFill>
              <a:srgbClr val="8A94A6"/>
            </a:solidFill>
            <a:prstDash val="solid"/>
          </a:ln>
        </p:spPr>
      </p:sp>
      <p:sp>
        <p:nvSpPr>
          <p:cNvPr id="40" name="Shape 38"/>
          <p:cNvSpPr/>
          <p:nvPr/>
        </p:nvSpPr>
        <p:spPr>
          <a:xfrm>
            <a:off x="6094476" y="2423160"/>
            <a:ext cx="0" cy="1362456"/>
          </a:xfrm>
          <a:prstGeom prst="line">
            <a:avLst/>
          </a:prstGeom>
          <a:noFill/>
          <a:ln w="19050">
            <a:solidFill>
              <a:srgbClr val="8A94A6"/>
            </a:solidFill>
            <a:prstDash val="solid"/>
          </a:ln>
        </p:spPr>
      </p:sp>
      <p:sp>
        <p:nvSpPr>
          <p:cNvPr id="41" name="Text 39"/>
          <p:cNvSpPr txBox="1"/>
          <p:nvPr/>
        </p:nvSpPr>
        <p:spPr>
          <a:xfrm>
            <a:off x="6199632" y="2926080"/>
            <a:ext cx="1097280" cy="274320"/>
          </a:xfrm>
          <a:prstGeom prst="rect">
            <a:avLst/>
          </a:prstGeom>
          <a:noFill/>
          <a:ln/>
        </p:spPr>
        <p:txBody>
          <a:bodyPr wrap="square" lIns="0" tIns="0" rIns="0" bIns="0" rtlCol="0" anchor="t"/>
          <a:lstStyle/>
          <a:p>
            <a:pPr marL="0" indent="0">
              <a:buNone/>
            </a:pPr>
            <a:r>
              <a:rPr lang="en-US" sz="1100" i="1" dirty="0">
                <a:solidFill>
                  <a:srgbClr val="5B6678"/>
                </a:solidFill>
                <a:latin typeface="Calibri" pitchFamily="34" charset="0"/>
                <a:ea typeface="Calibri" pitchFamily="34" charset="-122"/>
                <a:cs typeface="Calibri" pitchFamily="34" charset="-120"/>
              </a:rPr>
              <a:t>order_id</a:t>
            </a:r>
            <a:endParaRPr lang="en-US" sz="1100" dirty="0"/>
          </a:p>
        </p:txBody>
      </p:sp>
      <p:sp>
        <p:nvSpPr>
          <p:cNvPr id="42" name="Shape 40"/>
          <p:cNvSpPr/>
          <p:nvPr/>
        </p:nvSpPr>
        <p:spPr>
          <a:xfrm>
            <a:off x="1737360" y="2423160"/>
            <a:ext cx="0" cy="201168"/>
          </a:xfrm>
          <a:prstGeom prst="line">
            <a:avLst/>
          </a:prstGeom>
          <a:noFill/>
          <a:ln w="19050">
            <a:solidFill>
              <a:srgbClr val="8A94A6"/>
            </a:solidFill>
            <a:prstDash val="solid"/>
          </a:ln>
        </p:spPr>
      </p:sp>
      <p:sp>
        <p:nvSpPr>
          <p:cNvPr id="43" name="Shape 41"/>
          <p:cNvSpPr/>
          <p:nvPr/>
        </p:nvSpPr>
        <p:spPr>
          <a:xfrm>
            <a:off x="1737360" y="3584448"/>
            <a:ext cx="0" cy="201168"/>
          </a:xfrm>
          <a:prstGeom prst="line">
            <a:avLst/>
          </a:prstGeom>
          <a:noFill/>
          <a:ln w="19050">
            <a:solidFill>
              <a:srgbClr val="8A94A6"/>
            </a:solidFill>
            <a:prstDash val="solid"/>
          </a:ln>
        </p:spPr>
      </p:sp>
      <p:sp>
        <p:nvSpPr>
          <p:cNvPr id="44" name="Text 42"/>
          <p:cNvSpPr txBox="1"/>
          <p:nvPr/>
        </p:nvSpPr>
        <p:spPr>
          <a:xfrm>
            <a:off x="3063240" y="2926080"/>
            <a:ext cx="1828800" cy="274320"/>
          </a:xfrm>
          <a:prstGeom prst="rect">
            <a:avLst/>
          </a:prstGeom>
          <a:noFill/>
          <a:ln/>
        </p:spPr>
        <p:txBody>
          <a:bodyPr wrap="square" lIns="0" tIns="0" rIns="0" bIns="0" rtlCol="0" anchor="t"/>
          <a:lstStyle/>
          <a:p>
            <a:pPr marL="0" indent="0">
              <a:buNone/>
            </a:pPr>
            <a:r>
              <a:rPr lang="en-US" sz="1100" i="1" dirty="0">
                <a:solidFill>
                  <a:srgbClr val="5B6678"/>
                </a:solidFill>
                <a:latin typeface="Calibri" pitchFamily="34" charset="0"/>
                <a:ea typeface="Calibri" pitchFamily="34" charset="-122"/>
                <a:cs typeface="Calibri" pitchFamily="34" charset="-120"/>
              </a:rPr>
              <a:t>joined on zip prefix</a:t>
            </a:r>
            <a:endParaRPr lang="en-US" sz="1100" dirty="0"/>
          </a:p>
        </p:txBody>
      </p:sp>
      <p:sp>
        <p:nvSpPr>
          <p:cNvPr id="45" name="Shape 43"/>
          <p:cNvSpPr/>
          <p:nvPr/>
        </p:nvSpPr>
        <p:spPr>
          <a:xfrm>
            <a:off x="10451592" y="2423160"/>
            <a:ext cx="0" cy="201168"/>
          </a:xfrm>
          <a:prstGeom prst="line">
            <a:avLst/>
          </a:prstGeom>
          <a:noFill/>
          <a:ln w="19050">
            <a:solidFill>
              <a:srgbClr val="8A94A6"/>
            </a:solidFill>
            <a:prstDash val="solid"/>
          </a:ln>
        </p:spPr>
      </p:sp>
      <p:sp>
        <p:nvSpPr>
          <p:cNvPr id="46" name="Shape 44"/>
          <p:cNvSpPr/>
          <p:nvPr/>
        </p:nvSpPr>
        <p:spPr>
          <a:xfrm>
            <a:off x="2926080" y="4265676"/>
            <a:ext cx="1979676" cy="0"/>
          </a:xfrm>
          <a:prstGeom prst="line">
            <a:avLst/>
          </a:prstGeom>
          <a:noFill/>
          <a:ln w="19050">
            <a:solidFill>
              <a:srgbClr val="8A94A6"/>
            </a:solidFill>
            <a:prstDash val="solid"/>
          </a:ln>
        </p:spPr>
      </p:sp>
      <p:sp>
        <p:nvSpPr>
          <p:cNvPr id="47" name="Shape 45"/>
          <p:cNvSpPr/>
          <p:nvPr/>
        </p:nvSpPr>
        <p:spPr>
          <a:xfrm>
            <a:off x="7283196" y="4265676"/>
            <a:ext cx="1979676" cy="0"/>
          </a:xfrm>
          <a:prstGeom prst="line">
            <a:avLst/>
          </a:prstGeom>
          <a:noFill/>
          <a:ln w="19050">
            <a:solidFill>
              <a:srgbClr val="8A94A6"/>
            </a:solidFill>
            <a:prstDash val="solid"/>
          </a:ln>
        </p:spPr>
      </p:sp>
      <p:sp>
        <p:nvSpPr>
          <p:cNvPr id="48" name="Shape 46"/>
          <p:cNvSpPr/>
          <p:nvPr/>
        </p:nvSpPr>
        <p:spPr>
          <a:xfrm>
            <a:off x="6094476" y="4745736"/>
            <a:ext cx="0" cy="146304"/>
          </a:xfrm>
          <a:prstGeom prst="line">
            <a:avLst/>
          </a:prstGeom>
          <a:noFill/>
          <a:ln w="19050">
            <a:solidFill>
              <a:srgbClr val="8A94A6"/>
            </a:solidFill>
            <a:prstDash val="solid"/>
          </a:ln>
        </p:spPr>
      </p:sp>
      <p:sp>
        <p:nvSpPr>
          <p:cNvPr id="49" name="Shape 47"/>
          <p:cNvSpPr/>
          <p:nvPr/>
        </p:nvSpPr>
        <p:spPr>
          <a:xfrm>
            <a:off x="4905756" y="4892040"/>
            <a:ext cx="2377440" cy="0"/>
          </a:xfrm>
          <a:prstGeom prst="line">
            <a:avLst/>
          </a:prstGeom>
          <a:noFill/>
          <a:ln w="19050">
            <a:solidFill>
              <a:srgbClr val="8A94A6"/>
            </a:solidFill>
            <a:prstDash val="solid"/>
          </a:ln>
        </p:spPr>
      </p:sp>
      <p:sp>
        <p:nvSpPr>
          <p:cNvPr id="50" name="Shape 48"/>
          <p:cNvSpPr/>
          <p:nvPr/>
        </p:nvSpPr>
        <p:spPr>
          <a:xfrm>
            <a:off x="4905756" y="4892040"/>
            <a:ext cx="0" cy="137160"/>
          </a:xfrm>
          <a:prstGeom prst="line">
            <a:avLst/>
          </a:prstGeom>
          <a:noFill/>
          <a:ln w="19050">
            <a:solidFill>
              <a:srgbClr val="8A94A6"/>
            </a:solidFill>
            <a:prstDash val="solid"/>
          </a:ln>
        </p:spPr>
      </p:sp>
      <p:sp>
        <p:nvSpPr>
          <p:cNvPr id="51" name="Shape 49"/>
          <p:cNvSpPr/>
          <p:nvPr/>
        </p:nvSpPr>
        <p:spPr>
          <a:xfrm>
            <a:off x="7283196" y="4892040"/>
            <a:ext cx="0" cy="137160"/>
          </a:xfrm>
          <a:prstGeom prst="line">
            <a:avLst/>
          </a:prstGeom>
          <a:noFill/>
          <a:ln w="19050">
            <a:solidFill>
              <a:srgbClr val="8A94A6"/>
            </a:solidFill>
            <a:prstDash val="solid"/>
          </a:ln>
        </p:spPr>
      </p:sp>
      <p:sp>
        <p:nvSpPr>
          <p:cNvPr id="52" name="Shape 50"/>
          <p:cNvSpPr/>
          <p:nvPr/>
        </p:nvSpPr>
        <p:spPr>
          <a:xfrm>
            <a:off x="548640" y="5074920"/>
            <a:ext cx="274320" cy="219456"/>
          </a:xfrm>
          <a:prstGeom prst="roundRect">
            <a:avLst>
              <a:gd name="adj" fmla="val 16667"/>
            </a:avLst>
          </a:prstGeom>
          <a:ln/>
        </p:spPr>
        <p:style>
          <a:lnRef idx="3">
            <a:schemeClr val="lt1"/>
          </a:lnRef>
          <a:fillRef idx="1">
            <a:schemeClr val="accent1"/>
          </a:fillRef>
          <a:effectRef idx="1">
            <a:schemeClr val="accent1"/>
          </a:effectRef>
          <a:fontRef idx="minor">
            <a:schemeClr val="lt1"/>
          </a:fontRef>
        </p:style>
      </p:sp>
      <p:sp>
        <p:nvSpPr>
          <p:cNvPr id="53" name="Text 51"/>
          <p:cNvSpPr txBox="1"/>
          <p:nvPr/>
        </p:nvSpPr>
        <p:spPr>
          <a:xfrm>
            <a:off x="960120" y="5056632"/>
            <a:ext cx="1828800" cy="256032"/>
          </a:xfrm>
          <a:prstGeom prst="rect">
            <a:avLst/>
          </a:prstGeom>
          <a:noFill/>
          <a:ln/>
        </p:spPr>
        <p:txBody>
          <a:bodyPr wrap="square" lIns="0" tIns="0" rIns="0" bIns="0" rtlCol="0" anchor="ctr"/>
          <a:lstStyle/>
          <a:p>
            <a:pPr marL="0" indent="0">
              <a:buNone/>
            </a:pPr>
            <a:r>
              <a:rPr lang="en-US" sz="1200" dirty="0">
                <a:solidFill>
                  <a:schemeClr val="accent1">
                    <a:lumMod val="60000"/>
                    <a:lumOff val="40000"/>
                  </a:schemeClr>
                </a:solidFill>
                <a:latin typeface="Calibri" pitchFamily="34" charset="0"/>
                <a:ea typeface="Calibri" pitchFamily="34" charset="-122"/>
                <a:cs typeface="Calibri" pitchFamily="34" charset="-120"/>
              </a:rPr>
              <a:t>Fact table</a:t>
            </a:r>
            <a:endParaRPr lang="en-US" sz="1200" dirty="0">
              <a:solidFill>
                <a:schemeClr val="accent1">
                  <a:lumMod val="60000"/>
                  <a:lumOff val="40000"/>
                </a:schemeClr>
              </a:solidFill>
            </a:endParaRPr>
          </a:p>
        </p:txBody>
      </p:sp>
      <p:sp>
        <p:nvSpPr>
          <p:cNvPr id="54" name="Shape 52"/>
          <p:cNvSpPr/>
          <p:nvPr/>
        </p:nvSpPr>
        <p:spPr>
          <a:xfrm>
            <a:off x="548640" y="5404104"/>
            <a:ext cx="274320" cy="219456"/>
          </a:xfrm>
          <a:prstGeom prst="roundRect">
            <a:avLst>
              <a:gd name="adj" fmla="val 16667"/>
            </a:avLst>
          </a:prstGeom>
          <a:solidFill>
            <a:srgbClr val="E3EEF9"/>
          </a:solidFill>
          <a:ln w="12700">
            <a:solidFill>
              <a:srgbClr val="2F6FBF"/>
            </a:solidFill>
            <a:prstDash val="solid"/>
          </a:ln>
        </p:spPr>
      </p:sp>
      <p:sp>
        <p:nvSpPr>
          <p:cNvPr id="55" name="Text 53"/>
          <p:cNvSpPr txBox="1"/>
          <p:nvPr/>
        </p:nvSpPr>
        <p:spPr>
          <a:xfrm>
            <a:off x="987552" y="5385816"/>
            <a:ext cx="1828800" cy="256032"/>
          </a:xfrm>
          <a:prstGeom prst="rect">
            <a:avLst/>
          </a:prstGeom>
          <a:noFill/>
          <a:ln/>
        </p:spPr>
        <p:txBody>
          <a:bodyPr wrap="square" lIns="0" tIns="0" rIns="0" bIns="0" rtlCol="0" anchor="ctr"/>
          <a:lstStyle/>
          <a:p>
            <a:pPr marL="0" indent="0">
              <a:buNone/>
            </a:pPr>
            <a:r>
              <a:rPr lang="en-US" sz="1200" dirty="0">
                <a:solidFill>
                  <a:schemeClr val="accent1">
                    <a:lumMod val="60000"/>
                    <a:lumOff val="40000"/>
                  </a:schemeClr>
                </a:solidFill>
                <a:latin typeface="Calibri" pitchFamily="34" charset="0"/>
                <a:ea typeface="Calibri" pitchFamily="34" charset="-122"/>
                <a:cs typeface="Calibri" pitchFamily="34" charset="-120"/>
              </a:rPr>
              <a:t>Dimension</a:t>
            </a:r>
            <a:endParaRPr lang="en-US" sz="1200" dirty="0">
              <a:solidFill>
                <a:schemeClr val="accent1">
                  <a:lumMod val="60000"/>
                  <a:lumOff val="40000"/>
                </a:schemeClr>
              </a:solidFill>
            </a:endParaRPr>
          </a:p>
        </p:txBody>
      </p:sp>
      <p:sp>
        <p:nvSpPr>
          <p:cNvPr id="56" name="Text 54"/>
          <p:cNvSpPr txBox="1"/>
          <p:nvPr/>
        </p:nvSpPr>
        <p:spPr>
          <a:xfrm>
            <a:off x="960120" y="5715000"/>
            <a:ext cx="1828800" cy="256032"/>
          </a:xfrm>
          <a:prstGeom prst="rect">
            <a:avLst/>
          </a:prstGeom>
          <a:noFill/>
          <a:ln/>
        </p:spPr>
        <p:txBody>
          <a:bodyPr wrap="square" lIns="0" tIns="0" rIns="0" bIns="0" rtlCol="0" anchor="ctr"/>
          <a:lstStyle/>
          <a:p>
            <a:pPr marL="0" indent="0">
              <a:buNone/>
            </a:pPr>
            <a:r>
              <a:rPr lang="en-US" sz="1200" b="1" dirty="0">
                <a:solidFill>
                  <a:srgbClr val="F26B21"/>
                </a:solidFill>
                <a:latin typeface="Calibri" pitchFamily="34" charset="0"/>
                <a:ea typeface="Calibri" pitchFamily="34" charset="-122"/>
                <a:cs typeface="Calibri" pitchFamily="34" charset="-120"/>
              </a:rPr>
              <a:t>Derived field</a:t>
            </a:r>
            <a:endParaRPr lang="en-US" sz="1200" dirty="0"/>
          </a:p>
        </p:txBody>
      </p:sp>
      <p:sp>
        <p:nvSpPr>
          <p:cNvPr id="57" name="Text 55"/>
          <p:cNvSpPr txBox="1"/>
          <p:nvPr/>
        </p:nvSpPr>
        <p:spPr>
          <a:xfrm>
            <a:off x="548640" y="5715000"/>
            <a:ext cx="274320" cy="256032"/>
          </a:xfrm>
          <a:prstGeom prst="rect">
            <a:avLst/>
          </a:prstGeom>
          <a:noFill/>
          <a:ln/>
        </p:spPr>
        <p:txBody>
          <a:bodyPr wrap="square" lIns="0" tIns="0" rIns="0" bIns="0" rtlCol="0" anchor="ctr"/>
          <a:lstStyle/>
          <a:p>
            <a:pPr marL="0" indent="0">
              <a:buNone/>
            </a:pPr>
            <a:r>
              <a:rPr lang="en-US" sz="1200" b="1" dirty="0">
                <a:solidFill>
                  <a:srgbClr val="F26B21"/>
                </a:solidFill>
                <a:latin typeface="Calibri" pitchFamily="34" charset="0"/>
                <a:ea typeface="Calibri" pitchFamily="34" charset="-122"/>
                <a:cs typeface="Calibri" pitchFamily="34" charset="-120"/>
              </a:rPr>
              <a:t>Aa</a:t>
            </a:r>
            <a:endParaRPr lang="en-US" sz="1200" dirty="0"/>
          </a:p>
        </p:txBody>
      </p:sp>
      <p:sp>
        <p:nvSpPr>
          <p:cNvPr id="58" name="Text 56"/>
          <p:cNvSpPr txBox="1"/>
          <p:nvPr/>
        </p:nvSpPr>
        <p:spPr>
          <a:xfrm>
            <a:off x="9084733" y="5058325"/>
            <a:ext cx="2555579" cy="960120"/>
          </a:xfrm>
          <a:prstGeom prst="rect">
            <a:avLst/>
          </a:prstGeom>
          <a:noFill/>
          <a:ln/>
        </p:spPr>
        <p:txBody>
          <a:bodyPr wrap="square" lIns="0" tIns="0" rIns="0" bIns="0" rtlCol="0" anchor="t"/>
          <a:lstStyle/>
          <a:p>
            <a:pPr marL="0" indent="0">
              <a:spcAft>
                <a:spcPts val="400"/>
              </a:spcAft>
              <a:buNone/>
            </a:pPr>
            <a:r>
              <a:rPr lang="en-US" b="1" dirty="0">
                <a:solidFill>
                  <a:schemeClr val="accent2">
                    <a:lumMod val="40000"/>
                    <a:lumOff val="60000"/>
                  </a:schemeClr>
                </a:solidFill>
                <a:latin typeface="Calibri" pitchFamily="34" charset="0"/>
                <a:ea typeface="Calibri" pitchFamily="34" charset="-122"/>
                <a:cs typeface="Calibri" pitchFamily="34" charset="-120"/>
              </a:rPr>
              <a:t>9 raw CSVs → 4 fact +</a:t>
            </a:r>
          </a:p>
          <a:p>
            <a:pPr marL="0" indent="0">
              <a:spcAft>
                <a:spcPts val="400"/>
              </a:spcAft>
              <a:buNone/>
            </a:pPr>
            <a:r>
              <a:rPr lang="en-US" b="1" dirty="0">
                <a:solidFill>
                  <a:schemeClr val="accent2">
                    <a:lumMod val="40000"/>
                    <a:lumOff val="60000"/>
                  </a:schemeClr>
                </a:solidFill>
                <a:latin typeface="Calibri" pitchFamily="34" charset="0"/>
                <a:ea typeface="Calibri" pitchFamily="34" charset="-122"/>
                <a:cs typeface="Calibri" pitchFamily="34" charset="-120"/>
              </a:rPr>
              <a:t> 6 dimension tables</a:t>
            </a:r>
            <a:endParaRPr lang="en-US" dirty="0">
              <a:solidFill>
                <a:schemeClr val="accent2">
                  <a:lumMod val="40000"/>
                  <a:lumOff val="60000"/>
                </a:schemeClr>
              </a:solidFill>
            </a:endParaRPr>
          </a:p>
          <a:p>
            <a:pPr marL="0" indent="0">
              <a:buNone/>
            </a:pPr>
            <a:r>
              <a:rPr lang="en-US" sz="1400" dirty="0">
                <a:solidFill>
                  <a:schemeClr val="bg1"/>
                </a:solidFill>
                <a:latin typeface="Calibri" pitchFamily="34" charset="0"/>
                <a:ea typeface="Calibri" pitchFamily="34" charset="-122"/>
                <a:cs typeface="Calibri" pitchFamily="34" charset="-120"/>
              </a:rPr>
              <a:t>Derived fields carry the event logic</a:t>
            </a:r>
            <a:r>
              <a:rPr lang="en-US" sz="1400" dirty="0">
                <a:solidFill>
                  <a:srgbClr val="5B6678"/>
                </a:solidFill>
                <a:latin typeface="Calibri" pitchFamily="34" charset="0"/>
                <a:ea typeface="Calibri" pitchFamily="34" charset="-122"/>
                <a:cs typeface="Calibri" pitchFamily="34" charset="-120"/>
              </a:rPr>
              <a: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B5C063A1-9B37-89FF-B641-E1E1C4E48AF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8000"/>
                    </a14:imgEffect>
                    <a14:imgEffect>
                      <a14:colorTemperature colorTemp="3409"/>
                    </a14:imgEffect>
                    <a14:imgEffect>
                      <a14:saturation sat="50000"/>
                    </a14:imgEffect>
                    <a14:imgEffect>
                      <a14:brightnessContrast bright="-36000" contrast="-4000"/>
                    </a14:imgEffect>
                  </a14:imgLayer>
                </a14:imgProps>
              </a:ext>
            </a:extLst>
          </a:blip>
          <a:srcRect t="3716" b="7582"/>
          <a:stretch>
            <a:fillRect/>
          </a:stretch>
        </p:blipFill>
        <p:spPr>
          <a:xfrm>
            <a:off x="-15240" y="-63795"/>
            <a:ext cx="12207240" cy="6921795"/>
          </a:xfrm>
          <a:prstGeom prst="rect">
            <a:avLst/>
          </a:prstGeom>
          <a:effectLst>
            <a:glow rad="127000">
              <a:schemeClr val="accent1">
                <a:alpha val="11000"/>
              </a:schemeClr>
            </a:glow>
            <a:outerShdw blurRad="50800" dist="50800" dir="5400000" algn="ctr" rotWithShape="0">
              <a:srgbClr val="000000">
                <a:alpha val="0"/>
              </a:srgbClr>
            </a:outerShdw>
          </a:effectLst>
        </p:spPr>
      </p:pic>
      <p:sp>
        <p:nvSpPr>
          <p:cNvPr id="2" name="Text 0"/>
          <p:cNvSpPr txBox="1"/>
          <p:nvPr/>
        </p:nvSpPr>
        <p:spPr>
          <a:xfrm>
            <a:off x="548640" y="347472"/>
            <a:ext cx="731520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04  ·  INSIGHTS  ›  ANALYSIS RESULTS  (1 OF 2)</a:t>
            </a:r>
            <a:endParaRPr lang="en-US" sz="1200" dirty="0"/>
          </a:p>
        </p:txBody>
      </p:sp>
      <p:sp>
        <p:nvSpPr>
          <p:cNvPr id="3" name="Text 1"/>
          <p:cNvSpPr txBox="1"/>
          <p:nvPr/>
        </p:nvSpPr>
        <p:spPr>
          <a:xfrm>
            <a:off x="548640" y="621792"/>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Did Black Friday lift sales and change the basket?</a:t>
            </a:r>
            <a:endParaRPr lang="en-US" sz="3000" dirty="0"/>
          </a:p>
        </p:txBody>
      </p:sp>
      <p:sp>
        <p:nvSpPr>
          <p:cNvPr id="4" name="Shape 2"/>
          <p:cNvSpPr/>
          <p:nvPr/>
        </p:nvSpPr>
        <p:spPr>
          <a:xfrm>
            <a:off x="576072" y="6483096"/>
            <a:ext cx="128016" cy="128016"/>
          </a:xfrm>
          <a:prstGeom prst="ellipse">
            <a:avLst/>
          </a:prstGeom>
          <a:solidFill>
            <a:srgbClr val="0B1F3A"/>
          </a:solidFill>
          <a:ln w="12700">
            <a:solidFill>
              <a:srgbClr val="0B1F3A"/>
            </a:solidFill>
            <a:prstDash val="solid"/>
          </a:ln>
        </p:spPr>
      </p:sp>
      <p:sp>
        <p:nvSpPr>
          <p:cNvPr id="5" name="Text 3"/>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Introduction</a:t>
            </a:r>
            <a:endParaRPr lang="en-US" sz="1050" dirty="0"/>
          </a:p>
        </p:txBody>
      </p:sp>
      <p:sp>
        <p:nvSpPr>
          <p:cNvPr id="6" name="Shape 4"/>
          <p:cNvSpPr/>
          <p:nvPr/>
        </p:nvSpPr>
        <p:spPr>
          <a:xfrm>
            <a:off x="2039112" y="6483096"/>
            <a:ext cx="128016" cy="128016"/>
          </a:xfrm>
          <a:prstGeom prst="ellipse">
            <a:avLst/>
          </a:prstGeom>
          <a:solidFill>
            <a:srgbClr val="0B1F3A"/>
          </a:solidFill>
          <a:ln w="12700">
            <a:solidFill>
              <a:srgbClr val="0B1F3A"/>
            </a:solidFill>
            <a:prstDash val="solid"/>
          </a:ln>
        </p:spPr>
      </p:sp>
      <p:sp>
        <p:nvSpPr>
          <p:cNvPr id="7" name="Text 5"/>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Problem</a:t>
            </a:r>
            <a:endParaRPr lang="en-US" sz="1050" dirty="0"/>
          </a:p>
        </p:txBody>
      </p:sp>
      <p:sp>
        <p:nvSpPr>
          <p:cNvPr id="8" name="Shape 6"/>
          <p:cNvSpPr/>
          <p:nvPr/>
        </p:nvSpPr>
        <p:spPr>
          <a:xfrm>
            <a:off x="3182112" y="6483096"/>
            <a:ext cx="128016" cy="128016"/>
          </a:xfrm>
          <a:prstGeom prst="ellipse">
            <a:avLst/>
          </a:prstGeom>
          <a:solidFill>
            <a:srgbClr val="0B1F3A"/>
          </a:solidFill>
          <a:ln w="12700">
            <a:solidFill>
              <a:srgbClr val="0B1F3A"/>
            </a:solidFill>
            <a:prstDash val="solid"/>
          </a:ln>
        </p:spPr>
      </p:sp>
      <p:sp>
        <p:nvSpPr>
          <p:cNvPr id="9" name="Text 7"/>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Solution</a:t>
            </a:r>
            <a:endParaRPr lang="en-US" sz="1050" dirty="0"/>
          </a:p>
        </p:txBody>
      </p:sp>
      <p:sp>
        <p:nvSpPr>
          <p:cNvPr id="10" name="Shape 8"/>
          <p:cNvSpPr/>
          <p:nvPr/>
        </p:nvSpPr>
        <p:spPr>
          <a:xfrm>
            <a:off x="4270248" y="6391656"/>
            <a:ext cx="1097280" cy="310896"/>
          </a:xfrm>
          <a:prstGeom prst="roundRect">
            <a:avLst>
              <a:gd name="adj" fmla="val 50000"/>
            </a:avLst>
          </a:prstGeom>
          <a:solidFill>
            <a:srgbClr val="FDE8DA"/>
          </a:solidFill>
          <a:ln w="6350">
            <a:solidFill>
              <a:srgbClr val="FDE8DA"/>
            </a:solidFill>
            <a:prstDash val="solid"/>
          </a:ln>
        </p:spPr>
      </p:sp>
      <p:sp>
        <p:nvSpPr>
          <p:cNvPr id="11" name="Shape 9"/>
          <p:cNvSpPr/>
          <p:nvPr/>
        </p:nvSpPr>
        <p:spPr>
          <a:xfrm>
            <a:off x="4370832" y="6483096"/>
            <a:ext cx="128016" cy="128016"/>
          </a:xfrm>
          <a:prstGeom prst="ellipse">
            <a:avLst/>
          </a:prstGeom>
          <a:solidFill>
            <a:srgbClr val="F26B21"/>
          </a:solidFill>
          <a:ln w="12700">
            <a:solidFill>
              <a:srgbClr val="F26B21"/>
            </a:solidFill>
            <a:prstDash val="solid"/>
          </a:ln>
        </p:spPr>
      </p:sp>
      <p:sp>
        <p:nvSpPr>
          <p:cNvPr id="12" name="Text 10"/>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Insights</a:t>
            </a:r>
            <a:endParaRPr lang="en-US" sz="1100" dirty="0"/>
          </a:p>
        </p:txBody>
      </p:sp>
      <p:sp>
        <p:nvSpPr>
          <p:cNvPr id="13" name="Shape 11"/>
          <p:cNvSpPr/>
          <p:nvPr/>
        </p:nvSpPr>
        <p:spPr>
          <a:xfrm>
            <a:off x="5559552" y="6483096"/>
            <a:ext cx="128016" cy="128016"/>
          </a:xfrm>
          <a:prstGeom prst="ellipse">
            <a:avLst/>
          </a:prstGeom>
          <a:solidFill>
            <a:srgbClr val="FFFFFF"/>
          </a:solidFill>
          <a:ln w="12700">
            <a:solidFill>
              <a:srgbClr val="8A94A6"/>
            </a:solidFill>
            <a:prstDash val="solid"/>
          </a:ln>
        </p:spPr>
      </p:sp>
      <p:sp>
        <p:nvSpPr>
          <p:cNvPr id="14" name="Text 12"/>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Challenges &amp; Lessons</a:t>
            </a:r>
            <a:endParaRPr lang="en-US" sz="1050" dirty="0"/>
          </a:p>
        </p:txBody>
      </p:sp>
      <p:sp>
        <p:nvSpPr>
          <p:cNvPr id="15" name="Shape 13"/>
          <p:cNvSpPr/>
          <p:nvPr/>
        </p:nvSpPr>
        <p:spPr>
          <a:xfrm>
            <a:off x="7571232" y="6483096"/>
            <a:ext cx="128016" cy="128016"/>
          </a:xfrm>
          <a:prstGeom prst="ellipse">
            <a:avLst/>
          </a:prstGeom>
          <a:solidFill>
            <a:srgbClr val="FFFFFF"/>
          </a:solidFill>
          <a:ln w="12700">
            <a:solidFill>
              <a:srgbClr val="8A94A6"/>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Conclusion</a:t>
            </a:r>
            <a:endParaRPr lang="en-US" sz="1050" dirty="0"/>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5B6678"/>
                </a:solidFill>
                <a:latin typeface="Calibri" pitchFamily="34" charset="0"/>
                <a:ea typeface="Calibri" pitchFamily="34" charset="-122"/>
                <a:cs typeface="Calibri" pitchFamily="34" charset="-120"/>
              </a:rPr>
              <a:t>8</a:t>
            </a:r>
            <a:endParaRPr lang="en-US" sz="1000" dirty="0"/>
          </a:p>
        </p:txBody>
      </p:sp>
      <p:sp>
        <p:nvSpPr>
          <p:cNvPr id="18" name="Shape 16"/>
          <p:cNvSpPr/>
          <p:nvPr/>
        </p:nvSpPr>
        <p:spPr>
          <a:xfrm>
            <a:off x="6035040" y="411480"/>
            <a:ext cx="146304" cy="146304"/>
          </a:xfrm>
          <a:prstGeom prst="ellipse">
            <a:avLst/>
          </a:prstGeom>
          <a:solidFill>
            <a:srgbClr val="2F6FBF"/>
          </a:solidFill>
          <a:ln w="6350">
            <a:solidFill>
              <a:srgbClr val="2F6FBF"/>
            </a:solidFill>
            <a:prstDash val="solid"/>
          </a:ln>
        </p:spPr>
      </p:sp>
      <p:sp>
        <p:nvSpPr>
          <p:cNvPr id="19" name="Text 17"/>
          <p:cNvSpPr txBox="1"/>
          <p:nvPr/>
        </p:nvSpPr>
        <p:spPr>
          <a:xfrm>
            <a:off x="6254496" y="365760"/>
            <a:ext cx="1097280" cy="237744"/>
          </a:xfrm>
          <a:prstGeom prst="rect">
            <a:avLst/>
          </a:prstGeom>
          <a:noFill/>
          <a:ln/>
        </p:spPr>
        <p:txBody>
          <a:bodyPr wrap="square" lIns="0" tIns="0" rIns="0" bIns="0" rtlCol="0" anchor="ctr"/>
          <a:lstStyle/>
          <a:p>
            <a:pPr marL="0" indent="0">
              <a:buNone/>
            </a:pPr>
            <a:r>
              <a:rPr lang="en-US" sz="1100" dirty="0">
                <a:solidFill>
                  <a:srgbClr val="5B6678"/>
                </a:solidFill>
                <a:latin typeface="Calibri" pitchFamily="34" charset="0"/>
                <a:ea typeface="Calibri" pitchFamily="34" charset="-122"/>
                <a:cs typeface="Calibri" pitchFamily="34" charset="-120"/>
              </a:rPr>
              <a:t>Normal period</a:t>
            </a:r>
            <a:endParaRPr lang="en-US" sz="1100" dirty="0"/>
          </a:p>
        </p:txBody>
      </p:sp>
      <p:sp>
        <p:nvSpPr>
          <p:cNvPr id="20" name="Shape 18"/>
          <p:cNvSpPr/>
          <p:nvPr/>
        </p:nvSpPr>
        <p:spPr>
          <a:xfrm>
            <a:off x="7406640" y="411480"/>
            <a:ext cx="146304" cy="146304"/>
          </a:xfrm>
          <a:prstGeom prst="ellipse">
            <a:avLst/>
          </a:prstGeom>
          <a:solidFill>
            <a:srgbClr val="F26B21"/>
          </a:solidFill>
          <a:ln w="6350">
            <a:solidFill>
              <a:srgbClr val="F26B21"/>
            </a:solidFill>
            <a:prstDash val="solid"/>
          </a:ln>
        </p:spPr>
      </p:sp>
      <p:sp>
        <p:nvSpPr>
          <p:cNvPr id="21" name="Text 19"/>
          <p:cNvSpPr txBox="1"/>
          <p:nvPr/>
        </p:nvSpPr>
        <p:spPr>
          <a:xfrm>
            <a:off x="7626096" y="365760"/>
            <a:ext cx="1097280" cy="237744"/>
          </a:xfrm>
          <a:prstGeom prst="rect">
            <a:avLst/>
          </a:prstGeom>
          <a:noFill/>
          <a:ln/>
        </p:spPr>
        <p:txBody>
          <a:bodyPr wrap="square" lIns="0" tIns="0" rIns="0" bIns="0" rtlCol="0" anchor="ctr"/>
          <a:lstStyle/>
          <a:p>
            <a:pPr marL="0" indent="0">
              <a:buNone/>
            </a:pPr>
            <a:r>
              <a:rPr lang="en-US" sz="1100" dirty="0">
                <a:solidFill>
                  <a:srgbClr val="5B6678"/>
                </a:solidFill>
                <a:latin typeface="Calibri" pitchFamily="34" charset="0"/>
                <a:ea typeface="Calibri" pitchFamily="34" charset="-122"/>
                <a:cs typeface="Calibri" pitchFamily="34" charset="-120"/>
              </a:rPr>
              <a:t>Black Friday</a:t>
            </a:r>
            <a:endParaRPr lang="en-US" sz="1100" dirty="0"/>
          </a:p>
        </p:txBody>
      </p:sp>
      <p:sp>
        <p:nvSpPr>
          <p:cNvPr id="22" name="Shape 20"/>
          <p:cNvSpPr/>
          <p:nvPr/>
        </p:nvSpPr>
        <p:spPr>
          <a:xfrm>
            <a:off x="8778240" y="411480"/>
            <a:ext cx="146304" cy="146304"/>
          </a:xfrm>
          <a:prstGeom prst="ellipse">
            <a:avLst/>
          </a:prstGeom>
          <a:solidFill>
            <a:srgbClr val="8A94A6"/>
          </a:solidFill>
          <a:ln w="6350">
            <a:solidFill>
              <a:srgbClr val="8A94A6"/>
            </a:solidFill>
            <a:prstDash val="solid"/>
          </a:ln>
        </p:spPr>
      </p:sp>
      <p:sp>
        <p:nvSpPr>
          <p:cNvPr id="23" name="Text 21"/>
          <p:cNvSpPr txBox="1"/>
          <p:nvPr/>
        </p:nvSpPr>
        <p:spPr>
          <a:xfrm>
            <a:off x="8997696" y="365760"/>
            <a:ext cx="1097280" cy="237744"/>
          </a:xfrm>
          <a:prstGeom prst="rect">
            <a:avLst/>
          </a:prstGeom>
          <a:noFill/>
          <a:ln/>
        </p:spPr>
        <p:txBody>
          <a:bodyPr wrap="square" lIns="0" tIns="0" rIns="0" bIns="0" rtlCol="0" anchor="ctr"/>
          <a:lstStyle/>
          <a:p>
            <a:pPr marL="0" indent="0">
              <a:buNone/>
            </a:pPr>
            <a:r>
              <a:rPr lang="en-US" sz="1100" dirty="0">
                <a:solidFill>
                  <a:srgbClr val="5B6678"/>
                </a:solidFill>
                <a:latin typeface="Calibri" pitchFamily="34" charset="0"/>
                <a:ea typeface="Calibri" pitchFamily="34" charset="-122"/>
                <a:cs typeface="Calibri" pitchFamily="34" charset="-120"/>
              </a:rPr>
              <a:t>Post-event</a:t>
            </a:r>
            <a:endParaRPr lang="en-US" sz="1100" dirty="0"/>
          </a:p>
        </p:txBody>
      </p:sp>
      <p:sp>
        <p:nvSpPr>
          <p:cNvPr id="24" name="Shape 22"/>
          <p:cNvSpPr/>
          <p:nvPr/>
        </p:nvSpPr>
        <p:spPr>
          <a:xfrm>
            <a:off x="548640" y="1554480"/>
            <a:ext cx="3566160" cy="4434840"/>
          </a:xfrm>
          <a:prstGeom prst="roundRect">
            <a:avLst>
              <a:gd name="adj" fmla="val 2564"/>
            </a:avLst>
          </a:prstGeom>
          <a:solidFill>
            <a:srgbClr val="F1F4F9"/>
          </a:solidFill>
          <a:ln w="6350">
            <a:solidFill>
              <a:srgbClr val="F1F4F9"/>
            </a:solidFill>
            <a:prstDash val="solid"/>
          </a:ln>
        </p:spPr>
      </p:sp>
      <p:sp>
        <p:nvSpPr>
          <p:cNvPr id="25" name="Shape 23"/>
          <p:cNvSpPr/>
          <p:nvPr/>
        </p:nvSpPr>
        <p:spPr>
          <a:xfrm>
            <a:off x="777240" y="1783080"/>
            <a:ext cx="548640" cy="548640"/>
          </a:xfrm>
          <a:prstGeom prst="ellipse">
            <a:avLst/>
          </a:prstGeom>
          <a:solidFill>
            <a:srgbClr val="0B1F3A"/>
          </a:solidFill>
          <a:ln w="6350">
            <a:solidFill>
              <a:srgbClr val="0B1F3A"/>
            </a:solidFill>
            <a:prstDash val="solid"/>
          </a:ln>
        </p:spPr>
      </p:sp>
      <p:pic>
        <p:nvPicPr>
          <p:cNvPr id="26" name="Image 0" descr="preencoded.png"/>
          <p:cNvPicPr>
            <a:picLocks noChangeAspect="1"/>
          </p:cNvPicPr>
          <p:nvPr/>
        </p:nvPicPr>
        <p:blipFill>
          <a:blip r:embed="rId6"/>
          <a:stretch>
            <a:fillRect/>
          </a:stretch>
        </p:blipFill>
        <p:spPr>
          <a:xfrm>
            <a:off x="925373" y="1931213"/>
            <a:ext cx="252374" cy="252374"/>
          </a:xfrm>
          <a:prstGeom prst="rect">
            <a:avLst/>
          </a:prstGeom>
        </p:spPr>
      </p:pic>
      <p:sp>
        <p:nvSpPr>
          <p:cNvPr id="27" name="Text 24"/>
          <p:cNvSpPr txBox="1"/>
          <p:nvPr/>
        </p:nvSpPr>
        <p:spPr>
          <a:xfrm>
            <a:off x="1508760" y="1783080"/>
            <a:ext cx="2468880" cy="54864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Volume &amp; revenue</a:t>
            </a:r>
            <a:endParaRPr lang="en-US" sz="1700" dirty="0"/>
          </a:p>
        </p:txBody>
      </p:sp>
      <p:sp>
        <p:nvSpPr>
          <p:cNvPr id="28" name="Text 25"/>
          <p:cNvSpPr txBox="1"/>
          <p:nvPr/>
        </p:nvSpPr>
        <p:spPr>
          <a:xfrm>
            <a:off x="777240" y="2514600"/>
            <a:ext cx="3108960" cy="457200"/>
          </a:xfrm>
          <a:prstGeom prst="rect">
            <a:avLst/>
          </a:prstGeom>
          <a:noFill/>
          <a:ln/>
        </p:spPr>
        <p:txBody>
          <a:bodyPr wrap="square" lIns="0" tIns="0" rIns="0" bIns="0" rtlCol="0" anchor="t"/>
          <a:lstStyle/>
          <a:p>
            <a:pPr marL="0" indent="0">
              <a:buNone/>
            </a:pPr>
            <a:r>
              <a:rPr lang="en-US" sz="1350" b="1" dirty="0">
                <a:solidFill>
                  <a:srgbClr val="1A2233"/>
                </a:solidFill>
                <a:latin typeface="Calibri" pitchFamily="34" charset="0"/>
                <a:ea typeface="Calibri" pitchFamily="34" charset="-122"/>
                <a:cs typeface="Calibri" pitchFamily="34" charset="-120"/>
              </a:rPr>
              <a:t>Do orders and revenue spike during the event?</a:t>
            </a:r>
            <a:endParaRPr lang="en-US" sz="1350" dirty="0"/>
          </a:p>
        </p:txBody>
      </p:sp>
      <p:sp>
        <p:nvSpPr>
          <p:cNvPr id="29" name="Text 26"/>
          <p:cNvSpPr txBox="1"/>
          <p:nvPr/>
        </p:nvSpPr>
        <p:spPr>
          <a:xfrm>
            <a:off x="777240" y="3017520"/>
            <a:ext cx="3108960" cy="457200"/>
          </a:xfrm>
          <a:prstGeom prst="rect">
            <a:avLst/>
          </a:prstGeom>
          <a:noFill/>
          <a:ln/>
        </p:spPr>
        <p:txBody>
          <a:bodyPr wrap="square" lIns="0" tIns="0" rIns="0" bIns="0" rtlCol="0" anchor="t"/>
          <a:lstStyle/>
          <a:p>
            <a:pPr marL="0" indent="0">
              <a:buNone/>
            </a:pPr>
            <a:r>
              <a:rPr lang="en-US" sz="1150" dirty="0">
                <a:solidFill>
                  <a:srgbClr val="5B6678"/>
                </a:solidFill>
                <a:latin typeface="Calibri" pitchFamily="34" charset="0"/>
                <a:ea typeface="Calibri" pitchFamily="34" charset="-122"/>
                <a:cs typeface="Calibri" pitchFamily="34" charset="-120"/>
              </a:rPr>
              <a:t>Measured: order count and gross sales, event window vs normal weeks</a:t>
            </a:r>
            <a:endParaRPr lang="en-US" sz="1150" dirty="0"/>
          </a:p>
        </p:txBody>
      </p:sp>
      <p:sp>
        <p:nvSpPr>
          <p:cNvPr id="30" name="Shape 27"/>
          <p:cNvSpPr/>
          <p:nvPr/>
        </p:nvSpPr>
        <p:spPr>
          <a:xfrm>
            <a:off x="777240" y="3566160"/>
            <a:ext cx="3108960" cy="1508760"/>
          </a:xfrm>
          <a:prstGeom prst="rect">
            <a:avLst/>
          </a:prstGeom>
          <a:solidFill>
            <a:srgbClr val="F8FAFD"/>
          </a:solidFill>
          <a:ln w="15875">
            <a:solidFill>
              <a:srgbClr val="8A94A6"/>
            </a:solidFill>
            <a:prstDash val="dash"/>
          </a:ln>
        </p:spPr>
      </p:sp>
      <p:sp>
        <p:nvSpPr>
          <p:cNvPr id="31" name="Text 28"/>
          <p:cNvSpPr txBox="1"/>
          <p:nvPr/>
        </p:nvSpPr>
        <p:spPr>
          <a:xfrm>
            <a:off x="777240" y="3566160"/>
            <a:ext cx="3108960" cy="1508760"/>
          </a:xfrm>
          <a:prstGeom prst="rect">
            <a:avLst/>
          </a:prstGeom>
          <a:noFill/>
          <a:ln/>
        </p:spPr>
        <p:txBody>
          <a:bodyPr wrap="square" lIns="0" tIns="0" rIns="0" bIns="0" rtlCol="0" anchor="ctr"/>
          <a:lstStyle/>
          <a:p>
            <a:pPr marL="0" indent="0" algn="ctr">
              <a:buNone/>
            </a:pPr>
            <a:r>
              <a:rPr lang="en-US" sz="1200" i="1" dirty="0">
                <a:solidFill>
                  <a:srgbClr val="5B6678"/>
                </a:solidFill>
                <a:latin typeface="Calibri" pitchFamily="34" charset="0"/>
                <a:ea typeface="Calibri" pitchFamily="34" charset="-122"/>
                <a:cs typeface="Calibri" pitchFamily="34" charset="-120"/>
              </a:rPr>
              <a:t>Chart: daily orders and revenue</a:t>
            </a:r>
            <a:endParaRPr lang="en-US" sz="1200" dirty="0"/>
          </a:p>
        </p:txBody>
      </p:sp>
      <p:sp>
        <p:nvSpPr>
          <p:cNvPr id="32" name="Text 29"/>
          <p:cNvSpPr txBox="1"/>
          <p:nvPr/>
        </p:nvSpPr>
        <p:spPr>
          <a:xfrm>
            <a:off x="777240" y="5212080"/>
            <a:ext cx="3108960" cy="64008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Finding:  </a:t>
            </a:r>
            <a:r>
              <a:rPr lang="en-US" sz="1300" dirty="0">
                <a:solidFill>
                  <a:srgbClr val="1A2233"/>
                </a:solidFill>
                <a:highlight>
                  <a:srgbClr val="FFF1A8"/>
                </a:highlight>
                <a:latin typeface="Calibri" pitchFamily="34" charset="0"/>
                <a:ea typeface="Calibri" pitchFamily="34" charset="-122"/>
                <a:cs typeface="Calibri" pitchFamily="34" charset="-120"/>
              </a:rPr>
              <a:t>[headline result, e.g. peak day = X times normal daily orders]</a:t>
            </a:r>
            <a:endParaRPr lang="en-US" sz="1300" dirty="0"/>
          </a:p>
        </p:txBody>
      </p:sp>
      <p:sp>
        <p:nvSpPr>
          <p:cNvPr id="33" name="Shape 30"/>
          <p:cNvSpPr/>
          <p:nvPr/>
        </p:nvSpPr>
        <p:spPr>
          <a:xfrm>
            <a:off x="4297680" y="1554480"/>
            <a:ext cx="3566160" cy="4434840"/>
          </a:xfrm>
          <a:prstGeom prst="roundRect">
            <a:avLst>
              <a:gd name="adj" fmla="val 2564"/>
            </a:avLst>
          </a:prstGeom>
          <a:solidFill>
            <a:srgbClr val="F1F4F9"/>
          </a:solidFill>
          <a:ln w="6350">
            <a:solidFill>
              <a:srgbClr val="F1F4F9"/>
            </a:solidFill>
            <a:prstDash val="solid"/>
          </a:ln>
        </p:spPr>
      </p:sp>
      <p:sp>
        <p:nvSpPr>
          <p:cNvPr id="34" name="Shape 31"/>
          <p:cNvSpPr/>
          <p:nvPr/>
        </p:nvSpPr>
        <p:spPr>
          <a:xfrm>
            <a:off x="4526280" y="1783080"/>
            <a:ext cx="548640" cy="548640"/>
          </a:xfrm>
          <a:prstGeom prst="ellipse">
            <a:avLst/>
          </a:prstGeom>
          <a:solidFill>
            <a:srgbClr val="0B1F3A"/>
          </a:solidFill>
          <a:ln w="6350">
            <a:solidFill>
              <a:srgbClr val="0B1F3A"/>
            </a:solidFill>
            <a:prstDash val="solid"/>
          </a:ln>
        </p:spPr>
      </p:sp>
      <p:pic>
        <p:nvPicPr>
          <p:cNvPr id="35" name="Image 1" descr="preencoded.png"/>
          <p:cNvPicPr>
            <a:picLocks noChangeAspect="1"/>
          </p:cNvPicPr>
          <p:nvPr/>
        </p:nvPicPr>
        <p:blipFill>
          <a:blip r:embed="rId7"/>
          <a:stretch>
            <a:fillRect/>
          </a:stretch>
        </p:blipFill>
        <p:spPr>
          <a:xfrm>
            <a:off x="4674413" y="1931213"/>
            <a:ext cx="252374" cy="252374"/>
          </a:xfrm>
          <a:prstGeom prst="rect">
            <a:avLst/>
          </a:prstGeom>
        </p:spPr>
      </p:pic>
      <p:sp>
        <p:nvSpPr>
          <p:cNvPr id="36" name="Text 32"/>
          <p:cNvSpPr txBox="1"/>
          <p:nvPr/>
        </p:nvSpPr>
        <p:spPr>
          <a:xfrm>
            <a:off x="5257800" y="1783080"/>
            <a:ext cx="2468880" cy="54864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Average order value</a:t>
            </a:r>
            <a:endParaRPr lang="en-US" sz="1700" dirty="0"/>
          </a:p>
        </p:txBody>
      </p:sp>
      <p:sp>
        <p:nvSpPr>
          <p:cNvPr id="37" name="Text 33"/>
          <p:cNvSpPr txBox="1"/>
          <p:nvPr/>
        </p:nvSpPr>
        <p:spPr>
          <a:xfrm>
            <a:off x="4526280" y="2514600"/>
            <a:ext cx="3108960" cy="457200"/>
          </a:xfrm>
          <a:prstGeom prst="rect">
            <a:avLst/>
          </a:prstGeom>
          <a:noFill/>
          <a:ln/>
        </p:spPr>
        <p:txBody>
          <a:bodyPr wrap="square" lIns="0" tIns="0" rIns="0" bIns="0" rtlCol="0" anchor="t"/>
          <a:lstStyle/>
          <a:p>
            <a:pPr marL="0" indent="0">
              <a:buNone/>
            </a:pPr>
            <a:r>
              <a:rPr lang="en-US" sz="1350" b="1" dirty="0">
                <a:solidFill>
                  <a:srgbClr val="1A2233"/>
                </a:solidFill>
                <a:latin typeface="Calibri" pitchFamily="34" charset="0"/>
                <a:ea typeface="Calibri" pitchFamily="34" charset="-122"/>
                <a:cs typeface="Calibri" pitchFamily="34" charset="-120"/>
              </a:rPr>
              <a:t>Does the size of the basket change?</a:t>
            </a:r>
            <a:endParaRPr lang="en-US" sz="1350" dirty="0"/>
          </a:p>
        </p:txBody>
      </p:sp>
      <p:sp>
        <p:nvSpPr>
          <p:cNvPr id="38" name="Text 34"/>
          <p:cNvSpPr txBox="1"/>
          <p:nvPr/>
        </p:nvSpPr>
        <p:spPr>
          <a:xfrm>
            <a:off x="4526280" y="3017520"/>
            <a:ext cx="3108960" cy="457200"/>
          </a:xfrm>
          <a:prstGeom prst="rect">
            <a:avLst/>
          </a:prstGeom>
          <a:noFill/>
          <a:ln/>
        </p:spPr>
        <p:txBody>
          <a:bodyPr wrap="square" lIns="0" tIns="0" rIns="0" bIns="0" rtlCol="0" anchor="t"/>
          <a:lstStyle/>
          <a:p>
            <a:pPr marL="0" indent="0">
              <a:buNone/>
            </a:pPr>
            <a:r>
              <a:rPr lang="en-US" sz="1150" dirty="0">
                <a:solidFill>
                  <a:srgbClr val="5B6678"/>
                </a:solidFill>
                <a:latin typeface="Calibri" pitchFamily="34" charset="0"/>
                <a:ea typeface="Calibri" pitchFamily="34" charset="-122"/>
                <a:cs typeface="Calibri" pitchFamily="34" charset="-120"/>
              </a:rPr>
              <a:t>Measured: AOV = gross sales ÷ number of orders</a:t>
            </a:r>
            <a:endParaRPr lang="en-US" sz="1150" dirty="0"/>
          </a:p>
        </p:txBody>
      </p:sp>
      <p:sp>
        <p:nvSpPr>
          <p:cNvPr id="39" name="Shape 35"/>
          <p:cNvSpPr/>
          <p:nvPr/>
        </p:nvSpPr>
        <p:spPr>
          <a:xfrm>
            <a:off x="4526280" y="3566160"/>
            <a:ext cx="3108960" cy="1508760"/>
          </a:xfrm>
          <a:prstGeom prst="rect">
            <a:avLst/>
          </a:prstGeom>
          <a:solidFill>
            <a:srgbClr val="F8FAFD"/>
          </a:solidFill>
          <a:ln w="15875">
            <a:solidFill>
              <a:srgbClr val="8A94A6"/>
            </a:solidFill>
            <a:prstDash val="dash"/>
          </a:ln>
        </p:spPr>
      </p:sp>
      <p:sp>
        <p:nvSpPr>
          <p:cNvPr id="40" name="Text 36"/>
          <p:cNvSpPr txBox="1"/>
          <p:nvPr/>
        </p:nvSpPr>
        <p:spPr>
          <a:xfrm>
            <a:off x="4526280" y="3566160"/>
            <a:ext cx="3108960" cy="1508760"/>
          </a:xfrm>
          <a:prstGeom prst="rect">
            <a:avLst/>
          </a:prstGeom>
          <a:noFill/>
          <a:ln/>
        </p:spPr>
        <p:txBody>
          <a:bodyPr wrap="square" lIns="0" tIns="0" rIns="0" bIns="0" rtlCol="0" anchor="ctr"/>
          <a:lstStyle/>
          <a:p>
            <a:pPr marL="0" indent="0" algn="ctr">
              <a:buNone/>
            </a:pPr>
            <a:r>
              <a:rPr lang="en-US" sz="1200" i="1" dirty="0">
                <a:solidFill>
                  <a:srgbClr val="5B6678"/>
                </a:solidFill>
                <a:latin typeface="Calibri" pitchFamily="34" charset="0"/>
                <a:ea typeface="Calibri" pitchFamily="34" charset="-122"/>
                <a:cs typeface="Calibri" pitchFamily="34" charset="-120"/>
              </a:rPr>
              <a:t>Chart: AOV by period</a:t>
            </a:r>
            <a:endParaRPr lang="en-US" sz="1200" dirty="0"/>
          </a:p>
        </p:txBody>
      </p:sp>
      <p:sp>
        <p:nvSpPr>
          <p:cNvPr id="41" name="Text 37"/>
          <p:cNvSpPr txBox="1"/>
          <p:nvPr/>
        </p:nvSpPr>
        <p:spPr>
          <a:xfrm>
            <a:off x="4526280" y="5212080"/>
            <a:ext cx="3108960" cy="64008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Finding:  </a:t>
            </a:r>
            <a:r>
              <a:rPr lang="en-US" sz="1300" dirty="0">
                <a:solidFill>
                  <a:srgbClr val="1A2233"/>
                </a:solidFill>
                <a:highlight>
                  <a:srgbClr val="FFF1A8"/>
                </a:highlight>
                <a:latin typeface="Calibri" pitchFamily="34" charset="0"/>
                <a:ea typeface="Calibri" pitchFamily="34" charset="-122"/>
                <a:cs typeface="Calibri" pitchFamily="34" charset="-120"/>
              </a:rPr>
              <a:t>[AOV up / down / flat by X%]</a:t>
            </a:r>
            <a:endParaRPr lang="en-US" sz="1300" dirty="0"/>
          </a:p>
        </p:txBody>
      </p:sp>
      <p:sp>
        <p:nvSpPr>
          <p:cNvPr id="42" name="Shape 38"/>
          <p:cNvSpPr/>
          <p:nvPr/>
        </p:nvSpPr>
        <p:spPr>
          <a:xfrm>
            <a:off x="8046720" y="1554480"/>
            <a:ext cx="3566160" cy="4434840"/>
          </a:xfrm>
          <a:prstGeom prst="roundRect">
            <a:avLst>
              <a:gd name="adj" fmla="val 2564"/>
            </a:avLst>
          </a:prstGeom>
          <a:solidFill>
            <a:srgbClr val="F1F4F9"/>
          </a:solidFill>
          <a:ln w="6350">
            <a:solidFill>
              <a:srgbClr val="F1F4F9"/>
            </a:solidFill>
            <a:prstDash val="solid"/>
          </a:ln>
        </p:spPr>
      </p:sp>
      <p:sp>
        <p:nvSpPr>
          <p:cNvPr id="43" name="Shape 39"/>
          <p:cNvSpPr/>
          <p:nvPr/>
        </p:nvSpPr>
        <p:spPr>
          <a:xfrm>
            <a:off x="8275320" y="1783080"/>
            <a:ext cx="548640" cy="548640"/>
          </a:xfrm>
          <a:prstGeom prst="ellipse">
            <a:avLst/>
          </a:prstGeom>
          <a:solidFill>
            <a:srgbClr val="0B1F3A"/>
          </a:solidFill>
          <a:ln w="6350">
            <a:solidFill>
              <a:srgbClr val="0B1F3A"/>
            </a:solidFill>
            <a:prstDash val="solid"/>
          </a:ln>
        </p:spPr>
      </p:sp>
      <p:pic>
        <p:nvPicPr>
          <p:cNvPr id="44" name="Image 2" descr="preencoded.png"/>
          <p:cNvPicPr>
            <a:picLocks noChangeAspect="1"/>
          </p:cNvPicPr>
          <p:nvPr/>
        </p:nvPicPr>
        <p:blipFill>
          <a:blip r:embed="rId8"/>
          <a:stretch>
            <a:fillRect/>
          </a:stretch>
        </p:blipFill>
        <p:spPr>
          <a:xfrm>
            <a:off x="8423453" y="1931213"/>
            <a:ext cx="252374" cy="252374"/>
          </a:xfrm>
          <a:prstGeom prst="rect">
            <a:avLst/>
          </a:prstGeom>
        </p:spPr>
      </p:pic>
      <p:sp>
        <p:nvSpPr>
          <p:cNvPr id="45" name="Text 40"/>
          <p:cNvSpPr txBox="1"/>
          <p:nvPr/>
        </p:nvSpPr>
        <p:spPr>
          <a:xfrm>
            <a:off x="9006840" y="1783080"/>
            <a:ext cx="2468880" cy="54864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Category mix &amp; pricing</a:t>
            </a:r>
            <a:endParaRPr lang="en-US" sz="1700" dirty="0"/>
          </a:p>
        </p:txBody>
      </p:sp>
      <p:sp>
        <p:nvSpPr>
          <p:cNvPr id="46" name="Text 41"/>
          <p:cNvSpPr txBox="1"/>
          <p:nvPr/>
        </p:nvSpPr>
        <p:spPr>
          <a:xfrm>
            <a:off x="8275320" y="2514600"/>
            <a:ext cx="3108960" cy="457200"/>
          </a:xfrm>
          <a:prstGeom prst="rect">
            <a:avLst/>
          </a:prstGeom>
          <a:noFill/>
          <a:ln/>
        </p:spPr>
        <p:txBody>
          <a:bodyPr wrap="square" lIns="0" tIns="0" rIns="0" bIns="0" rtlCol="0" anchor="t"/>
          <a:lstStyle/>
          <a:p>
            <a:pPr marL="0" indent="0">
              <a:buNone/>
            </a:pPr>
            <a:r>
              <a:rPr lang="en-US" sz="1350" b="1" dirty="0">
                <a:solidFill>
                  <a:srgbClr val="1A2233"/>
                </a:solidFill>
                <a:latin typeface="Calibri" pitchFamily="34" charset="0"/>
                <a:ea typeface="Calibri" pitchFamily="34" charset="-122"/>
                <a:cs typeface="Calibri" pitchFamily="34" charset="-120"/>
              </a:rPr>
              <a:t>Do customers buy different products, at real discounts?</a:t>
            </a:r>
            <a:endParaRPr lang="en-US" sz="1350" dirty="0"/>
          </a:p>
        </p:txBody>
      </p:sp>
      <p:sp>
        <p:nvSpPr>
          <p:cNvPr id="47" name="Text 42"/>
          <p:cNvSpPr txBox="1"/>
          <p:nvPr/>
        </p:nvSpPr>
        <p:spPr>
          <a:xfrm>
            <a:off x="8275320" y="3017520"/>
            <a:ext cx="3108960" cy="457200"/>
          </a:xfrm>
          <a:prstGeom prst="rect">
            <a:avLst/>
          </a:prstGeom>
          <a:noFill/>
          <a:ln/>
        </p:spPr>
        <p:txBody>
          <a:bodyPr wrap="square" lIns="0" tIns="0" rIns="0" bIns="0" rtlCol="0" anchor="t"/>
          <a:lstStyle/>
          <a:p>
            <a:pPr marL="0" indent="0">
              <a:buNone/>
            </a:pPr>
            <a:r>
              <a:rPr lang="en-US" sz="1150" dirty="0">
                <a:solidFill>
                  <a:srgbClr val="5B6678"/>
                </a:solidFill>
                <a:latin typeface="Calibri" pitchFamily="34" charset="0"/>
                <a:ea typeface="Calibri" pitchFamily="34" charset="-122"/>
                <a:cs typeface="Calibri" pitchFamily="34" charset="-120"/>
              </a:rPr>
              <a:t>Measured: category share of gross sales; price vs baseline</a:t>
            </a:r>
            <a:endParaRPr lang="en-US" sz="1150" dirty="0"/>
          </a:p>
        </p:txBody>
      </p:sp>
      <p:sp>
        <p:nvSpPr>
          <p:cNvPr id="48" name="Shape 43"/>
          <p:cNvSpPr/>
          <p:nvPr/>
        </p:nvSpPr>
        <p:spPr>
          <a:xfrm>
            <a:off x="8275320" y="3566160"/>
            <a:ext cx="3108960" cy="1508760"/>
          </a:xfrm>
          <a:prstGeom prst="rect">
            <a:avLst/>
          </a:prstGeom>
          <a:solidFill>
            <a:srgbClr val="F8FAFD"/>
          </a:solidFill>
          <a:ln w="15875">
            <a:solidFill>
              <a:srgbClr val="8A94A6"/>
            </a:solidFill>
            <a:prstDash val="dash"/>
          </a:ln>
        </p:spPr>
      </p:sp>
      <p:sp>
        <p:nvSpPr>
          <p:cNvPr id="49" name="Text 44"/>
          <p:cNvSpPr txBox="1"/>
          <p:nvPr/>
        </p:nvSpPr>
        <p:spPr>
          <a:xfrm>
            <a:off x="8275320" y="3566160"/>
            <a:ext cx="3108960" cy="1508760"/>
          </a:xfrm>
          <a:prstGeom prst="rect">
            <a:avLst/>
          </a:prstGeom>
          <a:noFill/>
          <a:ln/>
        </p:spPr>
        <p:txBody>
          <a:bodyPr wrap="square" lIns="0" tIns="0" rIns="0" bIns="0" rtlCol="0" anchor="ctr"/>
          <a:lstStyle/>
          <a:p>
            <a:pPr marL="0" indent="0" algn="ctr">
              <a:buNone/>
            </a:pPr>
            <a:r>
              <a:rPr lang="en-US" sz="1200" i="1" dirty="0">
                <a:solidFill>
                  <a:srgbClr val="5B6678"/>
                </a:solidFill>
                <a:latin typeface="Calibri" pitchFamily="34" charset="0"/>
                <a:ea typeface="Calibri" pitchFamily="34" charset="-122"/>
                <a:cs typeface="Calibri" pitchFamily="34" charset="-120"/>
              </a:rPr>
              <a:t>Chart: category share shift</a:t>
            </a:r>
            <a:endParaRPr lang="en-US" sz="1200" dirty="0"/>
          </a:p>
        </p:txBody>
      </p:sp>
      <p:sp>
        <p:nvSpPr>
          <p:cNvPr id="50" name="Text 45"/>
          <p:cNvSpPr txBox="1"/>
          <p:nvPr/>
        </p:nvSpPr>
        <p:spPr>
          <a:xfrm>
            <a:off x="8275320" y="5212080"/>
            <a:ext cx="3108960" cy="64008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Finding:  </a:t>
            </a:r>
            <a:r>
              <a:rPr lang="en-US" sz="1300" dirty="0">
                <a:solidFill>
                  <a:srgbClr val="1A2233"/>
                </a:solidFill>
                <a:highlight>
                  <a:srgbClr val="FFF1A8"/>
                </a:highlight>
                <a:latin typeface="Calibri" pitchFamily="34" charset="0"/>
                <a:ea typeface="Calibri" pitchFamily="34" charset="-122"/>
                <a:cs typeface="Calibri" pitchFamily="34" charset="-120"/>
              </a:rPr>
              <a:t>[top categories and true discount level]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C553F2FF-64C3-A7FB-59BC-FABCB651634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8000"/>
                    </a14:imgEffect>
                    <a14:imgEffect>
                      <a14:colorTemperature colorTemp="3409"/>
                    </a14:imgEffect>
                    <a14:imgEffect>
                      <a14:saturation sat="50000"/>
                    </a14:imgEffect>
                    <a14:imgEffect>
                      <a14:brightnessContrast bright="-36000" contrast="-4000"/>
                    </a14:imgEffect>
                  </a14:imgLayer>
                </a14:imgProps>
              </a:ext>
            </a:extLst>
          </a:blip>
          <a:srcRect t="3716" b="7582"/>
          <a:stretch>
            <a:fillRect/>
          </a:stretch>
        </p:blipFill>
        <p:spPr>
          <a:xfrm>
            <a:off x="-15240" y="-63795"/>
            <a:ext cx="12207240" cy="6921795"/>
          </a:xfrm>
          <a:prstGeom prst="rect">
            <a:avLst/>
          </a:prstGeom>
          <a:effectLst>
            <a:glow rad="127000">
              <a:schemeClr val="accent1">
                <a:alpha val="11000"/>
              </a:schemeClr>
            </a:glow>
            <a:outerShdw blurRad="50800" dist="50800" dir="5400000" algn="ctr" rotWithShape="0">
              <a:srgbClr val="000000">
                <a:alpha val="0"/>
              </a:srgbClr>
            </a:outerShdw>
          </a:effectLst>
        </p:spPr>
      </p:pic>
      <p:sp>
        <p:nvSpPr>
          <p:cNvPr id="2" name="Text 0"/>
          <p:cNvSpPr txBox="1"/>
          <p:nvPr/>
        </p:nvSpPr>
        <p:spPr>
          <a:xfrm>
            <a:off x="548640" y="347472"/>
            <a:ext cx="731520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04  ·  INSIGHTS  ›  ANALYSIS RESULTS  (2 OF 2)</a:t>
            </a:r>
            <a:endParaRPr lang="en-US" sz="1200" dirty="0"/>
          </a:p>
        </p:txBody>
      </p:sp>
      <p:sp>
        <p:nvSpPr>
          <p:cNvPr id="3" name="Text 1"/>
          <p:cNvSpPr txBox="1"/>
          <p:nvPr/>
        </p:nvSpPr>
        <p:spPr>
          <a:xfrm>
            <a:off x="548640" y="621792"/>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Who bought, how we delivered, how they felt</a:t>
            </a:r>
            <a:endParaRPr lang="en-US" sz="3000" dirty="0"/>
          </a:p>
        </p:txBody>
      </p:sp>
      <p:sp>
        <p:nvSpPr>
          <p:cNvPr id="4" name="Shape 2"/>
          <p:cNvSpPr/>
          <p:nvPr/>
        </p:nvSpPr>
        <p:spPr>
          <a:xfrm>
            <a:off x="576072" y="6483096"/>
            <a:ext cx="128016" cy="128016"/>
          </a:xfrm>
          <a:prstGeom prst="ellipse">
            <a:avLst/>
          </a:prstGeom>
          <a:solidFill>
            <a:srgbClr val="0B1F3A"/>
          </a:solidFill>
          <a:ln w="12700">
            <a:solidFill>
              <a:srgbClr val="0B1F3A"/>
            </a:solidFill>
            <a:prstDash val="solid"/>
          </a:ln>
        </p:spPr>
      </p:sp>
      <p:sp>
        <p:nvSpPr>
          <p:cNvPr id="5" name="Text 3"/>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Introduction</a:t>
            </a:r>
            <a:endParaRPr lang="en-US" sz="1050" dirty="0"/>
          </a:p>
        </p:txBody>
      </p:sp>
      <p:sp>
        <p:nvSpPr>
          <p:cNvPr id="6" name="Shape 4"/>
          <p:cNvSpPr/>
          <p:nvPr/>
        </p:nvSpPr>
        <p:spPr>
          <a:xfrm>
            <a:off x="2039112" y="6483096"/>
            <a:ext cx="128016" cy="128016"/>
          </a:xfrm>
          <a:prstGeom prst="ellipse">
            <a:avLst/>
          </a:prstGeom>
          <a:solidFill>
            <a:srgbClr val="0B1F3A"/>
          </a:solidFill>
          <a:ln w="12700">
            <a:solidFill>
              <a:srgbClr val="0B1F3A"/>
            </a:solidFill>
            <a:prstDash val="solid"/>
          </a:ln>
        </p:spPr>
      </p:sp>
      <p:sp>
        <p:nvSpPr>
          <p:cNvPr id="7" name="Text 5"/>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Problem</a:t>
            </a:r>
            <a:endParaRPr lang="en-US" sz="1050" dirty="0"/>
          </a:p>
        </p:txBody>
      </p:sp>
      <p:sp>
        <p:nvSpPr>
          <p:cNvPr id="8" name="Shape 6"/>
          <p:cNvSpPr/>
          <p:nvPr/>
        </p:nvSpPr>
        <p:spPr>
          <a:xfrm>
            <a:off x="3182112" y="6483096"/>
            <a:ext cx="128016" cy="128016"/>
          </a:xfrm>
          <a:prstGeom prst="ellipse">
            <a:avLst/>
          </a:prstGeom>
          <a:solidFill>
            <a:srgbClr val="0B1F3A"/>
          </a:solidFill>
          <a:ln w="12700">
            <a:solidFill>
              <a:srgbClr val="0B1F3A"/>
            </a:solidFill>
            <a:prstDash val="solid"/>
          </a:ln>
        </p:spPr>
      </p:sp>
      <p:sp>
        <p:nvSpPr>
          <p:cNvPr id="9" name="Text 7"/>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Solution</a:t>
            </a:r>
            <a:endParaRPr lang="en-US" sz="1050" dirty="0"/>
          </a:p>
        </p:txBody>
      </p:sp>
      <p:sp>
        <p:nvSpPr>
          <p:cNvPr id="10" name="Shape 8"/>
          <p:cNvSpPr/>
          <p:nvPr/>
        </p:nvSpPr>
        <p:spPr>
          <a:xfrm>
            <a:off x="4270248" y="6391656"/>
            <a:ext cx="1097280" cy="310896"/>
          </a:xfrm>
          <a:prstGeom prst="roundRect">
            <a:avLst>
              <a:gd name="adj" fmla="val 50000"/>
            </a:avLst>
          </a:prstGeom>
          <a:solidFill>
            <a:srgbClr val="FDE8DA"/>
          </a:solidFill>
          <a:ln w="6350">
            <a:solidFill>
              <a:srgbClr val="FDE8DA"/>
            </a:solidFill>
            <a:prstDash val="solid"/>
          </a:ln>
        </p:spPr>
      </p:sp>
      <p:sp>
        <p:nvSpPr>
          <p:cNvPr id="11" name="Shape 9"/>
          <p:cNvSpPr/>
          <p:nvPr/>
        </p:nvSpPr>
        <p:spPr>
          <a:xfrm>
            <a:off x="4370832" y="6483096"/>
            <a:ext cx="128016" cy="128016"/>
          </a:xfrm>
          <a:prstGeom prst="ellipse">
            <a:avLst/>
          </a:prstGeom>
          <a:solidFill>
            <a:srgbClr val="F26B21"/>
          </a:solidFill>
          <a:ln w="12700">
            <a:solidFill>
              <a:srgbClr val="F26B21"/>
            </a:solidFill>
            <a:prstDash val="solid"/>
          </a:ln>
        </p:spPr>
      </p:sp>
      <p:sp>
        <p:nvSpPr>
          <p:cNvPr id="12" name="Text 10"/>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Insights</a:t>
            </a:r>
            <a:endParaRPr lang="en-US" sz="1100" dirty="0"/>
          </a:p>
        </p:txBody>
      </p:sp>
      <p:sp>
        <p:nvSpPr>
          <p:cNvPr id="13" name="Shape 11"/>
          <p:cNvSpPr/>
          <p:nvPr/>
        </p:nvSpPr>
        <p:spPr>
          <a:xfrm>
            <a:off x="5559552" y="6483096"/>
            <a:ext cx="128016" cy="128016"/>
          </a:xfrm>
          <a:prstGeom prst="ellipse">
            <a:avLst/>
          </a:prstGeom>
          <a:solidFill>
            <a:srgbClr val="FFFFFF"/>
          </a:solidFill>
          <a:ln w="12700">
            <a:solidFill>
              <a:srgbClr val="8A94A6"/>
            </a:solidFill>
            <a:prstDash val="solid"/>
          </a:ln>
        </p:spPr>
      </p:sp>
      <p:sp>
        <p:nvSpPr>
          <p:cNvPr id="14" name="Text 12"/>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Challenges &amp; Lessons</a:t>
            </a:r>
            <a:endParaRPr lang="en-US" sz="1050" dirty="0"/>
          </a:p>
        </p:txBody>
      </p:sp>
      <p:sp>
        <p:nvSpPr>
          <p:cNvPr id="15" name="Shape 13"/>
          <p:cNvSpPr/>
          <p:nvPr/>
        </p:nvSpPr>
        <p:spPr>
          <a:xfrm>
            <a:off x="7571232" y="6483096"/>
            <a:ext cx="128016" cy="128016"/>
          </a:xfrm>
          <a:prstGeom prst="ellipse">
            <a:avLst/>
          </a:prstGeom>
          <a:solidFill>
            <a:srgbClr val="FFFFFF"/>
          </a:solidFill>
          <a:ln w="12700">
            <a:solidFill>
              <a:srgbClr val="8A94A6"/>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Conclusion</a:t>
            </a:r>
            <a:endParaRPr lang="en-US" sz="1050" dirty="0"/>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5B6678"/>
                </a:solidFill>
                <a:latin typeface="Calibri" pitchFamily="34" charset="0"/>
                <a:ea typeface="Calibri" pitchFamily="34" charset="-122"/>
                <a:cs typeface="Calibri" pitchFamily="34" charset="-120"/>
              </a:rPr>
              <a:t>9</a:t>
            </a:r>
            <a:endParaRPr lang="en-US" sz="1000" dirty="0"/>
          </a:p>
        </p:txBody>
      </p:sp>
      <p:sp>
        <p:nvSpPr>
          <p:cNvPr id="18" name="Shape 16"/>
          <p:cNvSpPr/>
          <p:nvPr/>
        </p:nvSpPr>
        <p:spPr>
          <a:xfrm>
            <a:off x="6035040" y="411480"/>
            <a:ext cx="146304" cy="146304"/>
          </a:xfrm>
          <a:prstGeom prst="ellipse">
            <a:avLst/>
          </a:prstGeom>
          <a:solidFill>
            <a:srgbClr val="2F6FBF"/>
          </a:solidFill>
          <a:ln w="6350">
            <a:solidFill>
              <a:srgbClr val="2F6FBF"/>
            </a:solidFill>
            <a:prstDash val="solid"/>
          </a:ln>
        </p:spPr>
      </p:sp>
      <p:sp>
        <p:nvSpPr>
          <p:cNvPr id="19" name="Text 17"/>
          <p:cNvSpPr txBox="1"/>
          <p:nvPr/>
        </p:nvSpPr>
        <p:spPr>
          <a:xfrm>
            <a:off x="6254496" y="365760"/>
            <a:ext cx="1097280" cy="237744"/>
          </a:xfrm>
          <a:prstGeom prst="rect">
            <a:avLst/>
          </a:prstGeom>
          <a:noFill/>
          <a:ln/>
        </p:spPr>
        <p:txBody>
          <a:bodyPr wrap="square" lIns="0" tIns="0" rIns="0" bIns="0" rtlCol="0" anchor="ctr"/>
          <a:lstStyle/>
          <a:p>
            <a:pPr marL="0" indent="0">
              <a:buNone/>
            </a:pPr>
            <a:r>
              <a:rPr lang="en-US" sz="1100" dirty="0">
                <a:solidFill>
                  <a:srgbClr val="5B6678"/>
                </a:solidFill>
                <a:latin typeface="Calibri" pitchFamily="34" charset="0"/>
                <a:ea typeface="Calibri" pitchFamily="34" charset="-122"/>
                <a:cs typeface="Calibri" pitchFamily="34" charset="-120"/>
              </a:rPr>
              <a:t>Normal period</a:t>
            </a:r>
            <a:endParaRPr lang="en-US" sz="1100" dirty="0"/>
          </a:p>
        </p:txBody>
      </p:sp>
      <p:sp>
        <p:nvSpPr>
          <p:cNvPr id="20" name="Shape 18"/>
          <p:cNvSpPr/>
          <p:nvPr/>
        </p:nvSpPr>
        <p:spPr>
          <a:xfrm>
            <a:off x="7406640" y="411480"/>
            <a:ext cx="146304" cy="146304"/>
          </a:xfrm>
          <a:prstGeom prst="ellipse">
            <a:avLst/>
          </a:prstGeom>
          <a:solidFill>
            <a:srgbClr val="F26B21"/>
          </a:solidFill>
          <a:ln w="6350">
            <a:solidFill>
              <a:srgbClr val="F26B21"/>
            </a:solidFill>
            <a:prstDash val="solid"/>
          </a:ln>
        </p:spPr>
      </p:sp>
      <p:sp>
        <p:nvSpPr>
          <p:cNvPr id="21" name="Text 19"/>
          <p:cNvSpPr txBox="1"/>
          <p:nvPr/>
        </p:nvSpPr>
        <p:spPr>
          <a:xfrm>
            <a:off x="7626096" y="365760"/>
            <a:ext cx="1097280" cy="237744"/>
          </a:xfrm>
          <a:prstGeom prst="rect">
            <a:avLst/>
          </a:prstGeom>
          <a:noFill/>
          <a:ln/>
        </p:spPr>
        <p:txBody>
          <a:bodyPr wrap="square" lIns="0" tIns="0" rIns="0" bIns="0" rtlCol="0" anchor="ctr"/>
          <a:lstStyle/>
          <a:p>
            <a:pPr marL="0" indent="0">
              <a:buNone/>
            </a:pPr>
            <a:r>
              <a:rPr lang="en-US" sz="1100" dirty="0">
                <a:solidFill>
                  <a:srgbClr val="5B6678"/>
                </a:solidFill>
                <a:latin typeface="Calibri" pitchFamily="34" charset="0"/>
                <a:ea typeface="Calibri" pitchFamily="34" charset="-122"/>
                <a:cs typeface="Calibri" pitchFamily="34" charset="-120"/>
              </a:rPr>
              <a:t>Black Friday</a:t>
            </a:r>
            <a:endParaRPr lang="en-US" sz="1100" dirty="0"/>
          </a:p>
        </p:txBody>
      </p:sp>
      <p:sp>
        <p:nvSpPr>
          <p:cNvPr id="22" name="Shape 20"/>
          <p:cNvSpPr/>
          <p:nvPr/>
        </p:nvSpPr>
        <p:spPr>
          <a:xfrm>
            <a:off x="8778240" y="411480"/>
            <a:ext cx="146304" cy="146304"/>
          </a:xfrm>
          <a:prstGeom prst="ellipse">
            <a:avLst/>
          </a:prstGeom>
          <a:solidFill>
            <a:srgbClr val="8A94A6"/>
          </a:solidFill>
          <a:ln w="6350">
            <a:solidFill>
              <a:srgbClr val="8A94A6"/>
            </a:solidFill>
            <a:prstDash val="solid"/>
          </a:ln>
        </p:spPr>
      </p:sp>
      <p:sp>
        <p:nvSpPr>
          <p:cNvPr id="23" name="Text 21"/>
          <p:cNvSpPr txBox="1"/>
          <p:nvPr/>
        </p:nvSpPr>
        <p:spPr>
          <a:xfrm>
            <a:off x="8997696" y="365760"/>
            <a:ext cx="1097280" cy="237744"/>
          </a:xfrm>
          <a:prstGeom prst="rect">
            <a:avLst/>
          </a:prstGeom>
          <a:noFill/>
          <a:ln/>
        </p:spPr>
        <p:txBody>
          <a:bodyPr wrap="square" lIns="0" tIns="0" rIns="0" bIns="0" rtlCol="0" anchor="ctr"/>
          <a:lstStyle/>
          <a:p>
            <a:pPr marL="0" indent="0">
              <a:buNone/>
            </a:pPr>
            <a:r>
              <a:rPr lang="en-US" sz="1100" dirty="0">
                <a:solidFill>
                  <a:srgbClr val="5B6678"/>
                </a:solidFill>
                <a:latin typeface="Calibri" pitchFamily="34" charset="0"/>
                <a:ea typeface="Calibri" pitchFamily="34" charset="-122"/>
                <a:cs typeface="Calibri" pitchFamily="34" charset="-120"/>
              </a:rPr>
              <a:t>Post-event</a:t>
            </a:r>
            <a:endParaRPr lang="en-US" sz="1100" dirty="0"/>
          </a:p>
        </p:txBody>
      </p:sp>
      <p:sp>
        <p:nvSpPr>
          <p:cNvPr id="24" name="Shape 22"/>
          <p:cNvSpPr/>
          <p:nvPr/>
        </p:nvSpPr>
        <p:spPr>
          <a:xfrm>
            <a:off x="548640" y="1554480"/>
            <a:ext cx="3566160" cy="4434840"/>
          </a:xfrm>
          <a:prstGeom prst="roundRect">
            <a:avLst>
              <a:gd name="adj" fmla="val 2564"/>
            </a:avLst>
          </a:prstGeom>
          <a:solidFill>
            <a:srgbClr val="F1F4F9"/>
          </a:solidFill>
          <a:ln w="6350">
            <a:solidFill>
              <a:srgbClr val="F1F4F9"/>
            </a:solidFill>
            <a:prstDash val="solid"/>
          </a:ln>
        </p:spPr>
      </p:sp>
      <p:sp>
        <p:nvSpPr>
          <p:cNvPr id="25" name="Shape 23"/>
          <p:cNvSpPr/>
          <p:nvPr/>
        </p:nvSpPr>
        <p:spPr>
          <a:xfrm>
            <a:off x="777240" y="1783080"/>
            <a:ext cx="548640" cy="548640"/>
          </a:xfrm>
          <a:prstGeom prst="ellipse">
            <a:avLst/>
          </a:prstGeom>
          <a:solidFill>
            <a:srgbClr val="0B1F3A"/>
          </a:solidFill>
          <a:ln w="6350">
            <a:solidFill>
              <a:srgbClr val="0B1F3A"/>
            </a:solidFill>
            <a:prstDash val="solid"/>
          </a:ln>
        </p:spPr>
      </p:sp>
      <p:pic>
        <p:nvPicPr>
          <p:cNvPr id="26" name="Image 0" descr="preencoded.png"/>
          <p:cNvPicPr>
            <a:picLocks noChangeAspect="1"/>
          </p:cNvPicPr>
          <p:nvPr/>
        </p:nvPicPr>
        <p:blipFill>
          <a:blip r:embed="rId6"/>
          <a:stretch>
            <a:fillRect/>
          </a:stretch>
        </p:blipFill>
        <p:spPr>
          <a:xfrm>
            <a:off x="925373" y="1931213"/>
            <a:ext cx="252374" cy="252374"/>
          </a:xfrm>
          <a:prstGeom prst="rect">
            <a:avLst/>
          </a:prstGeom>
        </p:spPr>
      </p:pic>
      <p:sp>
        <p:nvSpPr>
          <p:cNvPr id="27" name="Text 24"/>
          <p:cNvSpPr txBox="1"/>
          <p:nvPr/>
        </p:nvSpPr>
        <p:spPr>
          <a:xfrm>
            <a:off x="1508760" y="1783080"/>
            <a:ext cx="2468880" cy="54864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New vs returning</a:t>
            </a:r>
            <a:endParaRPr lang="en-US" sz="1700" dirty="0"/>
          </a:p>
        </p:txBody>
      </p:sp>
      <p:sp>
        <p:nvSpPr>
          <p:cNvPr id="28" name="Text 25"/>
          <p:cNvSpPr txBox="1"/>
          <p:nvPr/>
        </p:nvSpPr>
        <p:spPr>
          <a:xfrm>
            <a:off x="777240" y="2514600"/>
            <a:ext cx="3108960" cy="457200"/>
          </a:xfrm>
          <a:prstGeom prst="rect">
            <a:avLst/>
          </a:prstGeom>
          <a:noFill/>
          <a:ln/>
        </p:spPr>
        <p:txBody>
          <a:bodyPr wrap="square" lIns="0" tIns="0" rIns="0" bIns="0" rtlCol="0" anchor="t"/>
          <a:lstStyle/>
          <a:p>
            <a:pPr marL="0" indent="0">
              <a:buNone/>
            </a:pPr>
            <a:r>
              <a:rPr lang="en-US" sz="1350" b="1" dirty="0">
                <a:solidFill>
                  <a:srgbClr val="1A2233"/>
                </a:solidFill>
                <a:latin typeface="Calibri" pitchFamily="34" charset="0"/>
                <a:ea typeface="Calibri" pitchFamily="34" charset="-122"/>
                <a:cs typeface="Calibri" pitchFamily="34" charset="-120"/>
              </a:rPr>
              <a:t>Does the event attract first-time buyers?</a:t>
            </a:r>
            <a:endParaRPr lang="en-US" sz="1350" dirty="0"/>
          </a:p>
        </p:txBody>
      </p:sp>
      <p:sp>
        <p:nvSpPr>
          <p:cNvPr id="29" name="Text 26"/>
          <p:cNvSpPr txBox="1"/>
          <p:nvPr/>
        </p:nvSpPr>
        <p:spPr>
          <a:xfrm>
            <a:off x="777240" y="3017520"/>
            <a:ext cx="3108960" cy="457200"/>
          </a:xfrm>
          <a:prstGeom prst="rect">
            <a:avLst/>
          </a:prstGeom>
          <a:noFill/>
          <a:ln/>
        </p:spPr>
        <p:txBody>
          <a:bodyPr wrap="square" lIns="0" tIns="0" rIns="0" bIns="0" rtlCol="0" anchor="t"/>
          <a:lstStyle/>
          <a:p>
            <a:pPr marL="0" indent="0">
              <a:buNone/>
            </a:pPr>
            <a:r>
              <a:rPr lang="en-US" sz="1150" dirty="0">
                <a:solidFill>
                  <a:srgbClr val="5B6678"/>
                </a:solidFill>
                <a:latin typeface="Calibri" pitchFamily="34" charset="0"/>
                <a:ea typeface="Calibri" pitchFamily="34" charset="-122"/>
                <a:cs typeface="Calibri" pitchFamily="34" charset="-120"/>
              </a:rPr>
              <a:t>Measured: new_customer_flag from first purchase date</a:t>
            </a:r>
            <a:endParaRPr lang="en-US" sz="1150" dirty="0"/>
          </a:p>
        </p:txBody>
      </p:sp>
      <p:sp>
        <p:nvSpPr>
          <p:cNvPr id="30" name="Shape 27"/>
          <p:cNvSpPr/>
          <p:nvPr/>
        </p:nvSpPr>
        <p:spPr>
          <a:xfrm>
            <a:off x="777240" y="3566160"/>
            <a:ext cx="3108960" cy="1508760"/>
          </a:xfrm>
          <a:prstGeom prst="rect">
            <a:avLst/>
          </a:prstGeom>
          <a:solidFill>
            <a:srgbClr val="F8FAFD"/>
          </a:solidFill>
          <a:ln w="15875">
            <a:solidFill>
              <a:srgbClr val="8A94A6"/>
            </a:solidFill>
            <a:prstDash val="dash"/>
          </a:ln>
        </p:spPr>
      </p:sp>
      <p:sp>
        <p:nvSpPr>
          <p:cNvPr id="31" name="Text 28"/>
          <p:cNvSpPr txBox="1"/>
          <p:nvPr/>
        </p:nvSpPr>
        <p:spPr>
          <a:xfrm>
            <a:off x="777240" y="3566160"/>
            <a:ext cx="3108960" cy="1508760"/>
          </a:xfrm>
          <a:prstGeom prst="rect">
            <a:avLst/>
          </a:prstGeom>
          <a:noFill/>
          <a:ln/>
        </p:spPr>
        <p:txBody>
          <a:bodyPr wrap="square" lIns="0" tIns="0" rIns="0" bIns="0" rtlCol="0" anchor="ctr"/>
          <a:lstStyle/>
          <a:p>
            <a:pPr marL="0" indent="0" algn="ctr">
              <a:buNone/>
            </a:pPr>
            <a:r>
              <a:rPr lang="en-US" sz="1200" i="1" dirty="0">
                <a:solidFill>
                  <a:srgbClr val="5B6678"/>
                </a:solidFill>
                <a:latin typeface="Calibri" pitchFamily="34" charset="0"/>
                <a:ea typeface="Calibri" pitchFamily="34" charset="-122"/>
                <a:cs typeface="Calibri" pitchFamily="34" charset="-120"/>
              </a:rPr>
              <a:t>Chart: new vs returning share</a:t>
            </a:r>
            <a:endParaRPr lang="en-US" sz="1200" dirty="0"/>
          </a:p>
        </p:txBody>
      </p:sp>
      <p:sp>
        <p:nvSpPr>
          <p:cNvPr id="32" name="Text 29"/>
          <p:cNvSpPr txBox="1"/>
          <p:nvPr/>
        </p:nvSpPr>
        <p:spPr>
          <a:xfrm>
            <a:off x="777240" y="5212080"/>
            <a:ext cx="3108960" cy="64008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Finding:  </a:t>
            </a:r>
            <a:r>
              <a:rPr lang="en-US" sz="1300" dirty="0">
                <a:solidFill>
                  <a:srgbClr val="1A2233"/>
                </a:solidFill>
                <a:highlight>
                  <a:srgbClr val="FFF1A8"/>
                </a:highlight>
                <a:latin typeface="Calibri" pitchFamily="34" charset="0"/>
                <a:ea typeface="Calibri" pitchFamily="34" charset="-122"/>
                <a:cs typeface="Calibri" pitchFamily="34" charset="-120"/>
              </a:rPr>
              <a:t>[X% of event buyers were new]</a:t>
            </a:r>
            <a:endParaRPr lang="en-US" sz="1300" dirty="0"/>
          </a:p>
        </p:txBody>
      </p:sp>
      <p:sp>
        <p:nvSpPr>
          <p:cNvPr id="33" name="Shape 30"/>
          <p:cNvSpPr/>
          <p:nvPr/>
        </p:nvSpPr>
        <p:spPr>
          <a:xfrm>
            <a:off x="4297680" y="1554480"/>
            <a:ext cx="3566160" cy="4434840"/>
          </a:xfrm>
          <a:prstGeom prst="roundRect">
            <a:avLst>
              <a:gd name="adj" fmla="val 2564"/>
            </a:avLst>
          </a:prstGeom>
          <a:solidFill>
            <a:srgbClr val="F1F4F9"/>
          </a:solidFill>
          <a:ln w="6350">
            <a:solidFill>
              <a:srgbClr val="F1F4F9"/>
            </a:solidFill>
            <a:prstDash val="solid"/>
          </a:ln>
        </p:spPr>
      </p:sp>
      <p:sp>
        <p:nvSpPr>
          <p:cNvPr id="34" name="Shape 31"/>
          <p:cNvSpPr/>
          <p:nvPr/>
        </p:nvSpPr>
        <p:spPr>
          <a:xfrm>
            <a:off x="4526280" y="1783080"/>
            <a:ext cx="548640" cy="548640"/>
          </a:xfrm>
          <a:prstGeom prst="ellipse">
            <a:avLst/>
          </a:prstGeom>
          <a:solidFill>
            <a:srgbClr val="0B1F3A"/>
          </a:solidFill>
          <a:ln w="6350">
            <a:solidFill>
              <a:srgbClr val="0B1F3A"/>
            </a:solidFill>
            <a:prstDash val="solid"/>
          </a:ln>
        </p:spPr>
      </p:sp>
      <p:pic>
        <p:nvPicPr>
          <p:cNvPr id="35" name="Image 1" descr="preencoded.png"/>
          <p:cNvPicPr>
            <a:picLocks noChangeAspect="1"/>
          </p:cNvPicPr>
          <p:nvPr/>
        </p:nvPicPr>
        <p:blipFill>
          <a:blip r:embed="rId7"/>
          <a:stretch>
            <a:fillRect/>
          </a:stretch>
        </p:blipFill>
        <p:spPr>
          <a:xfrm>
            <a:off x="4674413" y="1931213"/>
            <a:ext cx="252374" cy="252374"/>
          </a:xfrm>
          <a:prstGeom prst="rect">
            <a:avLst/>
          </a:prstGeom>
        </p:spPr>
      </p:pic>
      <p:sp>
        <p:nvSpPr>
          <p:cNvPr id="36" name="Text 32"/>
          <p:cNvSpPr txBox="1"/>
          <p:nvPr/>
        </p:nvSpPr>
        <p:spPr>
          <a:xfrm>
            <a:off x="5257800" y="1783080"/>
            <a:ext cx="2468880" cy="54864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Delivery &amp; freight</a:t>
            </a:r>
            <a:endParaRPr lang="en-US" sz="1700" dirty="0"/>
          </a:p>
        </p:txBody>
      </p:sp>
      <p:sp>
        <p:nvSpPr>
          <p:cNvPr id="37" name="Text 33"/>
          <p:cNvSpPr txBox="1"/>
          <p:nvPr/>
        </p:nvSpPr>
        <p:spPr>
          <a:xfrm>
            <a:off x="4526280" y="2514600"/>
            <a:ext cx="3108960" cy="457200"/>
          </a:xfrm>
          <a:prstGeom prst="rect">
            <a:avLst/>
          </a:prstGeom>
          <a:noFill/>
          <a:ln/>
        </p:spPr>
        <p:txBody>
          <a:bodyPr wrap="square" lIns="0" tIns="0" rIns="0" bIns="0" rtlCol="0" anchor="t"/>
          <a:lstStyle/>
          <a:p>
            <a:pPr marL="0" indent="0">
              <a:buNone/>
            </a:pPr>
            <a:r>
              <a:rPr lang="en-US" sz="1350" b="1" dirty="0">
                <a:solidFill>
                  <a:srgbClr val="1A2233"/>
                </a:solidFill>
                <a:latin typeface="Calibri" pitchFamily="34" charset="0"/>
                <a:ea typeface="Calibri" pitchFamily="34" charset="-122"/>
                <a:cs typeface="Calibri" pitchFamily="34" charset="-120"/>
              </a:rPr>
              <a:t>Does fulfilment slip under peak load?</a:t>
            </a:r>
            <a:endParaRPr lang="en-US" sz="1350" dirty="0"/>
          </a:p>
        </p:txBody>
      </p:sp>
      <p:sp>
        <p:nvSpPr>
          <p:cNvPr id="38" name="Text 34"/>
          <p:cNvSpPr txBox="1"/>
          <p:nvPr/>
        </p:nvSpPr>
        <p:spPr>
          <a:xfrm>
            <a:off x="4526280" y="3017520"/>
            <a:ext cx="3108960" cy="457200"/>
          </a:xfrm>
          <a:prstGeom prst="rect">
            <a:avLst/>
          </a:prstGeom>
          <a:noFill/>
          <a:ln/>
        </p:spPr>
        <p:txBody>
          <a:bodyPr wrap="square" lIns="0" tIns="0" rIns="0" bIns="0" rtlCol="0" anchor="t"/>
          <a:lstStyle/>
          <a:p>
            <a:pPr marL="0" indent="0">
              <a:buNone/>
            </a:pPr>
            <a:r>
              <a:rPr lang="en-US" sz="1150" dirty="0">
                <a:solidFill>
                  <a:srgbClr val="5B6678"/>
                </a:solidFill>
                <a:latin typeface="Calibri" pitchFamily="34" charset="0"/>
                <a:ea typeface="Calibri" pitchFamily="34" charset="-122"/>
                <a:cs typeface="Calibri" pitchFamily="34" charset="-120"/>
              </a:rPr>
              <a:t>Measured: delivery delay days (delivered − estimated); freight value</a:t>
            </a:r>
            <a:endParaRPr lang="en-US" sz="1150" dirty="0"/>
          </a:p>
        </p:txBody>
      </p:sp>
      <p:sp>
        <p:nvSpPr>
          <p:cNvPr id="39" name="Shape 35"/>
          <p:cNvSpPr/>
          <p:nvPr/>
        </p:nvSpPr>
        <p:spPr>
          <a:xfrm>
            <a:off x="4526280" y="3566160"/>
            <a:ext cx="3108960" cy="1508760"/>
          </a:xfrm>
          <a:prstGeom prst="rect">
            <a:avLst/>
          </a:prstGeom>
          <a:solidFill>
            <a:srgbClr val="F8FAFD"/>
          </a:solidFill>
          <a:ln w="15875">
            <a:solidFill>
              <a:srgbClr val="8A94A6"/>
            </a:solidFill>
            <a:prstDash val="dash"/>
          </a:ln>
        </p:spPr>
      </p:sp>
      <p:sp>
        <p:nvSpPr>
          <p:cNvPr id="40" name="Text 36"/>
          <p:cNvSpPr txBox="1"/>
          <p:nvPr/>
        </p:nvSpPr>
        <p:spPr>
          <a:xfrm>
            <a:off x="4526280" y="3566160"/>
            <a:ext cx="3108960" cy="1508760"/>
          </a:xfrm>
          <a:prstGeom prst="rect">
            <a:avLst/>
          </a:prstGeom>
          <a:noFill/>
          <a:ln/>
        </p:spPr>
        <p:txBody>
          <a:bodyPr wrap="square" lIns="0" tIns="0" rIns="0" bIns="0" rtlCol="0" anchor="ctr"/>
          <a:lstStyle/>
          <a:p>
            <a:pPr marL="0" indent="0" algn="ctr">
              <a:buNone/>
            </a:pPr>
            <a:r>
              <a:rPr lang="en-US" sz="1200" i="1" dirty="0">
                <a:solidFill>
                  <a:srgbClr val="5B6678"/>
                </a:solidFill>
                <a:latin typeface="Calibri" pitchFamily="34" charset="0"/>
                <a:ea typeface="Calibri" pitchFamily="34" charset="-122"/>
                <a:cs typeface="Calibri" pitchFamily="34" charset="-120"/>
              </a:rPr>
              <a:t>Chart: delay days by period</a:t>
            </a:r>
            <a:endParaRPr lang="en-US" sz="1200" dirty="0"/>
          </a:p>
        </p:txBody>
      </p:sp>
      <p:sp>
        <p:nvSpPr>
          <p:cNvPr id="41" name="Text 37"/>
          <p:cNvSpPr txBox="1"/>
          <p:nvPr/>
        </p:nvSpPr>
        <p:spPr>
          <a:xfrm>
            <a:off x="4526280" y="5212080"/>
            <a:ext cx="3108960" cy="64008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Finding:  </a:t>
            </a:r>
            <a:r>
              <a:rPr lang="en-US" sz="1300" dirty="0">
                <a:solidFill>
                  <a:srgbClr val="1A2233"/>
                </a:solidFill>
                <a:highlight>
                  <a:srgbClr val="FFF1A8"/>
                </a:highlight>
                <a:latin typeface="Calibri" pitchFamily="34" charset="0"/>
                <a:ea typeface="Calibri" pitchFamily="34" charset="-122"/>
                <a:cs typeface="Calibri" pitchFamily="34" charset="-120"/>
              </a:rPr>
              <a:t>[change in delay during the event]</a:t>
            </a:r>
            <a:endParaRPr lang="en-US" sz="1300" dirty="0"/>
          </a:p>
        </p:txBody>
      </p:sp>
      <p:sp>
        <p:nvSpPr>
          <p:cNvPr id="42" name="Shape 38"/>
          <p:cNvSpPr/>
          <p:nvPr/>
        </p:nvSpPr>
        <p:spPr>
          <a:xfrm>
            <a:off x="8046720" y="1554480"/>
            <a:ext cx="3566160" cy="4434840"/>
          </a:xfrm>
          <a:prstGeom prst="roundRect">
            <a:avLst>
              <a:gd name="adj" fmla="val 2564"/>
            </a:avLst>
          </a:prstGeom>
          <a:solidFill>
            <a:srgbClr val="F1F4F9"/>
          </a:solidFill>
          <a:ln w="6350">
            <a:solidFill>
              <a:srgbClr val="F1F4F9"/>
            </a:solidFill>
            <a:prstDash val="solid"/>
          </a:ln>
        </p:spPr>
      </p:sp>
      <p:sp>
        <p:nvSpPr>
          <p:cNvPr id="43" name="Shape 39"/>
          <p:cNvSpPr/>
          <p:nvPr/>
        </p:nvSpPr>
        <p:spPr>
          <a:xfrm>
            <a:off x="8275320" y="1783080"/>
            <a:ext cx="548640" cy="548640"/>
          </a:xfrm>
          <a:prstGeom prst="ellipse">
            <a:avLst/>
          </a:prstGeom>
          <a:solidFill>
            <a:srgbClr val="0B1F3A"/>
          </a:solidFill>
          <a:ln w="6350">
            <a:solidFill>
              <a:srgbClr val="0B1F3A"/>
            </a:solidFill>
            <a:prstDash val="solid"/>
          </a:ln>
        </p:spPr>
      </p:sp>
      <p:pic>
        <p:nvPicPr>
          <p:cNvPr id="44" name="Image 2" descr="preencoded.png"/>
          <p:cNvPicPr>
            <a:picLocks noChangeAspect="1"/>
          </p:cNvPicPr>
          <p:nvPr/>
        </p:nvPicPr>
        <p:blipFill>
          <a:blip r:embed="rId8"/>
          <a:stretch>
            <a:fillRect/>
          </a:stretch>
        </p:blipFill>
        <p:spPr>
          <a:xfrm>
            <a:off x="8423453" y="1931213"/>
            <a:ext cx="252374" cy="252374"/>
          </a:xfrm>
          <a:prstGeom prst="rect">
            <a:avLst/>
          </a:prstGeom>
        </p:spPr>
      </p:pic>
      <p:sp>
        <p:nvSpPr>
          <p:cNvPr id="45" name="Text 40"/>
          <p:cNvSpPr txBox="1"/>
          <p:nvPr/>
        </p:nvSpPr>
        <p:spPr>
          <a:xfrm>
            <a:off x="9006840" y="1783080"/>
            <a:ext cx="2468880" cy="54864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Review scores</a:t>
            </a:r>
            <a:endParaRPr lang="en-US" sz="1700" dirty="0"/>
          </a:p>
        </p:txBody>
      </p:sp>
      <p:sp>
        <p:nvSpPr>
          <p:cNvPr id="46" name="Text 41"/>
          <p:cNvSpPr txBox="1"/>
          <p:nvPr/>
        </p:nvSpPr>
        <p:spPr>
          <a:xfrm>
            <a:off x="8275320" y="2514600"/>
            <a:ext cx="3108960" cy="457200"/>
          </a:xfrm>
          <a:prstGeom prst="rect">
            <a:avLst/>
          </a:prstGeom>
          <a:noFill/>
          <a:ln/>
        </p:spPr>
        <p:txBody>
          <a:bodyPr wrap="square" lIns="0" tIns="0" rIns="0" bIns="0" rtlCol="0" anchor="t"/>
          <a:lstStyle/>
          <a:p>
            <a:pPr marL="0" indent="0">
              <a:buNone/>
            </a:pPr>
            <a:r>
              <a:rPr lang="en-US" sz="1350" b="1" dirty="0">
                <a:solidFill>
                  <a:srgbClr val="1A2233"/>
                </a:solidFill>
                <a:latin typeface="Calibri" pitchFamily="34" charset="0"/>
                <a:ea typeface="Calibri" pitchFamily="34" charset="-122"/>
                <a:cs typeface="Calibri" pitchFamily="34" charset="-120"/>
              </a:rPr>
              <a:t>Is satisfaction different after the event?</a:t>
            </a:r>
            <a:endParaRPr lang="en-US" sz="1350" dirty="0"/>
          </a:p>
        </p:txBody>
      </p:sp>
      <p:sp>
        <p:nvSpPr>
          <p:cNvPr id="47" name="Text 42"/>
          <p:cNvSpPr txBox="1"/>
          <p:nvPr/>
        </p:nvSpPr>
        <p:spPr>
          <a:xfrm>
            <a:off x="8275320" y="3017520"/>
            <a:ext cx="3108960" cy="457200"/>
          </a:xfrm>
          <a:prstGeom prst="rect">
            <a:avLst/>
          </a:prstGeom>
          <a:noFill/>
          <a:ln/>
        </p:spPr>
        <p:txBody>
          <a:bodyPr wrap="square" lIns="0" tIns="0" rIns="0" bIns="0" rtlCol="0" anchor="t"/>
          <a:lstStyle/>
          <a:p>
            <a:pPr marL="0" indent="0">
              <a:buNone/>
            </a:pPr>
            <a:r>
              <a:rPr lang="en-US" sz="1150" dirty="0">
                <a:solidFill>
                  <a:srgbClr val="5B6678"/>
                </a:solidFill>
                <a:latin typeface="Calibri" pitchFamily="34" charset="0"/>
                <a:ea typeface="Calibri" pitchFamily="34" charset="-122"/>
                <a:cs typeface="Calibri" pitchFamily="34" charset="-120"/>
              </a:rPr>
              <a:t>Measured: average review score by period; delay vs score</a:t>
            </a:r>
            <a:endParaRPr lang="en-US" sz="1150" dirty="0"/>
          </a:p>
        </p:txBody>
      </p:sp>
      <p:sp>
        <p:nvSpPr>
          <p:cNvPr id="48" name="Shape 43"/>
          <p:cNvSpPr/>
          <p:nvPr/>
        </p:nvSpPr>
        <p:spPr>
          <a:xfrm>
            <a:off x="8275320" y="3566160"/>
            <a:ext cx="3108960" cy="1508760"/>
          </a:xfrm>
          <a:prstGeom prst="rect">
            <a:avLst/>
          </a:prstGeom>
          <a:solidFill>
            <a:srgbClr val="F8FAFD"/>
          </a:solidFill>
          <a:ln w="15875">
            <a:solidFill>
              <a:srgbClr val="8A94A6"/>
            </a:solidFill>
            <a:prstDash val="dash"/>
          </a:ln>
        </p:spPr>
      </p:sp>
      <p:sp>
        <p:nvSpPr>
          <p:cNvPr id="49" name="Text 44"/>
          <p:cNvSpPr txBox="1"/>
          <p:nvPr/>
        </p:nvSpPr>
        <p:spPr>
          <a:xfrm>
            <a:off x="8275320" y="3566160"/>
            <a:ext cx="3108960" cy="1508760"/>
          </a:xfrm>
          <a:prstGeom prst="rect">
            <a:avLst/>
          </a:prstGeom>
          <a:noFill/>
          <a:ln/>
        </p:spPr>
        <p:txBody>
          <a:bodyPr wrap="square" lIns="0" tIns="0" rIns="0" bIns="0" rtlCol="0" anchor="ctr"/>
          <a:lstStyle/>
          <a:p>
            <a:pPr marL="0" indent="0" algn="ctr">
              <a:buNone/>
            </a:pPr>
            <a:r>
              <a:rPr lang="en-US" sz="1200" i="1" dirty="0">
                <a:solidFill>
                  <a:srgbClr val="5B6678"/>
                </a:solidFill>
                <a:latin typeface="Calibri" pitchFamily="34" charset="0"/>
                <a:ea typeface="Calibri" pitchFamily="34" charset="-122"/>
                <a:cs typeface="Calibri" pitchFamily="34" charset="-120"/>
              </a:rPr>
              <a:t>Chart: review trend, delay vs score</a:t>
            </a:r>
            <a:endParaRPr lang="en-US" sz="1200" dirty="0"/>
          </a:p>
        </p:txBody>
      </p:sp>
      <p:sp>
        <p:nvSpPr>
          <p:cNvPr id="50" name="Text 45"/>
          <p:cNvSpPr txBox="1"/>
          <p:nvPr/>
        </p:nvSpPr>
        <p:spPr>
          <a:xfrm>
            <a:off x="8275320" y="5212080"/>
            <a:ext cx="3108960" cy="64008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Finding:  </a:t>
            </a:r>
            <a:r>
              <a:rPr lang="en-US" sz="1300" dirty="0">
                <a:solidFill>
                  <a:srgbClr val="1A2233"/>
                </a:solidFill>
                <a:highlight>
                  <a:srgbClr val="FFF1A8"/>
                </a:highlight>
                <a:latin typeface="Calibri" pitchFamily="34" charset="0"/>
                <a:ea typeface="Calibri" pitchFamily="34" charset="-122"/>
                <a:cs typeface="Calibri" pitchFamily="34" charset="-120"/>
              </a:rPr>
              <a:t>[score change and link to delays]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4" name="Picture 43">
            <a:extLst>
              <a:ext uri="{FF2B5EF4-FFF2-40B4-BE49-F238E27FC236}">
                <a16:creationId xmlns:a16="http://schemas.microsoft.com/office/drawing/2014/main" id="{74607951-D81F-B655-38BB-E6F6AE9D58B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8000"/>
                    </a14:imgEffect>
                    <a14:imgEffect>
                      <a14:colorTemperature colorTemp="3409"/>
                    </a14:imgEffect>
                    <a14:imgEffect>
                      <a14:saturation sat="50000"/>
                    </a14:imgEffect>
                    <a14:imgEffect>
                      <a14:brightnessContrast bright="-36000" contrast="-4000"/>
                    </a14:imgEffect>
                  </a14:imgLayer>
                </a14:imgProps>
              </a:ext>
            </a:extLst>
          </a:blip>
          <a:srcRect t="3716" b="7582"/>
          <a:stretch>
            <a:fillRect/>
          </a:stretch>
        </p:blipFill>
        <p:spPr>
          <a:xfrm>
            <a:off x="-15240" y="-63795"/>
            <a:ext cx="12207240" cy="6921795"/>
          </a:xfrm>
          <a:prstGeom prst="rect">
            <a:avLst/>
          </a:prstGeom>
          <a:effectLst>
            <a:glow rad="127000">
              <a:schemeClr val="accent1">
                <a:alpha val="11000"/>
              </a:schemeClr>
            </a:glow>
            <a:outerShdw blurRad="50800" dist="50800" dir="5400000" algn="ctr" rotWithShape="0">
              <a:srgbClr val="000000">
                <a:alpha val="0"/>
              </a:srgbClr>
            </a:outerShdw>
          </a:effectLst>
        </p:spPr>
      </p:pic>
      <p:sp>
        <p:nvSpPr>
          <p:cNvPr id="2" name="Text 0"/>
          <p:cNvSpPr txBox="1"/>
          <p:nvPr/>
        </p:nvSpPr>
        <p:spPr>
          <a:xfrm>
            <a:off x="548640" y="347472"/>
            <a:ext cx="731520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04  ·  INSIGHTS  ›  DASHBOARD</a:t>
            </a:r>
            <a:endParaRPr lang="en-US" sz="1200" dirty="0"/>
          </a:p>
        </p:txBody>
      </p:sp>
      <p:sp>
        <p:nvSpPr>
          <p:cNvPr id="3" name="Text 1"/>
          <p:cNvSpPr txBox="1"/>
          <p:nvPr/>
        </p:nvSpPr>
        <p:spPr>
          <a:xfrm>
            <a:off x="548640" y="621792"/>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Power BI: the story in one interactive view</a:t>
            </a:r>
            <a:endParaRPr lang="en-US" sz="3000" dirty="0"/>
          </a:p>
        </p:txBody>
      </p:sp>
      <p:sp>
        <p:nvSpPr>
          <p:cNvPr id="4" name="Shape 2"/>
          <p:cNvSpPr/>
          <p:nvPr/>
        </p:nvSpPr>
        <p:spPr>
          <a:xfrm>
            <a:off x="576072" y="6483096"/>
            <a:ext cx="128016" cy="128016"/>
          </a:xfrm>
          <a:prstGeom prst="ellipse">
            <a:avLst/>
          </a:prstGeom>
          <a:solidFill>
            <a:srgbClr val="0B1F3A"/>
          </a:solidFill>
          <a:ln w="12700">
            <a:solidFill>
              <a:srgbClr val="0B1F3A"/>
            </a:solidFill>
            <a:prstDash val="solid"/>
          </a:ln>
        </p:spPr>
      </p:sp>
      <p:sp>
        <p:nvSpPr>
          <p:cNvPr id="5" name="Text 3"/>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Introduction</a:t>
            </a:r>
            <a:endParaRPr lang="en-US" sz="1050" dirty="0"/>
          </a:p>
        </p:txBody>
      </p:sp>
      <p:sp>
        <p:nvSpPr>
          <p:cNvPr id="6" name="Shape 4"/>
          <p:cNvSpPr/>
          <p:nvPr/>
        </p:nvSpPr>
        <p:spPr>
          <a:xfrm>
            <a:off x="2039112" y="6483096"/>
            <a:ext cx="128016" cy="128016"/>
          </a:xfrm>
          <a:prstGeom prst="ellipse">
            <a:avLst/>
          </a:prstGeom>
          <a:solidFill>
            <a:srgbClr val="0B1F3A"/>
          </a:solidFill>
          <a:ln w="12700">
            <a:solidFill>
              <a:srgbClr val="0B1F3A"/>
            </a:solidFill>
            <a:prstDash val="solid"/>
          </a:ln>
        </p:spPr>
      </p:sp>
      <p:sp>
        <p:nvSpPr>
          <p:cNvPr id="7" name="Text 5"/>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Problem</a:t>
            </a:r>
            <a:endParaRPr lang="en-US" sz="1050" dirty="0"/>
          </a:p>
        </p:txBody>
      </p:sp>
      <p:sp>
        <p:nvSpPr>
          <p:cNvPr id="8" name="Shape 6"/>
          <p:cNvSpPr/>
          <p:nvPr/>
        </p:nvSpPr>
        <p:spPr>
          <a:xfrm>
            <a:off x="3182112" y="6483096"/>
            <a:ext cx="128016" cy="128016"/>
          </a:xfrm>
          <a:prstGeom prst="ellipse">
            <a:avLst/>
          </a:prstGeom>
          <a:solidFill>
            <a:srgbClr val="0B1F3A"/>
          </a:solidFill>
          <a:ln w="12700">
            <a:solidFill>
              <a:srgbClr val="0B1F3A"/>
            </a:solidFill>
            <a:prstDash val="solid"/>
          </a:ln>
        </p:spPr>
      </p:sp>
      <p:sp>
        <p:nvSpPr>
          <p:cNvPr id="9" name="Text 7"/>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Solution</a:t>
            </a:r>
            <a:endParaRPr lang="en-US" sz="1050" dirty="0"/>
          </a:p>
        </p:txBody>
      </p:sp>
      <p:sp>
        <p:nvSpPr>
          <p:cNvPr id="10" name="Shape 8"/>
          <p:cNvSpPr/>
          <p:nvPr/>
        </p:nvSpPr>
        <p:spPr>
          <a:xfrm>
            <a:off x="4270248" y="6391656"/>
            <a:ext cx="1097280" cy="310896"/>
          </a:xfrm>
          <a:prstGeom prst="roundRect">
            <a:avLst>
              <a:gd name="adj" fmla="val 50000"/>
            </a:avLst>
          </a:prstGeom>
          <a:solidFill>
            <a:srgbClr val="FDE8DA"/>
          </a:solidFill>
          <a:ln w="6350">
            <a:solidFill>
              <a:srgbClr val="FDE8DA"/>
            </a:solidFill>
            <a:prstDash val="solid"/>
          </a:ln>
        </p:spPr>
      </p:sp>
      <p:sp>
        <p:nvSpPr>
          <p:cNvPr id="11" name="Shape 9"/>
          <p:cNvSpPr/>
          <p:nvPr/>
        </p:nvSpPr>
        <p:spPr>
          <a:xfrm>
            <a:off x="4370832" y="6483096"/>
            <a:ext cx="128016" cy="128016"/>
          </a:xfrm>
          <a:prstGeom prst="ellipse">
            <a:avLst/>
          </a:prstGeom>
          <a:solidFill>
            <a:srgbClr val="F26B21"/>
          </a:solidFill>
          <a:ln w="12700">
            <a:solidFill>
              <a:srgbClr val="F26B21"/>
            </a:solidFill>
            <a:prstDash val="solid"/>
          </a:ln>
        </p:spPr>
      </p:sp>
      <p:sp>
        <p:nvSpPr>
          <p:cNvPr id="12" name="Text 10"/>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Insights</a:t>
            </a:r>
            <a:endParaRPr lang="en-US" sz="1100" dirty="0"/>
          </a:p>
        </p:txBody>
      </p:sp>
      <p:sp>
        <p:nvSpPr>
          <p:cNvPr id="13" name="Shape 11"/>
          <p:cNvSpPr/>
          <p:nvPr/>
        </p:nvSpPr>
        <p:spPr>
          <a:xfrm>
            <a:off x="5559552" y="6483096"/>
            <a:ext cx="128016" cy="128016"/>
          </a:xfrm>
          <a:prstGeom prst="ellipse">
            <a:avLst/>
          </a:prstGeom>
          <a:solidFill>
            <a:srgbClr val="FFFFFF"/>
          </a:solidFill>
          <a:ln w="12700">
            <a:solidFill>
              <a:srgbClr val="8A94A6"/>
            </a:solidFill>
            <a:prstDash val="solid"/>
          </a:ln>
        </p:spPr>
      </p:sp>
      <p:sp>
        <p:nvSpPr>
          <p:cNvPr id="14" name="Text 12"/>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Challenges &amp; Lessons</a:t>
            </a:r>
            <a:endParaRPr lang="en-US" sz="1050" dirty="0"/>
          </a:p>
        </p:txBody>
      </p:sp>
      <p:sp>
        <p:nvSpPr>
          <p:cNvPr id="15" name="Shape 13"/>
          <p:cNvSpPr/>
          <p:nvPr/>
        </p:nvSpPr>
        <p:spPr>
          <a:xfrm>
            <a:off x="7571232" y="6483096"/>
            <a:ext cx="128016" cy="128016"/>
          </a:xfrm>
          <a:prstGeom prst="ellipse">
            <a:avLst/>
          </a:prstGeom>
          <a:solidFill>
            <a:srgbClr val="FFFFFF"/>
          </a:solidFill>
          <a:ln w="12700">
            <a:solidFill>
              <a:srgbClr val="8A94A6"/>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Conclusion</a:t>
            </a:r>
            <a:endParaRPr lang="en-US" sz="1050" dirty="0"/>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5B6678"/>
                </a:solidFill>
                <a:latin typeface="Calibri" pitchFamily="34" charset="0"/>
                <a:ea typeface="Calibri" pitchFamily="34" charset="-122"/>
                <a:cs typeface="Calibri" pitchFamily="34" charset="-120"/>
              </a:rPr>
              <a:t>10</a:t>
            </a:r>
            <a:endParaRPr lang="en-US" sz="1000" dirty="0"/>
          </a:p>
        </p:txBody>
      </p:sp>
      <p:sp>
        <p:nvSpPr>
          <p:cNvPr id="18" name="Shape 16"/>
          <p:cNvSpPr/>
          <p:nvPr/>
        </p:nvSpPr>
        <p:spPr>
          <a:xfrm>
            <a:off x="548640" y="1554480"/>
            <a:ext cx="7223760" cy="4480560"/>
          </a:xfrm>
          <a:prstGeom prst="rect">
            <a:avLst/>
          </a:prstGeom>
          <a:solidFill>
            <a:srgbClr val="F8FAFD"/>
          </a:solidFill>
          <a:ln w="15875">
            <a:solidFill>
              <a:srgbClr val="8A94A6"/>
            </a:solidFill>
            <a:prstDash val="dash"/>
          </a:ln>
        </p:spPr>
      </p:sp>
      <p:pic>
        <p:nvPicPr>
          <p:cNvPr id="19" name="Image 0" descr="preencoded.png"/>
          <p:cNvPicPr>
            <a:picLocks noChangeAspect="1"/>
          </p:cNvPicPr>
          <p:nvPr/>
        </p:nvPicPr>
        <p:blipFill>
          <a:blip r:embed="rId6"/>
          <a:stretch>
            <a:fillRect/>
          </a:stretch>
        </p:blipFill>
        <p:spPr>
          <a:xfrm>
            <a:off x="3703320" y="3017520"/>
            <a:ext cx="914400" cy="914400"/>
          </a:xfrm>
          <a:prstGeom prst="rect">
            <a:avLst/>
          </a:prstGeom>
        </p:spPr>
      </p:pic>
      <p:sp>
        <p:nvSpPr>
          <p:cNvPr id="20" name="Text 17"/>
          <p:cNvSpPr txBox="1"/>
          <p:nvPr/>
        </p:nvSpPr>
        <p:spPr>
          <a:xfrm>
            <a:off x="548640" y="4069080"/>
            <a:ext cx="7223760" cy="320040"/>
          </a:xfrm>
          <a:prstGeom prst="rect">
            <a:avLst/>
          </a:prstGeom>
          <a:noFill/>
          <a:ln/>
        </p:spPr>
        <p:txBody>
          <a:bodyPr wrap="square" lIns="0" tIns="0" rIns="0" bIns="0" rtlCol="0" anchor="t"/>
          <a:lstStyle/>
          <a:p>
            <a:pPr marL="0" indent="0" algn="ctr">
              <a:buNone/>
            </a:pPr>
            <a:r>
              <a:rPr lang="en-US" sz="1600" i="1" dirty="0">
                <a:solidFill>
                  <a:srgbClr val="5B6678"/>
                </a:solidFill>
                <a:latin typeface="Calibri" pitchFamily="34" charset="0"/>
                <a:ea typeface="Calibri" pitchFamily="34" charset="-122"/>
                <a:cs typeface="Calibri" pitchFamily="34" charset="-120"/>
              </a:rPr>
              <a:t>Insert Power BI dashboard screenshot</a:t>
            </a:r>
            <a:endParaRPr lang="en-US" sz="1600" dirty="0"/>
          </a:p>
        </p:txBody>
      </p:sp>
      <p:sp>
        <p:nvSpPr>
          <p:cNvPr id="21" name="Text 18"/>
          <p:cNvSpPr txBox="1"/>
          <p:nvPr/>
        </p:nvSpPr>
        <p:spPr>
          <a:xfrm>
            <a:off x="548640" y="4389120"/>
            <a:ext cx="7223760" cy="274320"/>
          </a:xfrm>
          <a:prstGeom prst="rect">
            <a:avLst/>
          </a:prstGeom>
          <a:noFill/>
          <a:ln/>
        </p:spPr>
        <p:txBody>
          <a:bodyPr wrap="square" lIns="0" tIns="0" rIns="0" bIns="0" rtlCol="0" anchor="t"/>
          <a:lstStyle/>
          <a:p>
            <a:pPr marL="0" indent="0" algn="ctr">
              <a:buNone/>
            </a:pPr>
            <a:r>
              <a:rPr lang="en-US" sz="1200" i="1" dirty="0">
                <a:solidFill>
                  <a:srgbClr val="5B6678"/>
                </a:solidFill>
                <a:latin typeface="Calibri" pitchFamily="34" charset="0"/>
                <a:ea typeface="Calibri" pitchFamily="34" charset="-122"/>
                <a:cs typeface="Calibri" pitchFamily="34" charset="-120"/>
              </a:rPr>
              <a:t>(export of the final report page, 16:9)</a:t>
            </a:r>
            <a:endParaRPr lang="en-US" sz="1200" dirty="0"/>
          </a:p>
        </p:txBody>
      </p:sp>
      <p:sp>
        <p:nvSpPr>
          <p:cNvPr id="22" name="Shape 19"/>
          <p:cNvSpPr/>
          <p:nvPr/>
        </p:nvSpPr>
        <p:spPr>
          <a:xfrm>
            <a:off x="8092440" y="1554480"/>
            <a:ext cx="3547872" cy="1280160"/>
          </a:xfrm>
          <a:prstGeom prst="roundRect">
            <a:avLst>
              <a:gd name="adj" fmla="val 7143"/>
            </a:avLst>
          </a:prstGeom>
          <a:solidFill>
            <a:srgbClr val="F1F4F9"/>
          </a:solidFill>
          <a:ln w="6350">
            <a:solidFill>
              <a:srgbClr val="F1F4F9"/>
            </a:solidFill>
            <a:prstDash val="solid"/>
          </a:ln>
        </p:spPr>
      </p:sp>
      <p:sp>
        <p:nvSpPr>
          <p:cNvPr id="23" name="Shape 20"/>
          <p:cNvSpPr/>
          <p:nvPr/>
        </p:nvSpPr>
        <p:spPr>
          <a:xfrm>
            <a:off x="8275320" y="1691640"/>
            <a:ext cx="502920" cy="502920"/>
          </a:xfrm>
          <a:prstGeom prst="ellipse">
            <a:avLst/>
          </a:prstGeom>
          <a:solidFill>
            <a:srgbClr val="2F6FBF"/>
          </a:solidFill>
          <a:ln w="6350">
            <a:solidFill>
              <a:srgbClr val="2F6FBF"/>
            </a:solidFill>
            <a:prstDash val="solid"/>
          </a:ln>
        </p:spPr>
      </p:sp>
      <p:pic>
        <p:nvPicPr>
          <p:cNvPr id="24" name="Image 1" descr="preencoded.png"/>
          <p:cNvPicPr>
            <a:picLocks noChangeAspect="1"/>
          </p:cNvPicPr>
          <p:nvPr/>
        </p:nvPicPr>
        <p:blipFill>
          <a:blip r:embed="rId7"/>
          <a:stretch>
            <a:fillRect/>
          </a:stretch>
        </p:blipFill>
        <p:spPr>
          <a:xfrm>
            <a:off x="8411108" y="1827428"/>
            <a:ext cx="231343" cy="231343"/>
          </a:xfrm>
          <a:prstGeom prst="rect">
            <a:avLst/>
          </a:prstGeom>
        </p:spPr>
      </p:pic>
      <p:sp>
        <p:nvSpPr>
          <p:cNvPr id="25" name="Text 21"/>
          <p:cNvSpPr txBox="1"/>
          <p:nvPr/>
        </p:nvSpPr>
        <p:spPr>
          <a:xfrm>
            <a:off x="8961120" y="1691640"/>
            <a:ext cx="2560320" cy="50292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KPI cards</a:t>
            </a:r>
            <a:endParaRPr lang="en-US" sz="1500" dirty="0"/>
          </a:p>
        </p:txBody>
      </p:sp>
      <p:sp>
        <p:nvSpPr>
          <p:cNvPr id="26" name="Text 22"/>
          <p:cNvSpPr txBox="1"/>
          <p:nvPr/>
        </p:nvSpPr>
        <p:spPr>
          <a:xfrm>
            <a:off x="8275320" y="2267712"/>
            <a:ext cx="3200400" cy="502920"/>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Orders · revenue · AOV · average discount · average review score</a:t>
            </a:r>
            <a:endParaRPr lang="en-US" sz="1200" dirty="0"/>
          </a:p>
        </p:txBody>
      </p:sp>
      <p:sp>
        <p:nvSpPr>
          <p:cNvPr id="27" name="Shape 23"/>
          <p:cNvSpPr/>
          <p:nvPr/>
        </p:nvSpPr>
        <p:spPr>
          <a:xfrm>
            <a:off x="8092440" y="2926080"/>
            <a:ext cx="3547872" cy="1280160"/>
          </a:xfrm>
          <a:prstGeom prst="roundRect">
            <a:avLst>
              <a:gd name="adj" fmla="val 7143"/>
            </a:avLst>
          </a:prstGeom>
          <a:solidFill>
            <a:srgbClr val="F1F4F9"/>
          </a:solidFill>
          <a:ln w="6350">
            <a:solidFill>
              <a:srgbClr val="F1F4F9"/>
            </a:solidFill>
            <a:prstDash val="solid"/>
          </a:ln>
        </p:spPr>
      </p:sp>
      <p:sp>
        <p:nvSpPr>
          <p:cNvPr id="28" name="Shape 24"/>
          <p:cNvSpPr/>
          <p:nvPr/>
        </p:nvSpPr>
        <p:spPr>
          <a:xfrm>
            <a:off x="8275320" y="3063240"/>
            <a:ext cx="502920" cy="502920"/>
          </a:xfrm>
          <a:prstGeom prst="ellipse">
            <a:avLst/>
          </a:prstGeom>
          <a:solidFill>
            <a:srgbClr val="2F6FBF"/>
          </a:solidFill>
          <a:ln w="6350">
            <a:solidFill>
              <a:srgbClr val="2F6FBF"/>
            </a:solidFill>
            <a:prstDash val="solid"/>
          </a:ln>
        </p:spPr>
      </p:sp>
      <p:pic>
        <p:nvPicPr>
          <p:cNvPr id="29" name="Image 2" descr="preencoded.png"/>
          <p:cNvPicPr>
            <a:picLocks noChangeAspect="1"/>
          </p:cNvPicPr>
          <p:nvPr/>
        </p:nvPicPr>
        <p:blipFill>
          <a:blip r:embed="rId8"/>
          <a:stretch>
            <a:fillRect/>
          </a:stretch>
        </p:blipFill>
        <p:spPr>
          <a:xfrm>
            <a:off x="8411108" y="3199028"/>
            <a:ext cx="231343" cy="231343"/>
          </a:xfrm>
          <a:prstGeom prst="rect">
            <a:avLst/>
          </a:prstGeom>
        </p:spPr>
      </p:pic>
      <p:sp>
        <p:nvSpPr>
          <p:cNvPr id="30" name="Text 25"/>
          <p:cNvSpPr txBox="1"/>
          <p:nvPr/>
        </p:nvSpPr>
        <p:spPr>
          <a:xfrm>
            <a:off x="8961120" y="3063240"/>
            <a:ext cx="2560320" cy="50292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Storyline visuals</a:t>
            </a:r>
            <a:endParaRPr lang="en-US" sz="1500" dirty="0"/>
          </a:p>
        </p:txBody>
      </p:sp>
      <p:sp>
        <p:nvSpPr>
          <p:cNvPr id="31" name="Text 26"/>
          <p:cNvSpPr txBox="1"/>
          <p:nvPr/>
        </p:nvSpPr>
        <p:spPr>
          <a:xfrm>
            <a:off x="8275320" y="3639312"/>
            <a:ext cx="3200400" cy="502920"/>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Sales spike → category shift → customers → delivery → reviews</a:t>
            </a:r>
            <a:endParaRPr lang="en-US" sz="1200" dirty="0"/>
          </a:p>
        </p:txBody>
      </p:sp>
      <p:sp>
        <p:nvSpPr>
          <p:cNvPr id="32" name="Shape 27"/>
          <p:cNvSpPr/>
          <p:nvPr/>
        </p:nvSpPr>
        <p:spPr>
          <a:xfrm>
            <a:off x="8092440" y="4297680"/>
            <a:ext cx="3547872" cy="1280160"/>
          </a:xfrm>
          <a:prstGeom prst="roundRect">
            <a:avLst>
              <a:gd name="adj" fmla="val 7143"/>
            </a:avLst>
          </a:prstGeom>
          <a:solidFill>
            <a:srgbClr val="F1F4F9"/>
          </a:solidFill>
          <a:ln w="6350">
            <a:solidFill>
              <a:srgbClr val="F1F4F9"/>
            </a:solidFill>
            <a:prstDash val="solid"/>
          </a:ln>
        </p:spPr>
      </p:sp>
      <p:sp>
        <p:nvSpPr>
          <p:cNvPr id="33" name="Shape 28"/>
          <p:cNvSpPr/>
          <p:nvPr/>
        </p:nvSpPr>
        <p:spPr>
          <a:xfrm>
            <a:off x="8275320" y="4434840"/>
            <a:ext cx="502920" cy="502920"/>
          </a:xfrm>
          <a:prstGeom prst="ellipse">
            <a:avLst/>
          </a:prstGeom>
          <a:solidFill>
            <a:srgbClr val="2F6FBF"/>
          </a:solidFill>
          <a:ln w="6350">
            <a:solidFill>
              <a:srgbClr val="2F6FBF"/>
            </a:solidFill>
            <a:prstDash val="solid"/>
          </a:ln>
        </p:spPr>
      </p:sp>
      <p:pic>
        <p:nvPicPr>
          <p:cNvPr id="34" name="Image 3" descr="preencoded.png"/>
          <p:cNvPicPr>
            <a:picLocks noChangeAspect="1"/>
          </p:cNvPicPr>
          <p:nvPr/>
        </p:nvPicPr>
        <p:blipFill>
          <a:blip r:embed="rId9"/>
          <a:stretch>
            <a:fillRect/>
          </a:stretch>
        </p:blipFill>
        <p:spPr>
          <a:xfrm>
            <a:off x="8411108" y="4570628"/>
            <a:ext cx="231343" cy="231343"/>
          </a:xfrm>
          <a:prstGeom prst="rect">
            <a:avLst/>
          </a:prstGeom>
        </p:spPr>
      </p:pic>
      <p:sp>
        <p:nvSpPr>
          <p:cNvPr id="35" name="Text 29"/>
          <p:cNvSpPr txBox="1"/>
          <p:nvPr/>
        </p:nvSpPr>
        <p:spPr>
          <a:xfrm>
            <a:off x="8961120" y="4434840"/>
            <a:ext cx="2560320" cy="50292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Interactive by design</a:t>
            </a:r>
            <a:endParaRPr lang="en-US" sz="1500" dirty="0"/>
          </a:p>
        </p:txBody>
      </p:sp>
      <p:sp>
        <p:nvSpPr>
          <p:cNvPr id="36" name="Text 30"/>
          <p:cNvSpPr txBox="1"/>
          <p:nvPr/>
        </p:nvSpPr>
        <p:spPr>
          <a:xfrm>
            <a:off x="8275320" y="5010912"/>
            <a:ext cx="3200400" cy="502920"/>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Slicers for event period, category and customer type, plus metric tooltips</a:t>
            </a:r>
            <a:endParaRPr lang="en-US" sz="1200" dirty="0"/>
          </a:p>
        </p:txBody>
      </p:sp>
      <p:sp>
        <p:nvSpPr>
          <p:cNvPr id="37" name="Shape 31"/>
          <p:cNvSpPr/>
          <p:nvPr/>
        </p:nvSpPr>
        <p:spPr>
          <a:xfrm>
            <a:off x="8092440" y="5852160"/>
            <a:ext cx="146304" cy="146304"/>
          </a:xfrm>
          <a:prstGeom prst="ellipse">
            <a:avLst/>
          </a:prstGeom>
          <a:solidFill>
            <a:srgbClr val="2F6FBF"/>
          </a:solidFill>
          <a:ln w="6350">
            <a:solidFill>
              <a:srgbClr val="2F6FBF"/>
            </a:solidFill>
            <a:prstDash val="solid"/>
          </a:ln>
        </p:spPr>
      </p:sp>
      <p:sp>
        <p:nvSpPr>
          <p:cNvPr id="38" name="Text 32"/>
          <p:cNvSpPr txBox="1"/>
          <p:nvPr/>
        </p:nvSpPr>
        <p:spPr>
          <a:xfrm>
            <a:off x="8311896" y="5806440"/>
            <a:ext cx="1097280" cy="237744"/>
          </a:xfrm>
          <a:prstGeom prst="rect">
            <a:avLst/>
          </a:prstGeom>
          <a:noFill/>
          <a:ln/>
        </p:spPr>
        <p:txBody>
          <a:bodyPr wrap="square" lIns="0" tIns="0" rIns="0" bIns="0" rtlCol="0" anchor="ctr"/>
          <a:lstStyle/>
          <a:p>
            <a:pPr marL="0" indent="0">
              <a:buNone/>
            </a:pPr>
            <a:r>
              <a:rPr lang="en-US" sz="1100" dirty="0">
                <a:solidFill>
                  <a:srgbClr val="5B6678"/>
                </a:solidFill>
                <a:latin typeface="Calibri" pitchFamily="34" charset="0"/>
                <a:ea typeface="Calibri" pitchFamily="34" charset="-122"/>
                <a:cs typeface="Calibri" pitchFamily="34" charset="-120"/>
              </a:rPr>
              <a:t>Normal period</a:t>
            </a:r>
            <a:endParaRPr lang="en-US" sz="1100" dirty="0"/>
          </a:p>
        </p:txBody>
      </p:sp>
      <p:sp>
        <p:nvSpPr>
          <p:cNvPr id="39" name="Shape 33"/>
          <p:cNvSpPr/>
          <p:nvPr/>
        </p:nvSpPr>
        <p:spPr>
          <a:xfrm>
            <a:off x="9464040" y="5852160"/>
            <a:ext cx="146304" cy="146304"/>
          </a:xfrm>
          <a:prstGeom prst="ellipse">
            <a:avLst/>
          </a:prstGeom>
          <a:solidFill>
            <a:srgbClr val="F26B21"/>
          </a:solidFill>
          <a:ln w="6350">
            <a:solidFill>
              <a:srgbClr val="F26B21"/>
            </a:solidFill>
            <a:prstDash val="solid"/>
          </a:ln>
        </p:spPr>
      </p:sp>
      <p:sp>
        <p:nvSpPr>
          <p:cNvPr id="40" name="Text 34"/>
          <p:cNvSpPr txBox="1"/>
          <p:nvPr/>
        </p:nvSpPr>
        <p:spPr>
          <a:xfrm>
            <a:off x="9683496" y="5806440"/>
            <a:ext cx="1097280" cy="237744"/>
          </a:xfrm>
          <a:prstGeom prst="rect">
            <a:avLst/>
          </a:prstGeom>
          <a:noFill/>
          <a:ln/>
        </p:spPr>
        <p:txBody>
          <a:bodyPr wrap="square" lIns="0" tIns="0" rIns="0" bIns="0" rtlCol="0" anchor="ctr"/>
          <a:lstStyle/>
          <a:p>
            <a:pPr marL="0" indent="0">
              <a:buNone/>
            </a:pPr>
            <a:r>
              <a:rPr lang="en-US" sz="1100" dirty="0">
                <a:solidFill>
                  <a:srgbClr val="5B6678"/>
                </a:solidFill>
                <a:latin typeface="Calibri" pitchFamily="34" charset="0"/>
                <a:ea typeface="Calibri" pitchFamily="34" charset="-122"/>
                <a:cs typeface="Calibri" pitchFamily="34" charset="-120"/>
              </a:rPr>
              <a:t>Black Friday</a:t>
            </a:r>
            <a:endParaRPr lang="en-US" sz="1100" dirty="0"/>
          </a:p>
        </p:txBody>
      </p:sp>
      <p:sp>
        <p:nvSpPr>
          <p:cNvPr id="41" name="Shape 35"/>
          <p:cNvSpPr/>
          <p:nvPr/>
        </p:nvSpPr>
        <p:spPr>
          <a:xfrm>
            <a:off x="10835640" y="5852160"/>
            <a:ext cx="146304" cy="146304"/>
          </a:xfrm>
          <a:prstGeom prst="ellipse">
            <a:avLst/>
          </a:prstGeom>
          <a:solidFill>
            <a:srgbClr val="8A94A6"/>
          </a:solidFill>
          <a:ln w="6350">
            <a:solidFill>
              <a:srgbClr val="8A94A6"/>
            </a:solidFill>
            <a:prstDash val="solid"/>
          </a:ln>
        </p:spPr>
      </p:sp>
      <p:sp>
        <p:nvSpPr>
          <p:cNvPr id="42" name="Text 36"/>
          <p:cNvSpPr txBox="1"/>
          <p:nvPr/>
        </p:nvSpPr>
        <p:spPr>
          <a:xfrm>
            <a:off x="11055096" y="5806440"/>
            <a:ext cx="1097280" cy="237744"/>
          </a:xfrm>
          <a:prstGeom prst="rect">
            <a:avLst/>
          </a:prstGeom>
          <a:noFill/>
          <a:ln/>
        </p:spPr>
        <p:txBody>
          <a:bodyPr wrap="square" lIns="0" tIns="0" rIns="0" bIns="0" rtlCol="0" anchor="ctr"/>
          <a:lstStyle/>
          <a:p>
            <a:pPr marL="0" indent="0">
              <a:buNone/>
            </a:pPr>
            <a:r>
              <a:rPr lang="en-US" sz="1100" dirty="0">
                <a:solidFill>
                  <a:srgbClr val="5B6678"/>
                </a:solidFill>
                <a:latin typeface="Calibri" pitchFamily="34" charset="0"/>
                <a:ea typeface="Calibri" pitchFamily="34" charset="-122"/>
                <a:cs typeface="Calibri" pitchFamily="34" charset="-120"/>
              </a:rPr>
              <a:t>Post-event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44902A39-7CC3-0FE8-964D-2403848B07E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8000"/>
                    </a14:imgEffect>
                    <a14:imgEffect>
                      <a14:colorTemperature colorTemp="3409"/>
                    </a14:imgEffect>
                    <a14:imgEffect>
                      <a14:saturation sat="50000"/>
                    </a14:imgEffect>
                    <a14:imgEffect>
                      <a14:brightnessContrast bright="-36000" contrast="-4000"/>
                    </a14:imgEffect>
                  </a14:imgLayer>
                </a14:imgProps>
              </a:ext>
            </a:extLst>
          </a:blip>
          <a:srcRect t="3716" b="7582"/>
          <a:stretch>
            <a:fillRect/>
          </a:stretch>
        </p:blipFill>
        <p:spPr>
          <a:xfrm>
            <a:off x="-15240" y="-63795"/>
            <a:ext cx="12207240" cy="6921795"/>
          </a:xfrm>
          <a:prstGeom prst="rect">
            <a:avLst/>
          </a:prstGeom>
          <a:effectLst>
            <a:glow rad="127000">
              <a:schemeClr val="accent1">
                <a:alpha val="11000"/>
              </a:schemeClr>
            </a:glow>
            <a:outerShdw blurRad="50800" dist="50800" dir="5400000" algn="ctr" rotWithShape="0">
              <a:srgbClr val="000000">
                <a:alpha val="0"/>
              </a:srgbClr>
            </a:outerShdw>
          </a:effectLst>
        </p:spPr>
      </p:pic>
      <p:sp>
        <p:nvSpPr>
          <p:cNvPr id="2" name="Text 0"/>
          <p:cNvSpPr txBox="1"/>
          <p:nvPr/>
        </p:nvSpPr>
        <p:spPr>
          <a:xfrm>
            <a:off x="548640" y="347472"/>
            <a:ext cx="731520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04  ·  INSIGHTS  ›  RECOMMENDATIONS</a:t>
            </a:r>
            <a:endParaRPr lang="en-US" sz="1200" dirty="0"/>
          </a:p>
        </p:txBody>
      </p:sp>
      <p:sp>
        <p:nvSpPr>
          <p:cNvPr id="3" name="Text 1"/>
          <p:cNvSpPr txBox="1"/>
          <p:nvPr/>
        </p:nvSpPr>
        <p:spPr>
          <a:xfrm>
            <a:off x="548640" y="621792"/>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Recommendations for the next Black Friday</a:t>
            </a:r>
            <a:endParaRPr lang="en-US" sz="3000" dirty="0"/>
          </a:p>
        </p:txBody>
      </p:sp>
      <p:sp>
        <p:nvSpPr>
          <p:cNvPr id="4" name="Shape 2"/>
          <p:cNvSpPr/>
          <p:nvPr/>
        </p:nvSpPr>
        <p:spPr>
          <a:xfrm>
            <a:off x="576072" y="6483096"/>
            <a:ext cx="128016" cy="128016"/>
          </a:xfrm>
          <a:prstGeom prst="ellipse">
            <a:avLst/>
          </a:prstGeom>
          <a:solidFill>
            <a:srgbClr val="0B1F3A"/>
          </a:solidFill>
          <a:ln w="12700">
            <a:solidFill>
              <a:srgbClr val="0B1F3A"/>
            </a:solidFill>
            <a:prstDash val="solid"/>
          </a:ln>
        </p:spPr>
      </p:sp>
      <p:sp>
        <p:nvSpPr>
          <p:cNvPr id="5" name="Text 3"/>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Introduction</a:t>
            </a:r>
            <a:endParaRPr lang="en-US" sz="1050" dirty="0"/>
          </a:p>
        </p:txBody>
      </p:sp>
      <p:sp>
        <p:nvSpPr>
          <p:cNvPr id="6" name="Shape 4"/>
          <p:cNvSpPr/>
          <p:nvPr/>
        </p:nvSpPr>
        <p:spPr>
          <a:xfrm>
            <a:off x="2039112" y="6483096"/>
            <a:ext cx="128016" cy="128016"/>
          </a:xfrm>
          <a:prstGeom prst="ellipse">
            <a:avLst/>
          </a:prstGeom>
          <a:solidFill>
            <a:srgbClr val="0B1F3A"/>
          </a:solidFill>
          <a:ln w="12700">
            <a:solidFill>
              <a:srgbClr val="0B1F3A"/>
            </a:solidFill>
            <a:prstDash val="solid"/>
          </a:ln>
        </p:spPr>
      </p:sp>
      <p:sp>
        <p:nvSpPr>
          <p:cNvPr id="7" name="Text 5"/>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Problem</a:t>
            </a:r>
            <a:endParaRPr lang="en-US" sz="1050" dirty="0"/>
          </a:p>
        </p:txBody>
      </p:sp>
      <p:sp>
        <p:nvSpPr>
          <p:cNvPr id="8" name="Shape 6"/>
          <p:cNvSpPr/>
          <p:nvPr/>
        </p:nvSpPr>
        <p:spPr>
          <a:xfrm>
            <a:off x="3182112" y="6483096"/>
            <a:ext cx="128016" cy="128016"/>
          </a:xfrm>
          <a:prstGeom prst="ellipse">
            <a:avLst/>
          </a:prstGeom>
          <a:solidFill>
            <a:srgbClr val="0B1F3A"/>
          </a:solidFill>
          <a:ln w="12700">
            <a:solidFill>
              <a:srgbClr val="0B1F3A"/>
            </a:solidFill>
            <a:prstDash val="solid"/>
          </a:ln>
        </p:spPr>
      </p:sp>
      <p:sp>
        <p:nvSpPr>
          <p:cNvPr id="9" name="Text 7"/>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Solution</a:t>
            </a:r>
            <a:endParaRPr lang="en-US" sz="1050" dirty="0"/>
          </a:p>
        </p:txBody>
      </p:sp>
      <p:sp>
        <p:nvSpPr>
          <p:cNvPr id="10" name="Shape 8"/>
          <p:cNvSpPr/>
          <p:nvPr/>
        </p:nvSpPr>
        <p:spPr>
          <a:xfrm>
            <a:off x="4270248" y="6391656"/>
            <a:ext cx="1097280" cy="310896"/>
          </a:xfrm>
          <a:prstGeom prst="roundRect">
            <a:avLst>
              <a:gd name="adj" fmla="val 50000"/>
            </a:avLst>
          </a:prstGeom>
          <a:solidFill>
            <a:srgbClr val="FDE8DA"/>
          </a:solidFill>
          <a:ln w="6350">
            <a:solidFill>
              <a:srgbClr val="FDE8DA"/>
            </a:solidFill>
            <a:prstDash val="solid"/>
          </a:ln>
        </p:spPr>
      </p:sp>
      <p:sp>
        <p:nvSpPr>
          <p:cNvPr id="11" name="Shape 9"/>
          <p:cNvSpPr/>
          <p:nvPr/>
        </p:nvSpPr>
        <p:spPr>
          <a:xfrm>
            <a:off x="4370832" y="6483096"/>
            <a:ext cx="128016" cy="128016"/>
          </a:xfrm>
          <a:prstGeom prst="ellipse">
            <a:avLst/>
          </a:prstGeom>
          <a:solidFill>
            <a:srgbClr val="F26B21"/>
          </a:solidFill>
          <a:ln w="12700">
            <a:solidFill>
              <a:srgbClr val="F26B21"/>
            </a:solidFill>
            <a:prstDash val="solid"/>
          </a:ln>
        </p:spPr>
      </p:sp>
      <p:sp>
        <p:nvSpPr>
          <p:cNvPr id="12" name="Text 10"/>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Insights</a:t>
            </a:r>
            <a:endParaRPr lang="en-US" sz="1100" dirty="0"/>
          </a:p>
        </p:txBody>
      </p:sp>
      <p:sp>
        <p:nvSpPr>
          <p:cNvPr id="13" name="Shape 11"/>
          <p:cNvSpPr/>
          <p:nvPr/>
        </p:nvSpPr>
        <p:spPr>
          <a:xfrm>
            <a:off x="5559552" y="6483096"/>
            <a:ext cx="128016" cy="128016"/>
          </a:xfrm>
          <a:prstGeom prst="ellipse">
            <a:avLst/>
          </a:prstGeom>
          <a:solidFill>
            <a:srgbClr val="FFFFFF"/>
          </a:solidFill>
          <a:ln w="12700">
            <a:solidFill>
              <a:srgbClr val="8A94A6"/>
            </a:solidFill>
            <a:prstDash val="solid"/>
          </a:ln>
        </p:spPr>
      </p:sp>
      <p:sp>
        <p:nvSpPr>
          <p:cNvPr id="14" name="Text 12"/>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Challenges &amp; Lessons</a:t>
            </a:r>
            <a:endParaRPr lang="en-US" sz="1050" dirty="0"/>
          </a:p>
        </p:txBody>
      </p:sp>
      <p:sp>
        <p:nvSpPr>
          <p:cNvPr id="15" name="Shape 13"/>
          <p:cNvSpPr/>
          <p:nvPr/>
        </p:nvSpPr>
        <p:spPr>
          <a:xfrm>
            <a:off x="7571232" y="6483096"/>
            <a:ext cx="128016" cy="128016"/>
          </a:xfrm>
          <a:prstGeom prst="ellipse">
            <a:avLst/>
          </a:prstGeom>
          <a:solidFill>
            <a:srgbClr val="FFFFFF"/>
          </a:solidFill>
          <a:ln w="12700">
            <a:solidFill>
              <a:srgbClr val="8A94A6"/>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Conclusion</a:t>
            </a:r>
            <a:endParaRPr lang="en-US" sz="1050" dirty="0"/>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5B6678"/>
                </a:solidFill>
                <a:latin typeface="Calibri" pitchFamily="34" charset="0"/>
                <a:ea typeface="Calibri" pitchFamily="34" charset="-122"/>
                <a:cs typeface="Calibri" pitchFamily="34" charset="-120"/>
              </a:rPr>
              <a:t>11</a:t>
            </a:r>
            <a:endParaRPr lang="en-US" sz="1000" dirty="0"/>
          </a:p>
        </p:txBody>
      </p:sp>
      <p:sp>
        <p:nvSpPr>
          <p:cNvPr id="18" name="Shape 16"/>
          <p:cNvSpPr/>
          <p:nvPr/>
        </p:nvSpPr>
        <p:spPr>
          <a:xfrm>
            <a:off x="548640" y="1554480"/>
            <a:ext cx="3547872" cy="4206240"/>
          </a:xfrm>
          <a:prstGeom prst="roundRect">
            <a:avLst>
              <a:gd name="adj" fmla="val 2577"/>
            </a:avLst>
          </a:prstGeom>
          <a:solidFill>
            <a:srgbClr val="F1F4F9"/>
          </a:solidFill>
          <a:ln w="6350">
            <a:solidFill>
              <a:srgbClr val="F1F4F9"/>
            </a:solidFill>
            <a:prstDash val="solid"/>
          </a:ln>
        </p:spPr>
      </p:sp>
      <p:sp>
        <p:nvSpPr>
          <p:cNvPr id="19" name="Shape 17"/>
          <p:cNvSpPr/>
          <p:nvPr/>
        </p:nvSpPr>
        <p:spPr>
          <a:xfrm>
            <a:off x="822960" y="1828800"/>
            <a:ext cx="640080" cy="640080"/>
          </a:xfrm>
          <a:prstGeom prst="ellipse">
            <a:avLst/>
          </a:prstGeom>
          <a:solidFill>
            <a:srgbClr val="F26B21"/>
          </a:solidFill>
          <a:ln w="6350">
            <a:solidFill>
              <a:srgbClr val="F26B21"/>
            </a:solidFill>
            <a:prstDash val="solid"/>
          </a:ln>
        </p:spPr>
      </p:sp>
      <p:pic>
        <p:nvPicPr>
          <p:cNvPr id="20" name="Image 0" descr="preencoded.png"/>
          <p:cNvPicPr>
            <a:picLocks noChangeAspect="1"/>
          </p:cNvPicPr>
          <p:nvPr/>
        </p:nvPicPr>
        <p:blipFill>
          <a:blip r:embed="rId6"/>
          <a:stretch>
            <a:fillRect/>
          </a:stretch>
        </p:blipFill>
        <p:spPr>
          <a:xfrm>
            <a:off x="995782" y="2001622"/>
            <a:ext cx="294437" cy="294437"/>
          </a:xfrm>
          <a:prstGeom prst="rect">
            <a:avLst/>
          </a:prstGeom>
        </p:spPr>
      </p:pic>
      <p:sp>
        <p:nvSpPr>
          <p:cNvPr id="21" name="Text 18"/>
          <p:cNvSpPr txBox="1"/>
          <p:nvPr/>
        </p:nvSpPr>
        <p:spPr>
          <a:xfrm>
            <a:off x="822960" y="2651760"/>
            <a:ext cx="2999232" cy="68580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Plan for the spike</a:t>
            </a:r>
            <a:endParaRPr lang="en-US" sz="1800" dirty="0"/>
          </a:p>
        </p:txBody>
      </p:sp>
      <p:sp>
        <p:nvSpPr>
          <p:cNvPr id="22" name="Text 19"/>
          <p:cNvSpPr txBox="1"/>
          <p:nvPr/>
        </p:nvSpPr>
        <p:spPr>
          <a:xfrm>
            <a:off x="822960" y="3429000"/>
            <a:ext cx="2743200" cy="228600"/>
          </a:xfrm>
          <a:prstGeom prst="rect">
            <a:avLst/>
          </a:prstGeom>
          <a:noFill/>
          <a:ln/>
        </p:spPr>
        <p:txBody>
          <a:bodyPr wrap="square" lIns="0" tIns="0" rIns="0" bIns="0" rtlCol="0" anchor="t"/>
          <a:lstStyle/>
          <a:p>
            <a:pPr marL="0" indent="0">
              <a:buNone/>
            </a:pPr>
            <a:r>
              <a:rPr lang="en-US" sz="1100" b="1" kern="0" spc="200" dirty="0">
                <a:solidFill>
                  <a:srgbClr val="5B6678"/>
                </a:solidFill>
                <a:latin typeface="Calibri" pitchFamily="34" charset="0"/>
                <a:ea typeface="Calibri" pitchFamily="34" charset="-122"/>
                <a:cs typeface="Calibri" pitchFamily="34" charset="-120"/>
              </a:rPr>
              <a:t>EVIDENCE</a:t>
            </a:r>
            <a:endParaRPr lang="en-US" sz="1100" dirty="0"/>
          </a:p>
        </p:txBody>
      </p:sp>
      <p:sp>
        <p:nvSpPr>
          <p:cNvPr id="23" name="Text 20"/>
          <p:cNvSpPr txBox="1"/>
          <p:nvPr/>
        </p:nvSpPr>
        <p:spPr>
          <a:xfrm>
            <a:off x="822960" y="3703320"/>
            <a:ext cx="2999232" cy="640080"/>
          </a:xfrm>
          <a:prstGeom prst="rect">
            <a:avLst/>
          </a:prstGeom>
          <a:noFill/>
          <a:ln/>
        </p:spPr>
        <p:txBody>
          <a:bodyPr wrap="square" lIns="0" tIns="0" rIns="0" bIns="0" rtlCol="0" anchor="t"/>
          <a:lstStyle/>
          <a:p>
            <a:pPr marL="0" indent="0">
              <a:buNone/>
            </a:pPr>
            <a:r>
              <a:rPr lang="en-US" sz="1300" dirty="0">
                <a:solidFill>
                  <a:srgbClr val="1A2233"/>
                </a:solidFill>
                <a:highlight>
                  <a:srgbClr val="FFF1A8"/>
                </a:highlight>
                <a:latin typeface="Calibri" pitchFamily="34" charset="0"/>
                <a:ea typeface="Calibri" pitchFamily="34" charset="-122"/>
                <a:cs typeface="Calibri" pitchFamily="34" charset="-120"/>
              </a:rPr>
              <a:t>[peak order volume vs normal, top categories]</a:t>
            </a:r>
            <a:endParaRPr lang="en-US" sz="1300" dirty="0"/>
          </a:p>
        </p:txBody>
      </p:sp>
      <p:sp>
        <p:nvSpPr>
          <p:cNvPr id="24" name="Text 21"/>
          <p:cNvSpPr txBox="1"/>
          <p:nvPr/>
        </p:nvSpPr>
        <p:spPr>
          <a:xfrm>
            <a:off x="822960" y="4434840"/>
            <a:ext cx="2743200" cy="228600"/>
          </a:xfrm>
          <a:prstGeom prst="rect">
            <a:avLst/>
          </a:prstGeom>
          <a:noFill/>
          <a:ln/>
        </p:spPr>
        <p:txBody>
          <a:bodyPr wrap="square" lIns="0" tIns="0" rIns="0" bIns="0" rtlCol="0" anchor="t"/>
          <a:lstStyle/>
          <a:p>
            <a:pPr marL="0" indent="0">
              <a:buNone/>
            </a:pPr>
            <a:r>
              <a:rPr lang="en-US" sz="1100" b="1" kern="0" spc="200" dirty="0">
                <a:solidFill>
                  <a:srgbClr val="F26B21"/>
                </a:solidFill>
                <a:latin typeface="Calibri" pitchFamily="34" charset="0"/>
                <a:ea typeface="Calibri" pitchFamily="34" charset="-122"/>
                <a:cs typeface="Calibri" pitchFamily="34" charset="-120"/>
              </a:rPr>
              <a:t>ACTION</a:t>
            </a:r>
            <a:endParaRPr lang="en-US" sz="1100" dirty="0"/>
          </a:p>
        </p:txBody>
      </p:sp>
      <p:sp>
        <p:nvSpPr>
          <p:cNvPr id="25" name="Text 22"/>
          <p:cNvSpPr txBox="1"/>
          <p:nvPr/>
        </p:nvSpPr>
        <p:spPr>
          <a:xfrm>
            <a:off x="822960" y="4709160"/>
            <a:ext cx="2999232" cy="1143000"/>
          </a:xfrm>
          <a:prstGeom prst="rect">
            <a:avLst/>
          </a:prstGeom>
          <a:noFill/>
          <a:ln/>
        </p:spPr>
        <p:txBody>
          <a:bodyPr wrap="square" lIns="0" tIns="0" rIns="0" bIns="0" rtlCol="0" anchor="t"/>
          <a:lstStyle/>
          <a:p>
            <a:pPr marL="0" indent="0">
              <a:buNone/>
            </a:pPr>
            <a:r>
              <a:rPr lang="en-US" sz="1400" dirty="0">
                <a:solidFill>
                  <a:srgbClr val="1A2233"/>
                </a:solidFill>
                <a:latin typeface="Calibri" pitchFamily="34" charset="0"/>
                <a:ea typeface="Calibri" pitchFamily="34" charset="-122"/>
                <a:cs typeface="Calibri" pitchFamily="34" charset="-120"/>
              </a:rPr>
              <a:t>Pre-position stock and seller capacity in the categories that dominate event-week sales.</a:t>
            </a:r>
            <a:endParaRPr lang="en-US" sz="1400" dirty="0"/>
          </a:p>
        </p:txBody>
      </p:sp>
      <p:sp>
        <p:nvSpPr>
          <p:cNvPr id="26" name="Shape 23"/>
          <p:cNvSpPr/>
          <p:nvPr/>
        </p:nvSpPr>
        <p:spPr>
          <a:xfrm>
            <a:off x="4315968" y="1554480"/>
            <a:ext cx="3547872" cy="4206240"/>
          </a:xfrm>
          <a:prstGeom prst="roundRect">
            <a:avLst>
              <a:gd name="adj" fmla="val 2577"/>
            </a:avLst>
          </a:prstGeom>
          <a:solidFill>
            <a:srgbClr val="F1F4F9"/>
          </a:solidFill>
          <a:ln w="6350">
            <a:solidFill>
              <a:srgbClr val="F1F4F9"/>
            </a:solidFill>
            <a:prstDash val="solid"/>
          </a:ln>
        </p:spPr>
      </p:sp>
      <p:sp>
        <p:nvSpPr>
          <p:cNvPr id="27" name="Shape 24"/>
          <p:cNvSpPr/>
          <p:nvPr/>
        </p:nvSpPr>
        <p:spPr>
          <a:xfrm>
            <a:off x="4590288" y="1828800"/>
            <a:ext cx="640080" cy="640080"/>
          </a:xfrm>
          <a:prstGeom prst="ellipse">
            <a:avLst/>
          </a:prstGeom>
          <a:solidFill>
            <a:srgbClr val="F26B21"/>
          </a:solidFill>
          <a:ln w="6350">
            <a:solidFill>
              <a:srgbClr val="F26B21"/>
            </a:solidFill>
            <a:prstDash val="solid"/>
          </a:ln>
        </p:spPr>
      </p:sp>
      <p:pic>
        <p:nvPicPr>
          <p:cNvPr id="28" name="Image 1" descr="preencoded.png"/>
          <p:cNvPicPr>
            <a:picLocks noChangeAspect="1"/>
          </p:cNvPicPr>
          <p:nvPr/>
        </p:nvPicPr>
        <p:blipFill>
          <a:blip r:embed="rId7"/>
          <a:stretch>
            <a:fillRect/>
          </a:stretch>
        </p:blipFill>
        <p:spPr>
          <a:xfrm>
            <a:off x="4763110" y="2001622"/>
            <a:ext cx="294437" cy="294437"/>
          </a:xfrm>
          <a:prstGeom prst="rect">
            <a:avLst/>
          </a:prstGeom>
        </p:spPr>
      </p:pic>
      <p:sp>
        <p:nvSpPr>
          <p:cNvPr id="29" name="Text 25"/>
          <p:cNvSpPr txBox="1"/>
          <p:nvPr/>
        </p:nvSpPr>
        <p:spPr>
          <a:xfrm>
            <a:off x="4590288" y="2651760"/>
            <a:ext cx="2999232" cy="68580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Protect the delivery promise</a:t>
            </a:r>
            <a:endParaRPr lang="en-US" sz="1800" dirty="0"/>
          </a:p>
        </p:txBody>
      </p:sp>
      <p:sp>
        <p:nvSpPr>
          <p:cNvPr id="30" name="Text 26"/>
          <p:cNvSpPr txBox="1"/>
          <p:nvPr/>
        </p:nvSpPr>
        <p:spPr>
          <a:xfrm>
            <a:off x="4590288" y="3429000"/>
            <a:ext cx="2743200" cy="228600"/>
          </a:xfrm>
          <a:prstGeom prst="rect">
            <a:avLst/>
          </a:prstGeom>
          <a:noFill/>
          <a:ln/>
        </p:spPr>
        <p:txBody>
          <a:bodyPr wrap="square" lIns="0" tIns="0" rIns="0" bIns="0" rtlCol="0" anchor="t"/>
          <a:lstStyle/>
          <a:p>
            <a:pPr marL="0" indent="0">
              <a:buNone/>
            </a:pPr>
            <a:r>
              <a:rPr lang="en-US" sz="1100" b="1" kern="0" spc="200" dirty="0">
                <a:solidFill>
                  <a:srgbClr val="5B6678"/>
                </a:solidFill>
                <a:latin typeface="Calibri" pitchFamily="34" charset="0"/>
                <a:ea typeface="Calibri" pitchFamily="34" charset="-122"/>
                <a:cs typeface="Calibri" pitchFamily="34" charset="-120"/>
              </a:rPr>
              <a:t>EVIDENCE</a:t>
            </a:r>
            <a:endParaRPr lang="en-US" sz="1100" dirty="0"/>
          </a:p>
        </p:txBody>
      </p:sp>
      <p:sp>
        <p:nvSpPr>
          <p:cNvPr id="31" name="Text 27"/>
          <p:cNvSpPr txBox="1"/>
          <p:nvPr/>
        </p:nvSpPr>
        <p:spPr>
          <a:xfrm>
            <a:off x="4590288" y="3703320"/>
            <a:ext cx="2999232" cy="640080"/>
          </a:xfrm>
          <a:prstGeom prst="rect">
            <a:avLst/>
          </a:prstGeom>
          <a:noFill/>
          <a:ln/>
        </p:spPr>
        <p:txBody>
          <a:bodyPr wrap="square" lIns="0" tIns="0" rIns="0" bIns="0" rtlCol="0" anchor="t"/>
          <a:lstStyle/>
          <a:p>
            <a:pPr marL="0" indent="0">
              <a:buNone/>
            </a:pPr>
            <a:r>
              <a:rPr lang="en-US" sz="1300" dirty="0">
                <a:solidFill>
                  <a:srgbClr val="1A2233"/>
                </a:solidFill>
                <a:highlight>
                  <a:srgbClr val="FFF1A8"/>
                </a:highlight>
                <a:latin typeface="Calibri" pitchFamily="34" charset="0"/>
                <a:ea typeface="Calibri" pitchFamily="34" charset="-122"/>
                <a:cs typeface="Calibri" pitchFamily="34" charset="-120"/>
              </a:rPr>
              <a:t>[delivery delay change and its link to review score]</a:t>
            </a:r>
            <a:endParaRPr lang="en-US" sz="1300" dirty="0"/>
          </a:p>
        </p:txBody>
      </p:sp>
      <p:sp>
        <p:nvSpPr>
          <p:cNvPr id="32" name="Text 28"/>
          <p:cNvSpPr txBox="1"/>
          <p:nvPr/>
        </p:nvSpPr>
        <p:spPr>
          <a:xfrm>
            <a:off x="4590288" y="4434840"/>
            <a:ext cx="2743200" cy="228600"/>
          </a:xfrm>
          <a:prstGeom prst="rect">
            <a:avLst/>
          </a:prstGeom>
          <a:noFill/>
          <a:ln/>
        </p:spPr>
        <p:txBody>
          <a:bodyPr wrap="square" lIns="0" tIns="0" rIns="0" bIns="0" rtlCol="0" anchor="t"/>
          <a:lstStyle/>
          <a:p>
            <a:pPr marL="0" indent="0">
              <a:buNone/>
            </a:pPr>
            <a:r>
              <a:rPr lang="en-US" sz="1100" b="1" kern="0" spc="200" dirty="0">
                <a:solidFill>
                  <a:srgbClr val="F26B21"/>
                </a:solidFill>
                <a:latin typeface="Calibri" pitchFamily="34" charset="0"/>
                <a:ea typeface="Calibri" pitchFamily="34" charset="-122"/>
                <a:cs typeface="Calibri" pitchFamily="34" charset="-120"/>
              </a:rPr>
              <a:t>ACTION</a:t>
            </a:r>
            <a:endParaRPr lang="en-US" sz="1100" dirty="0"/>
          </a:p>
        </p:txBody>
      </p:sp>
      <p:sp>
        <p:nvSpPr>
          <p:cNvPr id="33" name="Text 29"/>
          <p:cNvSpPr txBox="1"/>
          <p:nvPr/>
        </p:nvSpPr>
        <p:spPr>
          <a:xfrm>
            <a:off x="4590288" y="4709160"/>
            <a:ext cx="2999232" cy="1143000"/>
          </a:xfrm>
          <a:prstGeom prst="rect">
            <a:avLst/>
          </a:prstGeom>
          <a:noFill/>
          <a:ln/>
        </p:spPr>
        <p:txBody>
          <a:bodyPr wrap="square" lIns="0" tIns="0" rIns="0" bIns="0" rtlCol="0" anchor="t"/>
          <a:lstStyle/>
          <a:p>
            <a:pPr marL="0" indent="0">
              <a:buNone/>
            </a:pPr>
            <a:r>
              <a:rPr lang="en-US" sz="1400" dirty="0">
                <a:solidFill>
                  <a:srgbClr val="1A2233"/>
                </a:solidFill>
                <a:latin typeface="Calibri" pitchFamily="34" charset="0"/>
                <a:ea typeface="Calibri" pitchFamily="34" charset="-122"/>
                <a:cs typeface="Calibri" pitchFamily="34" charset="-120"/>
              </a:rPr>
              <a:t>Set realistic delivery estimates for peak weeks and monitor delay days as an early warning for reviews.</a:t>
            </a:r>
            <a:endParaRPr lang="en-US" sz="1400" dirty="0"/>
          </a:p>
        </p:txBody>
      </p:sp>
      <p:sp>
        <p:nvSpPr>
          <p:cNvPr id="34" name="Shape 30"/>
          <p:cNvSpPr/>
          <p:nvPr/>
        </p:nvSpPr>
        <p:spPr>
          <a:xfrm>
            <a:off x="8083296" y="1554480"/>
            <a:ext cx="3547872" cy="4206240"/>
          </a:xfrm>
          <a:prstGeom prst="roundRect">
            <a:avLst>
              <a:gd name="adj" fmla="val 2577"/>
            </a:avLst>
          </a:prstGeom>
          <a:solidFill>
            <a:srgbClr val="F1F4F9"/>
          </a:solidFill>
          <a:ln w="6350">
            <a:solidFill>
              <a:srgbClr val="F1F4F9"/>
            </a:solidFill>
            <a:prstDash val="solid"/>
          </a:ln>
        </p:spPr>
      </p:sp>
      <p:sp>
        <p:nvSpPr>
          <p:cNvPr id="35" name="Shape 31"/>
          <p:cNvSpPr/>
          <p:nvPr/>
        </p:nvSpPr>
        <p:spPr>
          <a:xfrm>
            <a:off x="8357616" y="1828800"/>
            <a:ext cx="640080" cy="640080"/>
          </a:xfrm>
          <a:prstGeom prst="ellipse">
            <a:avLst/>
          </a:prstGeom>
          <a:solidFill>
            <a:srgbClr val="F26B21"/>
          </a:solidFill>
          <a:ln w="6350">
            <a:solidFill>
              <a:srgbClr val="F26B21"/>
            </a:solidFill>
            <a:prstDash val="solid"/>
          </a:ln>
        </p:spPr>
      </p:sp>
      <p:pic>
        <p:nvPicPr>
          <p:cNvPr id="36" name="Image 2" descr="preencoded.png"/>
          <p:cNvPicPr>
            <a:picLocks noChangeAspect="1"/>
          </p:cNvPicPr>
          <p:nvPr/>
        </p:nvPicPr>
        <p:blipFill>
          <a:blip r:embed="rId8"/>
          <a:stretch>
            <a:fillRect/>
          </a:stretch>
        </p:blipFill>
        <p:spPr>
          <a:xfrm>
            <a:off x="8530438" y="2001622"/>
            <a:ext cx="294437" cy="294437"/>
          </a:xfrm>
          <a:prstGeom prst="rect">
            <a:avLst/>
          </a:prstGeom>
        </p:spPr>
      </p:pic>
      <p:sp>
        <p:nvSpPr>
          <p:cNvPr id="37" name="Text 32"/>
          <p:cNvSpPr txBox="1"/>
          <p:nvPr/>
        </p:nvSpPr>
        <p:spPr>
          <a:xfrm>
            <a:off x="8357616" y="2651760"/>
            <a:ext cx="2999232" cy="68580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Turn event buyers into repeat customers</a:t>
            </a:r>
            <a:endParaRPr lang="en-US" sz="1800" dirty="0"/>
          </a:p>
        </p:txBody>
      </p:sp>
      <p:sp>
        <p:nvSpPr>
          <p:cNvPr id="38" name="Text 33"/>
          <p:cNvSpPr txBox="1"/>
          <p:nvPr/>
        </p:nvSpPr>
        <p:spPr>
          <a:xfrm>
            <a:off x="8357616" y="3429000"/>
            <a:ext cx="2743200" cy="228600"/>
          </a:xfrm>
          <a:prstGeom prst="rect">
            <a:avLst/>
          </a:prstGeom>
          <a:noFill/>
          <a:ln/>
        </p:spPr>
        <p:txBody>
          <a:bodyPr wrap="square" lIns="0" tIns="0" rIns="0" bIns="0" rtlCol="0" anchor="t"/>
          <a:lstStyle/>
          <a:p>
            <a:pPr marL="0" indent="0">
              <a:buNone/>
            </a:pPr>
            <a:r>
              <a:rPr lang="en-US" sz="1100" b="1" kern="0" spc="200" dirty="0">
                <a:solidFill>
                  <a:srgbClr val="5B6678"/>
                </a:solidFill>
                <a:latin typeface="Calibri" pitchFamily="34" charset="0"/>
                <a:ea typeface="Calibri" pitchFamily="34" charset="-122"/>
                <a:cs typeface="Calibri" pitchFamily="34" charset="-120"/>
              </a:rPr>
              <a:t>EVIDENCE</a:t>
            </a:r>
            <a:endParaRPr lang="en-US" sz="1100" dirty="0"/>
          </a:p>
        </p:txBody>
      </p:sp>
      <p:sp>
        <p:nvSpPr>
          <p:cNvPr id="39" name="Text 34"/>
          <p:cNvSpPr txBox="1"/>
          <p:nvPr/>
        </p:nvSpPr>
        <p:spPr>
          <a:xfrm>
            <a:off x="8357616" y="3703320"/>
            <a:ext cx="2999232" cy="640080"/>
          </a:xfrm>
          <a:prstGeom prst="rect">
            <a:avLst/>
          </a:prstGeom>
          <a:noFill/>
          <a:ln/>
        </p:spPr>
        <p:txBody>
          <a:bodyPr wrap="square" lIns="0" tIns="0" rIns="0" bIns="0" rtlCol="0" anchor="t"/>
          <a:lstStyle/>
          <a:p>
            <a:pPr marL="0" indent="0">
              <a:buNone/>
            </a:pPr>
            <a:r>
              <a:rPr lang="en-US" sz="1300" dirty="0">
                <a:solidFill>
                  <a:srgbClr val="1A2233"/>
                </a:solidFill>
                <a:highlight>
                  <a:srgbClr val="FFF1A8"/>
                </a:highlight>
                <a:latin typeface="Calibri" pitchFamily="34" charset="0"/>
                <a:ea typeface="Calibri" pitchFamily="34" charset="-122"/>
                <a:cs typeface="Calibri" pitchFamily="34" charset="-120"/>
              </a:rPr>
              <a:t>[share of new customers during the event]</a:t>
            </a:r>
            <a:endParaRPr lang="en-US" sz="1300" dirty="0"/>
          </a:p>
        </p:txBody>
      </p:sp>
      <p:sp>
        <p:nvSpPr>
          <p:cNvPr id="40" name="Text 35"/>
          <p:cNvSpPr txBox="1"/>
          <p:nvPr/>
        </p:nvSpPr>
        <p:spPr>
          <a:xfrm>
            <a:off x="8357616" y="4434840"/>
            <a:ext cx="2743200" cy="228600"/>
          </a:xfrm>
          <a:prstGeom prst="rect">
            <a:avLst/>
          </a:prstGeom>
          <a:noFill/>
          <a:ln/>
        </p:spPr>
        <p:txBody>
          <a:bodyPr wrap="square" lIns="0" tIns="0" rIns="0" bIns="0" rtlCol="0" anchor="t"/>
          <a:lstStyle/>
          <a:p>
            <a:pPr marL="0" indent="0">
              <a:buNone/>
            </a:pPr>
            <a:r>
              <a:rPr lang="en-US" sz="1100" b="1" kern="0" spc="200" dirty="0">
                <a:solidFill>
                  <a:srgbClr val="F26B21"/>
                </a:solidFill>
                <a:latin typeface="Calibri" pitchFamily="34" charset="0"/>
                <a:ea typeface="Calibri" pitchFamily="34" charset="-122"/>
                <a:cs typeface="Calibri" pitchFamily="34" charset="-120"/>
              </a:rPr>
              <a:t>ACTION</a:t>
            </a:r>
            <a:endParaRPr lang="en-US" sz="1100" dirty="0"/>
          </a:p>
        </p:txBody>
      </p:sp>
      <p:sp>
        <p:nvSpPr>
          <p:cNvPr id="41" name="Text 36"/>
          <p:cNvSpPr txBox="1"/>
          <p:nvPr/>
        </p:nvSpPr>
        <p:spPr>
          <a:xfrm>
            <a:off x="8357616" y="4709160"/>
            <a:ext cx="2999232" cy="1143000"/>
          </a:xfrm>
          <a:prstGeom prst="rect">
            <a:avLst/>
          </a:prstGeom>
          <a:noFill/>
          <a:ln/>
        </p:spPr>
        <p:txBody>
          <a:bodyPr wrap="square" lIns="0" tIns="0" rIns="0" bIns="0" rtlCol="0" anchor="t"/>
          <a:lstStyle/>
          <a:p>
            <a:pPr marL="0" indent="0">
              <a:buNone/>
            </a:pPr>
            <a:r>
              <a:rPr lang="en-US" sz="1400" dirty="0">
                <a:solidFill>
                  <a:srgbClr val="1A2233"/>
                </a:solidFill>
                <a:latin typeface="Calibri" pitchFamily="34" charset="0"/>
                <a:ea typeface="Calibri" pitchFamily="34" charset="-122"/>
                <a:cs typeface="Calibri" pitchFamily="34" charset="-120"/>
              </a:rPr>
              <a:t>Follow up with first-time event buyers to encourage a second purchase after the event.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0" name="Picture 39">
            <a:extLst>
              <a:ext uri="{FF2B5EF4-FFF2-40B4-BE49-F238E27FC236}">
                <a16:creationId xmlns:a16="http://schemas.microsoft.com/office/drawing/2014/main" id="{439A5258-D26C-DC0C-88AA-90E6C63CB69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34000"/>
                    </a14:imgEffect>
                    <a14:imgEffect>
                      <a14:colorTemperature colorTemp="6261"/>
                    </a14:imgEffect>
                    <a14:imgEffect>
                      <a14:brightnessContrast bright="-1000" contrast="-18000"/>
                    </a14:imgEffect>
                  </a14:imgLayer>
                </a14:imgProps>
              </a:ext>
            </a:extLst>
          </a:blip>
          <a:stretch>
            <a:fillRect/>
          </a:stretch>
        </p:blipFill>
        <p:spPr>
          <a:xfrm>
            <a:off x="-689599" y="-45932"/>
            <a:ext cx="14103959" cy="6918251"/>
          </a:xfrm>
          <a:prstGeom prst="rect">
            <a:avLst/>
          </a:prstGeom>
          <a:blipFill dpi="0" rotWithShape="1">
            <a:blip r:embed="rId6">
              <a:alphaModFix amt="54000"/>
            </a:blip>
            <a:srcRect/>
            <a:tile tx="0" ty="0" sx="100000" sy="100000" flip="none" algn="tl"/>
          </a:blipFill>
          <a:effectLst>
            <a:outerShdw blurRad="50800" dist="50800" dir="5400000" algn="ctr" rotWithShape="0">
              <a:srgbClr val="000000">
                <a:alpha val="24000"/>
              </a:srgbClr>
            </a:outerShdw>
          </a:effectLst>
        </p:spPr>
      </p:pic>
      <p:sp>
        <p:nvSpPr>
          <p:cNvPr id="2" name="Text 0"/>
          <p:cNvSpPr txBox="1"/>
          <p:nvPr/>
        </p:nvSpPr>
        <p:spPr>
          <a:xfrm>
            <a:off x="822960" y="313267"/>
            <a:ext cx="8993293" cy="380661"/>
          </a:xfrm>
          <a:prstGeom prst="rect">
            <a:avLst/>
          </a:prstGeom>
          <a:noFill/>
          <a:ln/>
        </p:spPr>
        <p:txBody>
          <a:bodyPr wrap="square" lIns="0" tIns="0" rIns="0" bIns="0" rtlCol="0" anchor="t"/>
          <a:lstStyle/>
          <a:p>
            <a:pPr marL="0" indent="0">
              <a:buNone/>
            </a:pPr>
            <a:r>
              <a:rPr lang="en-US" sz="2000" b="1" kern="0" dirty="0">
                <a:ln w="6600">
                  <a:solidFill>
                    <a:schemeClr val="accent2"/>
                  </a:solidFill>
                  <a:prstDash val="solid"/>
                </a:ln>
                <a:solidFill>
                  <a:srgbClr val="FFFFFF"/>
                </a:solidFill>
                <a:effectLst>
                  <a:outerShdw dist="38100" dir="2700000" algn="tl" rotWithShape="0">
                    <a:schemeClr val="accent2"/>
                  </a:outerShdw>
                </a:effectLst>
                <a:latin typeface="Calibri" pitchFamily="34" charset="0"/>
                <a:ea typeface="Calibri" pitchFamily="34" charset="-122"/>
                <a:cs typeface="Calibri" pitchFamily="34" charset="-120"/>
              </a:rPr>
              <a:t>05  ·  CHALLENGES &amp; LESSONS  </a:t>
            </a:r>
            <a:r>
              <a:rPr lang="en-US" sz="3200" b="1" kern="0" dirty="0">
                <a:ln w="6600">
                  <a:solidFill>
                    <a:schemeClr val="accent2"/>
                  </a:solidFill>
                  <a:prstDash val="solid"/>
                </a:ln>
                <a:solidFill>
                  <a:srgbClr val="FFFFFF"/>
                </a:solidFill>
                <a:effectLst>
                  <a:outerShdw dist="38100" dir="2700000" algn="tl" rotWithShape="0">
                    <a:schemeClr val="accent2"/>
                  </a:outerShdw>
                </a:effectLst>
                <a:latin typeface="Calibri" pitchFamily="34" charset="0"/>
                <a:ea typeface="Calibri" pitchFamily="34" charset="-122"/>
                <a:cs typeface="Calibri" pitchFamily="34" charset="-120"/>
              </a:rPr>
              <a:t>›  WHAT WENT WRONG</a:t>
            </a:r>
            <a:endParaRPr 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Text 1"/>
          <p:cNvSpPr txBox="1"/>
          <p:nvPr/>
        </p:nvSpPr>
        <p:spPr>
          <a:xfrm>
            <a:off x="3249170" y="944203"/>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Where the project pushed back</a:t>
            </a:r>
            <a:endParaRPr lang="en-US" sz="3000" dirty="0"/>
          </a:p>
        </p:txBody>
      </p:sp>
      <p:sp>
        <p:nvSpPr>
          <p:cNvPr id="4" name="Shape 2"/>
          <p:cNvSpPr/>
          <p:nvPr/>
        </p:nvSpPr>
        <p:spPr>
          <a:xfrm>
            <a:off x="576072" y="6483096"/>
            <a:ext cx="128016" cy="128016"/>
          </a:xfrm>
          <a:prstGeom prst="ellipse">
            <a:avLst/>
          </a:prstGeom>
          <a:solidFill>
            <a:srgbClr val="0B1F3A"/>
          </a:solidFill>
          <a:ln w="12700">
            <a:solidFill>
              <a:srgbClr val="0B1F3A"/>
            </a:solidFill>
            <a:prstDash val="solid"/>
          </a:ln>
        </p:spPr>
      </p:sp>
      <p:sp>
        <p:nvSpPr>
          <p:cNvPr id="5" name="Text 3"/>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Introduction</a:t>
            </a:r>
            <a:endParaRPr lang="en-US" sz="1050" dirty="0"/>
          </a:p>
        </p:txBody>
      </p:sp>
      <p:sp>
        <p:nvSpPr>
          <p:cNvPr id="6" name="Shape 4"/>
          <p:cNvSpPr/>
          <p:nvPr/>
        </p:nvSpPr>
        <p:spPr>
          <a:xfrm>
            <a:off x="2039112" y="6483096"/>
            <a:ext cx="128016" cy="128016"/>
          </a:xfrm>
          <a:prstGeom prst="ellipse">
            <a:avLst/>
          </a:prstGeom>
          <a:solidFill>
            <a:srgbClr val="0B1F3A"/>
          </a:solidFill>
          <a:ln w="12700">
            <a:solidFill>
              <a:srgbClr val="0B1F3A"/>
            </a:solidFill>
            <a:prstDash val="solid"/>
          </a:ln>
        </p:spPr>
      </p:sp>
      <p:sp>
        <p:nvSpPr>
          <p:cNvPr id="7" name="Text 5"/>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Problem</a:t>
            </a:r>
            <a:endParaRPr lang="en-US" sz="1050" dirty="0"/>
          </a:p>
        </p:txBody>
      </p:sp>
      <p:sp>
        <p:nvSpPr>
          <p:cNvPr id="8" name="Shape 6"/>
          <p:cNvSpPr/>
          <p:nvPr/>
        </p:nvSpPr>
        <p:spPr>
          <a:xfrm>
            <a:off x="3182112" y="6483096"/>
            <a:ext cx="128016" cy="128016"/>
          </a:xfrm>
          <a:prstGeom prst="ellipse">
            <a:avLst/>
          </a:prstGeom>
          <a:solidFill>
            <a:srgbClr val="0B1F3A"/>
          </a:solidFill>
          <a:ln w="12700">
            <a:solidFill>
              <a:srgbClr val="0B1F3A"/>
            </a:solidFill>
            <a:prstDash val="solid"/>
          </a:ln>
        </p:spPr>
      </p:sp>
      <p:sp>
        <p:nvSpPr>
          <p:cNvPr id="9" name="Text 7"/>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Solution</a:t>
            </a:r>
            <a:endParaRPr lang="en-US" sz="1050" dirty="0"/>
          </a:p>
        </p:txBody>
      </p:sp>
      <p:sp>
        <p:nvSpPr>
          <p:cNvPr id="10" name="Shape 8"/>
          <p:cNvSpPr/>
          <p:nvPr/>
        </p:nvSpPr>
        <p:spPr>
          <a:xfrm>
            <a:off x="4370832" y="6483096"/>
            <a:ext cx="128016" cy="128016"/>
          </a:xfrm>
          <a:prstGeom prst="ellipse">
            <a:avLst/>
          </a:prstGeom>
          <a:solidFill>
            <a:srgbClr val="0B1F3A"/>
          </a:solidFill>
          <a:ln w="12700">
            <a:solidFill>
              <a:srgbClr val="0B1F3A"/>
            </a:solidFill>
            <a:prstDash val="solid"/>
          </a:ln>
        </p:spPr>
      </p:sp>
      <p:sp>
        <p:nvSpPr>
          <p:cNvPr id="11" name="Text 9"/>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Insights</a:t>
            </a:r>
            <a:endParaRPr lang="en-US" sz="1050" dirty="0"/>
          </a:p>
        </p:txBody>
      </p:sp>
      <p:sp>
        <p:nvSpPr>
          <p:cNvPr id="12" name="Shape 10"/>
          <p:cNvSpPr/>
          <p:nvPr/>
        </p:nvSpPr>
        <p:spPr>
          <a:xfrm>
            <a:off x="5458968" y="6391656"/>
            <a:ext cx="1920240" cy="310896"/>
          </a:xfrm>
          <a:prstGeom prst="roundRect">
            <a:avLst>
              <a:gd name="adj" fmla="val 50000"/>
            </a:avLst>
          </a:prstGeom>
          <a:solidFill>
            <a:srgbClr val="FDE8DA"/>
          </a:solidFill>
          <a:ln w="6350">
            <a:solidFill>
              <a:srgbClr val="FDE8DA"/>
            </a:solidFill>
            <a:prstDash val="solid"/>
          </a:ln>
        </p:spPr>
      </p:sp>
      <p:sp>
        <p:nvSpPr>
          <p:cNvPr id="13" name="Shape 11"/>
          <p:cNvSpPr/>
          <p:nvPr/>
        </p:nvSpPr>
        <p:spPr>
          <a:xfrm>
            <a:off x="5559552" y="6483096"/>
            <a:ext cx="128016" cy="128016"/>
          </a:xfrm>
          <a:prstGeom prst="ellipse">
            <a:avLst/>
          </a:prstGeom>
          <a:solidFill>
            <a:srgbClr val="F26B21"/>
          </a:solidFill>
          <a:ln w="12700">
            <a:solidFill>
              <a:srgbClr val="F26B21"/>
            </a:solidFill>
            <a:prstDash val="solid"/>
          </a:ln>
        </p:spPr>
      </p:sp>
      <p:sp>
        <p:nvSpPr>
          <p:cNvPr id="14" name="Text 12"/>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Challenges &amp; Lessons</a:t>
            </a:r>
            <a:endParaRPr lang="en-US" sz="1100" dirty="0"/>
          </a:p>
        </p:txBody>
      </p:sp>
      <p:sp>
        <p:nvSpPr>
          <p:cNvPr id="15" name="Shape 13"/>
          <p:cNvSpPr/>
          <p:nvPr/>
        </p:nvSpPr>
        <p:spPr>
          <a:xfrm>
            <a:off x="7571232" y="6483096"/>
            <a:ext cx="128016" cy="128016"/>
          </a:xfrm>
          <a:prstGeom prst="ellipse">
            <a:avLst/>
          </a:prstGeom>
          <a:solidFill>
            <a:srgbClr val="FFFFFF"/>
          </a:solidFill>
          <a:ln w="12700">
            <a:solidFill>
              <a:srgbClr val="8A94A6"/>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050" dirty="0">
                <a:solidFill>
                  <a:schemeClr val="bg1"/>
                </a:solidFill>
                <a:latin typeface="Calibri" pitchFamily="34" charset="0"/>
                <a:ea typeface="Calibri" pitchFamily="34" charset="-122"/>
                <a:cs typeface="Calibri" pitchFamily="34" charset="-120"/>
              </a:rPr>
              <a:t>Conclusion</a:t>
            </a:r>
            <a:endParaRPr lang="en-US" sz="1050" dirty="0">
              <a:solidFill>
                <a:schemeClr val="bg1"/>
              </a:solidFill>
            </a:endParaRPr>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5B6678"/>
                </a:solidFill>
                <a:latin typeface="Calibri" pitchFamily="34" charset="0"/>
                <a:ea typeface="Calibri" pitchFamily="34" charset="-122"/>
                <a:cs typeface="Calibri" pitchFamily="34" charset="-120"/>
              </a:rPr>
              <a:t>12</a:t>
            </a:r>
            <a:endParaRPr lang="en-US" sz="1000" dirty="0"/>
          </a:p>
        </p:txBody>
      </p:sp>
      <p:sp>
        <p:nvSpPr>
          <p:cNvPr id="18" name="Shape 16"/>
          <p:cNvSpPr/>
          <p:nvPr/>
        </p:nvSpPr>
        <p:spPr>
          <a:xfrm>
            <a:off x="420624" y="1603587"/>
            <a:ext cx="3547872" cy="4206240"/>
          </a:xfrm>
          <a:prstGeom prst="roundRect">
            <a:avLst>
              <a:gd name="adj" fmla="val 2577"/>
            </a:avLst>
          </a:prstGeom>
          <a:gradFill flip="none" rotWithShape="1">
            <a:gsLst>
              <a:gs pos="0">
                <a:schemeClr val="accent3">
                  <a:lumMod val="0"/>
                  <a:lumOff val="100000"/>
                  <a:alpha val="52000"/>
                </a:schemeClr>
              </a:gs>
              <a:gs pos="47000">
                <a:schemeClr val="accent3">
                  <a:lumMod val="97000"/>
                  <a:lumOff val="3000"/>
                  <a:alpha val="78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sp>
      <p:sp>
        <p:nvSpPr>
          <p:cNvPr id="19" name="Shape 17"/>
          <p:cNvSpPr/>
          <p:nvPr/>
        </p:nvSpPr>
        <p:spPr>
          <a:xfrm>
            <a:off x="822960" y="1828800"/>
            <a:ext cx="640080" cy="640080"/>
          </a:xfrm>
          <a:prstGeom prst="ellipse">
            <a:avLst/>
          </a:prstGeom>
          <a:solidFill>
            <a:srgbClr val="F26B21"/>
          </a:solidFill>
          <a:ln w="6350">
            <a:solidFill>
              <a:srgbClr val="F26B21"/>
            </a:solidFill>
            <a:prstDash val="solid"/>
          </a:ln>
        </p:spPr>
      </p:sp>
      <p:pic>
        <p:nvPicPr>
          <p:cNvPr id="20" name="Image 0" descr="preencoded.png"/>
          <p:cNvPicPr>
            <a:picLocks noChangeAspect="1"/>
          </p:cNvPicPr>
          <p:nvPr/>
        </p:nvPicPr>
        <p:blipFill>
          <a:blip r:embed="rId7"/>
          <a:stretch>
            <a:fillRect/>
          </a:stretch>
        </p:blipFill>
        <p:spPr>
          <a:xfrm>
            <a:off x="995782" y="2001622"/>
            <a:ext cx="294437" cy="294437"/>
          </a:xfrm>
          <a:prstGeom prst="rect">
            <a:avLst/>
          </a:prstGeom>
        </p:spPr>
      </p:pic>
      <p:sp>
        <p:nvSpPr>
          <p:cNvPr id="21" name="Text 18"/>
          <p:cNvSpPr txBox="1"/>
          <p:nvPr/>
        </p:nvSpPr>
        <p:spPr>
          <a:xfrm>
            <a:off x="822960" y="2651760"/>
            <a:ext cx="2999232" cy="68580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Fabric Git integration was greyed out</a:t>
            </a:r>
            <a:endParaRPr lang="en-US" sz="1800" dirty="0"/>
          </a:p>
        </p:txBody>
      </p:sp>
      <p:sp>
        <p:nvSpPr>
          <p:cNvPr id="22" name="Text 19"/>
          <p:cNvSpPr txBox="1"/>
          <p:nvPr/>
        </p:nvSpPr>
        <p:spPr>
          <a:xfrm>
            <a:off x="822960" y="3474720"/>
            <a:ext cx="2999232" cy="1645920"/>
          </a:xfrm>
          <a:prstGeom prst="rect">
            <a:avLst/>
          </a:prstGeom>
          <a:noFill/>
          <a:ln/>
        </p:spPr>
        <p:txBody>
          <a:bodyPr wrap="square" lIns="0" tIns="0" rIns="0" bIns="0" rtlCol="0" anchor="t"/>
          <a:lstStyle/>
          <a:p>
            <a:pPr marL="0" indent="0">
              <a:buNone/>
            </a:pPr>
            <a:r>
              <a:rPr lang="en-US" sz="1500" dirty="0">
                <a:solidFill>
                  <a:srgbClr val="5B6678"/>
                </a:solidFill>
                <a:latin typeface="Calibri" pitchFamily="34" charset="0"/>
                <a:ea typeface="Calibri" pitchFamily="34" charset="-122"/>
                <a:cs typeface="Calibri" pitchFamily="34" charset="-120"/>
              </a:rPr>
              <a:t>Our trial-tenant workspace was not Git-enabled, and enabling it needed admin rights we did not have. GitHub could not sync code into Fabric.</a:t>
            </a:r>
            <a:endParaRPr lang="en-US" sz="1500" dirty="0"/>
          </a:p>
        </p:txBody>
      </p:sp>
      <p:sp>
        <p:nvSpPr>
          <p:cNvPr id="23" name="Shape 20"/>
          <p:cNvSpPr/>
          <p:nvPr/>
        </p:nvSpPr>
        <p:spPr>
          <a:xfrm>
            <a:off x="822960" y="5074920"/>
            <a:ext cx="2286000" cy="384048"/>
          </a:xfrm>
          <a:prstGeom prst="roundRect">
            <a:avLst>
              <a:gd name="adj" fmla="val 47619"/>
            </a:avLst>
          </a:prstGeom>
          <a:solidFill>
            <a:srgbClr val="FDE8DA"/>
          </a:solidFill>
          <a:ln w="6350">
            <a:solidFill>
              <a:srgbClr val="FDE8DA"/>
            </a:solidFill>
            <a:prstDash val="solid"/>
          </a:ln>
        </p:spPr>
      </p:sp>
      <p:sp>
        <p:nvSpPr>
          <p:cNvPr id="24" name="Text 21"/>
          <p:cNvSpPr txBox="1"/>
          <p:nvPr/>
        </p:nvSpPr>
        <p:spPr>
          <a:xfrm>
            <a:off x="822960" y="5074920"/>
            <a:ext cx="2286000" cy="384048"/>
          </a:xfrm>
          <a:prstGeom prst="rect">
            <a:avLst/>
          </a:prstGeom>
          <a:noFill/>
          <a:ln/>
        </p:spPr>
        <p:txBody>
          <a:bodyPr wrap="square" lIns="0" tIns="0" rIns="0" bIns="0" rtlCol="0" anchor="ctr"/>
          <a:lstStyle/>
          <a:p>
            <a:pPr marL="0" indent="0" algn="ctr">
              <a:buNone/>
            </a:pPr>
            <a:r>
              <a:rPr lang="en-US" sz="1200" b="1" dirty="0">
                <a:solidFill>
                  <a:srgbClr val="B4470F"/>
                </a:solidFill>
                <a:latin typeface="Calibri" pitchFamily="34" charset="0"/>
                <a:ea typeface="Calibri" pitchFamily="34" charset="-122"/>
                <a:cs typeface="Calibri" pitchFamily="34" charset="-120"/>
              </a:rPr>
              <a:t>No two-way sync</a:t>
            </a:r>
            <a:endParaRPr lang="en-US" sz="1200" dirty="0"/>
          </a:p>
        </p:txBody>
      </p:sp>
      <p:sp>
        <p:nvSpPr>
          <p:cNvPr id="25" name="Shape 22"/>
          <p:cNvSpPr/>
          <p:nvPr/>
        </p:nvSpPr>
        <p:spPr>
          <a:xfrm>
            <a:off x="4242816" y="1554480"/>
            <a:ext cx="3547872" cy="4206240"/>
          </a:xfrm>
          <a:prstGeom prst="roundRect">
            <a:avLst>
              <a:gd name="adj" fmla="val 2577"/>
            </a:avLst>
          </a:prstGeom>
          <a:gradFill flip="none" rotWithShape="1">
            <a:gsLst>
              <a:gs pos="0">
                <a:schemeClr val="accent3">
                  <a:alpha val="86000"/>
                  <a:lumMod val="0"/>
                  <a:lumOff val="100000"/>
                </a:schemeClr>
              </a:gs>
              <a:gs pos="48000">
                <a:schemeClr val="accent3">
                  <a:lumMod val="97000"/>
                  <a:lumOff val="3000"/>
                  <a:alpha val="75000"/>
                </a:schemeClr>
              </a:gs>
              <a:gs pos="100000">
                <a:schemeClr val="accent3">
                  <a:lumMod val="60000"/>
                  <a:lumOff val="40000"/>
                  <a:alpha val="94000"/>
                </a:schemeClr>
              </a:gs>
            </a:gsLst>
            <a:lin ang="16200000" scaled="1"/>
            <a:tileRect/>
          </a:gradFill>
          <a:ln>
            <a:noFill/>
          </a:ln>
        </p:spPr>
        <p:style>
          <a:lnRef idx="0">
            <a:scrgbClr r="0" g="0" b="0"/>
          </a:lnRef>
          <a:fillRef idx="0">
            <a:scrgbClr r="0" g="0" b="0"/>
          </a:fillRef>
          <a:effectRef idx="0">
            <a:scrgbClr r="0" g="0" b="0"/>
          </a:effectRef>
          <a:fontRef idx="minor">
            <a:schemeClr val="lt1"/>
          </a:fontRef>
        </p:style>
      </p:sp>
      <p:sp>
        <p:nvSpPr>
          <p:cNvPr id="26" name="Shape 23"/>
          <p:cNvSpPr/>
          <p:nvPr/>
        </p:nvSpPr>
        <p:spPr>
          <a:xfrm>
            <a:off x="4590288" y="1828800"/>
            <a:ext cx="640080" cy="640080"/>
          </a:xfrm>
          <a:prstGeom prst="ellipse">
            <a:avLst/>
          </a:prstGeom>
          <a:solidFill>
            <a:srgbClr val="F26B21"/>
          </a:solidFill>
          <a:ln w="6350">
            <a:solidFill>
              <a:srgbClr val="F26B21"/>
            </a:solidFill>
            <a:prstDash val="solid"/>
          </a:ln>
        </p:spPr>
      </p:sp>
      <p:pic>
        <p:nvPicPr>
          <p:cNvPr id="27" name="Image 1" descr="preencoded.png"/>
          <p:cNvPicPr>
            <a:picLocks noChangeAspect="1"/>
          </p:cNvPicPr>
          <p:nvPr/>
        </p:nvPicPr>
        <p:blipFill>
          <a:blip r:embed="rId8"/>
          <a:stretch>
            <a:fillRect/>
          </a:stretch>
        </p:blipFill>
        <p:spPr>
          <a:xfrm>
            <a:off x="4763110" y="2001622"/>
            <a:ext cx="294437" cy="294437"/>
          </a:xfrm>
          <a:prstGeom prst="rect">
            <a:avLst/>
          </a:prstGeom>
        </p:spPr>
      </p:pic>
      <p:sp>
        <p:nvSpPr>
          <p:cNvPr id="28" name="Text 24"/>
          <p:cNvSpPr txBox="1"/>
          <p:nvPr/>
        </p:nvSpPr>
        <p:spPr>
          <a:xfrm>
            <a:off x="4590288" y="2651760"/>
            <a:ext cx="2999232" cy="68580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GitHub could not upload to OneLake</a:t>
            </a:r>
            <a:endParaRPr lang="en-US" sz="1800" dirty="0"/>
          </a:p>
        </p:txBody>
      </p:sp>
      <p:sp>
        <p:nvSpPr>
          <p:cNvPr id="29" name="Text 25"/>
          <p:cNvSpPr txBox="1"/>
          <p:nvPr/>
        </p:nvSpPr>
        <p:spPr>
          <a:xfrm>
            <a:off x="4590288" y="3474720"/>
            <a:ext cx="2999232" cy="1645920"/>
          </a:xfrm>
          <a:prstGeom prst="rect">
            <a:avLst/>
          </a:prstGeom>
          <a:noFill/>
          <a:ln/>
        </p:spPr>
        <p:txBody>
          <a:bodyPr wrap="square" lIns="0" tIns="0" rIns="0" bIns="0" rtlCol="0" anchor="t"/>
          <a:lstStyle/>
          <a:p>
            <a:pPr marL="0" indent="0">
              <a:buNone/>
            </a:pPr>
            <a:r>
              <a:rPr lang="en-US" sz="1500" dirty="0">
                <a:solidFill>
                  <a:srgbClr val="5B6678"/>
                </a:solidFill>
                <a:latin typeface="Calibri" pitchFamily="34" charset="0"/>
                <a:ea typeface="Calibri" pitchFamily="34" charset="-122"/>
                <a:cs typeface="Calibri" pitchFamily="34" charset="-120"/>
              </a:rPr>
              <a:t>The deployment workflow returned 401 and 404 errors. The trial tenant only allowed a Power BI API permission, not the Fabric one we needed.</a:t>
            </a:r>
            <a:endParaRPr lang="en-US" sz="1500" dirty="0"/>
          </a:p>
        </p:txBody>
      </p:sp>
      <p:sp>
        <p:nvSpPr>
          <p:cNvPr id="30" name="Shape 26"/>
          <p:cNvSpPr/>
          <p:nvPr/>
        </p:nvSpPr>
        <p:spPr>
          <a:xfrm>
            <a:off x="4590288" y="5074920"/>
            <a:ext cx="2286000" cy="384048"/>
          </a:xfrm>
          <a:prstGeom prst="roundRect">
            <a:avLst>
              <a:gd name="adj" fmla="val 47619"/>
            </a:avLst>
          </a:prstGeom>
          <a:solidFill>
            <a:srgbClr val="FDE8DA"/>
          </a:solidFill>
          <a:ln w="6350">
            <a:solidFill>
              <a:srgbClr val="FDE8DA"/>
            </a:solidFill>
            <a:prstDash val="solid"/>
          </a:ln>
        </p:spPr>
      </p:sp>
      <p:sp>
        <p:nvSpPr>
          <p:cNvPr id="31" name="Text 27"/>
          <p:cNvSpPr txBox="1"/>
          <p:nvPr/>
        </p:nvSpPr>
        <p:spPr>
          <a:xfrm>
            <a:off x="4590288" y="5074920"/>
            <a:ext cx="2286000" cy="384048"/>
          </a:xfrm>
          <a:prstGeom prst="rect">
            <a:avLst/>
          </a:prstGeom>
          <a:noFill/>
          <a:ln/>
        </p:spPr>
        <p:txBody>
          <a:bodyPr wrap="square" lIns="0" tIns="0" rIns="0" bIns="0" rtlCol="0" anchor="ctr"/>
          <a:lstStyle/>
          <a:p>
            <a:pPr marL="0" indent="0" algn="ctr">
              <a:buNone/>
            </a:pPr>
            <a:r>
              <a:rPr lang="en-US" sz="1200" b="1" dirty="0">
                <a:solidFill>
                  <a:srgbClr val="B4470F"/>
                </a:solidFill>
                <a:latin typeface="Calibri" pitchFamily="34" charset="0"/>
                <a:ea typeface="Calibri" pitchFamily="34" charset="-122"/>
                <a:cs typeface="Calibri" pitchFamily="34" charset="-120"/>
              </a:rPr>
              <a:t>Direct upload blocked</a:t>
            </a:r>
            <a:endParaRPr lang="en-US" sz="1200" dirty="0"/>
          </a:p>
        </p:txBody>
      </p:sp>
      <p:sp>
        <p:nvSpPr>
          <p:cNvPr id="32" name="Shape 28"/>
          <p:cNvSpPr/>
          <p:nvPr/>
        </p:nvSpPr>
        <p:spPr>
          <a:xfrm>
            <a:off x="8083296" y="1554480"/>
            <a:ext cx="3547872" cy="4206240"/>
          </a:xfrm>
          <a:prstGeom prst="roundRect">
            <a:avLst>
              <a:gd name="adj" fmla="val 2577"/>
            </a:avLst>
          </a:prstGeom>
          <a:gradFill flip="none" rotWithShape="1">
            <a:gsLst>
              <a:gs pos="54604">
                <a:srgbClr val="ACACAC">
                  <a:alpha val="90000"/>
                </a:srgbClr>
              </a:gs>
              <a:gs pos="0">
                <a:schemeClr val="accent3">
                  <a:alpha val="69000"/>
                  <a:lumMod val="78000"/>
                </a:schemeClr>
              </a:gs>
              <a:gs pos="48000">
                <a:schemeClr val="accent3">
                  <a:lumMod val="97000"/>
                  <a:lumOff val="3000"/>
                  <a:alpha val="56000"/>
                </a:schemeClr>
              </a:gs>
              <a:gs pos="100000">
                <a:schemeClr val="accent3">
                  <a:lumMod val="60000"/>
                  <a:lumOff val="40000"/>
                  <a:alpha val="54000"/>
                </a:schemeClr>
              </a:gs>
            </a:gsLst>
            <a:lin ang="16200000" scaled="1"/>
            <a:tileRect/>
          </a:gradFill>
          <a:ln>
            <a:noFill/>
          </a:ln>
        </p:spPr>
        <p:style>
          <a:lnRef idx="0">
            <a:scrgbClr r="0" g="0" b="0"/>
          </a:lnRef>
          <a:fillRef idx="0">
            <a:scrgbClr r="0" g="0" b="0"/>
          </a:fillRef>
          <a:effectRef idx="0">
            <a:scrgbClr r="0" g="0" b="0"/>
          </a:effectRef>
          <a:fontRef idx="minor">
            <a:schemeClr val="lt1"/>
          </a:fontRef>
        </p:style>
      </p:sp>
      <p:sp>
        <p:nvSpPr>
          <p:cNvPr id="33" name="Shape 29"/>
          <p:cNvSpPr/>
          <p:nvPr/>
        </p:nvSpPr>
        <p:spPr>
          <a:xfrm>
            <a:off x="8357616" y="1828800"/>
            <a:ext cx="640080" cy="640080"/>
          </a:xfrm>
          <a:prstGeom prst="ellipse">
            <a:avLst/>
          </a:prstGeom>
          <a:solidFill>
            <a:srgbClr val="F26B21"/>
          </a:solidFill>
          <a:ln w="6350">
            <a:solidFill>
              <a:srgbClr val="F26B21"/>
            </a:solidFill>
            <a:prstDash val="solid"/>
          </a:ln>
        </p:spPr>
      </p:sp>
      <p:pic>
        <p:nvPicPr>
          <p:cNvPr id="34" name="Image 2" descr="preencoded.png"/>
          <p:cNvPicPr>
            <a:picLocks noChangeAspect="1"/>
          </p:cNvPicPr>
          <p:nvPr/>
        </p:nvPicPr>
        <p:blipFill>
          <a:blip r:embed="rId9"/>
          <a:stretch>
            <a:fillRect/>
          </a:stretch>
        </p:blipFill>
        <p:spPr>
          <a:xfrm>
            <a:off x="8530438" y="2001622"/>
            <a:ext cx="294437" cy="294437"/>
          </a:xfrm>
          <a:prstGeom prst="rect">
            <a:avLst/>
          </a:prstGeom>
        </p:spPr>
      </p:pic>
      <p:sp>
        <p:nvSpPr>
          <p:cNvPr id="35" name="Text 30"/>
          <p:cNvSpPr txBox="1"/>
          <p:nvPr/>
        </p:nvSpPr>
        <p:spPr>
          <a:xfrm>
            <a:off x="8357616" y="2651760"/>
            <a:ext cx="2999232" cy="68580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Fabric notebooks cannot run pytest</a:t>
            </a:r>
            <a:endParaRPr lang="en-US" sz="1800" dirty="0"/>
          </a:p>
        </p:txBody>
      </p:sp>
      <p:sp>
        <p:nvSpPr>
          <p:cNvPr id="36" name="Text 31"/>
          <p:cNvSpPr txBox="1"/>
          <p:nvPr/>
        </p:nvSpPr>
        <p:spPr>
          <a:xfrm>
            <a:off x="8357616" y="3474720"/>
            <a:ext cx="2999232" cy="1645920"/>
          </a:xfrm>
          <a:prstGeom prst="rect">
            <a:avLst/>
          </a:prstGeom>
          <a:noFill/>
          <a:ln/>
        </p:spPr>
        <p:txBody>
          <a:bodyPr wrap="square" lIns="0" tIns="0" rIns="0" bIns="0" rtlCol="0" anchor="t"/>
          <a:lstStyle/>
          <a:p>
            <a:pPr marL="0" indent="0">
              <a:buNone/>
            </a:pPr>
            <a:r>
              <a:rPr lang="en-US" sz="1500" dirty="0">
                <a:solidFill>
                  <a:srgbClr val="5B6678"/>
                </a:solidFill>
                <a:latin typeface="Calibri" pitchFamily="34" charset="0"/>
                <a:ea typeface="Calibri" pitchFamily="34" charset="-122"/>
                <a:cs typeface="Calibri" pitchFamily="34" charset="-120"/>
              </a:rPr>
              <a:t>Notebooks execute inside the Fabric Spark runtime, so pytest and CI runners cannot import or test them. Gold logic had no automated test path.</a:t>
            </a:r>
            <a:endParaRPr lang="en-US" sz="1500" dirty="0"/>
          </a:p>
        </p:txBody>
      </p:sp>
      <p:sp>
        <p:nvSpPr>
          <p:cNvPr id="37" name="Shape 32"/>
          <p:cNvSpPr/>
          <p:nvPr/>
        </p:nvSpPr>
        <p:spPr>
          <a:xfrm>
            <a:off x="8357616" y="5074920"/>
            <a:ext cx="2286000" cy="384048"/>
          </a:xfrm>
          <a:prstGeom prst="roundRect">
            <a:avLst>
              <a:gd name="adj" fmla="val 47619"/>
            </a:avLst>
          </a:prstGeom>
          <a:solidFill>
            <a:srgbClr val="FDE8DA"/>
          </a:solidFill>
          <a:ln w="6350">
            <a:solidFill>
              <a:srgbClr val="FDE8DA"/>
            </a:solidFill>
            <a:prstDash val="solid"/>
          </a:ln>
        </p:spPr>
      </p:sp>
      <p:sp>
        <p:nvSpPr>
          <p:cNvPr id="38" name="Text 33"/>
          <p:cNvSpPr txBox="1"/>
          <p:nvPr/>
        </p:nvSpPr>
        <p:spPr>
          <a:xfrm>
            <a:off x="8357616" y="5074920"/>
            <a:ext cx="2286000" cy="384048"/>
          </a:xfrm>
          <a:prstGeom prst="rect">
            <a:avLst/>
          </a:prstGeom>
          <a:noFill/>
          <a:ln/>
        </p:spPr>
        <p:txBody>
          <a:bodyPr wrap="square" lIns="0" tIns="0" rIns="0" bIns="0" rtlCol="0" anchor="ctr"/>
          <a:lstStyle/>
          <a:p>
            <a:pPr marL="0" indent="0" algn="ctr">
              <a:buNone/>
            </a:pPr>
            <a:r>
              <a:rPr lang="en-US" sz="1200" b="1" dirty="0">
                <a:solidFill>
                  <a:srgbClr val="B4470F"/>
                </a:solidFill>
                <a:latin typeface="Calibri" pitchFamily="34" charset="0"/>
                <a:ea typeface="Calibri" pitchFamily="34" charset="-122"/>
                <a:cs typeface="Calibri" pitchFamily="34" charset="-120"/>
              </a:rPr>
              <a:t>No cloud unit tests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B9422ECC-EF69-B328-E46D-E03F9D51DA5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34000"/>
                    </a14:imgEffect>
                    <a14:imgEffect>
                      <a14:colorTemperature colorTemp="6261"/>
                    </a14:imgEffect>
                    <a14:imgEffect>
                      <a14:brightnessContrast bright="-1000" contrast="-18000"/>
                    </a14:imgEffect>
                  </a14:imgLayer>
                </a14:imgProps>
              </a:ext>
            </a:extLst>
          </a:blip>
          <a:stretch>
            <a:fillRect/>
          </a:stretch>
        </p:blipFill>
        <p:spPr>
          <a:xfrm>
            <a:off x="-689599" y="-45932"/>
            <a:ext cx="14103959" cy="6918251"/>
          </a:xfrm>
          <a:prstGeom prst="rect">
            <a:avLst/>
          </a:prstGeom>
          <a:blipFill dpi="0" rotWithShape="1">
            <a:blip r:embed="rId6">
              <a:alphaModFix amt="54000"/>
            </a:blip>
            <a:srcRect/>
            <a:tile tx="0" ty="0" sx="100000" sy="100000" flip="none" algn="tl"/>
          </a:blipFill>
          <a:effectLst>
            <a:outerShdw blurRad="50800" dist="50800" dir="5400000" algn="ctr" rotWithShape="0">
              <a:srgbClr val="000000">
                <a:alpha val="24000"/>
              </a:srgbClr>
            </a:outerShdw>
          </a:effectLst>
        </p:spPr>
      </p:pic>
      <p:sp>
        <p:nvSpPr>
          <p:cNvPr id="2" name="Text 0"/>
          <p:cNvSpPr txBox="1"/>
          <p:nvPr/>
        </p:nvSpPr>
        <p:spPr>
          <a:xfrm>
            <a:off x="548640" y="347472"/>
            <a:ext cx="731520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05  ·  CHALLENGES &amp; LESSONS  ›  HOW WE RESOLVED IT</a:t>
            </a:r>
            <a:endParaRPr lang="en-US" sz="1200" dirty="0"/>
          </a:p>
        </p:txBody>
      </p:sp>
      <p:sp>
        <p:nvSpPr>
          <p:cNvPr id="3" name="Text 1"/>
          <p:cNvSpPr txBox="1"/>
          <p:nvPr/>
        </p:nvSpPr>
        <p:spPr>
          <a:xfrm>
            <a:off x="548640" y="621792"/>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How we resolved it under real constraints</a:t>
            </a:r>
            <a:endParaRPr lang="en-US" sz="3000" dirty="0"/>
          </a:p>
        </p:txBody>
      </p:sp>
      <p:sp>
        <p:nvSpPr>
          <p:cNvPr id="4" name="Shape 2"/>
          <p:cNvSpPr/>
          <p:nvPr/>
        </p:nvSpPr>
        <p:spPr>
          <a:xfrm>
            <a:off x="576072" y="6483096"/>
            <a:ext cx="128016" cy="128016"/>
          </a:xfrm>
          <a:prstGeom prst="ellipse">
            <a:avLst/>
          </a:prstGeom>
          <a:solidFill>
            <a:srgbClr val="0B1F3A"/>
          </a:solidFill>
          <a:ln w="12700">
            <a:solidFill>
              <a:srgbClr val="0B1F3A"/>
            </a:solidFill>
            <a:prstDash val="solid"/>
          </a:ln>
        </p:spPr>
      </p:sp>
      <p:sp>
        <p:nvSpPr>
          <p:cNvPr id="5" name="Text 3"/>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Introduction</a:t>
            </a:r>
            <a:endParaRPr lang="en-US" sz="1050" dirty="0"/>
          </a:p>
        </p:txBody>
      </p:sp>
      <p:sp>
        <p:nvSpPr>
          <p:cNvPr id="6" name="Shape 4"/>
          <p:cNvSpPr/>
          <p:nvPr/>
        </p:nvSpPr>
        <p:spPr>
          <a:xfrm>
            <a:off x="2039112" y="6483096"/>
            <a:ext cx="128016" cy="128016"/>
          </a:xfrm>
          <a:prstGeom prst="ellipse">
            <a:avLst/>
          </a:prstGeom>
          <a:solidFill>
            <a:srgbClr val="0B1F3A"/>
          </a:solidFill>
          <a:ln w="12700">
            <a:solidFill>
              <a:srgbClr val="0B1F3A"/>
            </a:solidFill>
            <a:prstDash val="solid"/>
          </a:ln>
        </p:spPr>
      </p:sp>
      <p:sp>
        <p:nvSpPr>
          <p:cNvPr id="7" name="Text 5"/>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Problem</a:t>
            </a:r>
            <a:endParaRPr lang="en-US" sz="1050" dirty="0"/>
          </a:p>
        </p:txBody>
      </p:sp>
      <p:sp>
        <p:nvSpPr>
          <p:cNvPr id="8" name="Shape 6"/>
          <p:cNvSpPr/>
          <p:nvPr/>
        </p:nvSpPr>
        <p:spPr>
          <a:xfrm>
            <a:off x="3182112" y="6483096"/>
            <a:ext cx="128016" cy="128016"/>
          </a:xfrm>
          <a:prstGeom prst="ellipse">
            <a:avLst/>
          </a:prstGeom>
          <a:solidFill>
            <a:srgbClr val="0B1F3A"/>
          </a:solidFill>
          <a:ln w="12700">
            <a:solidFill>
              <a:srgbClr val="0B1F3A"/>
            </a:solidFill>
            <a:prstDash val="solid"/>
          </a:ln>
        </p:spPr>
      </p:sp>
      <p:sp>
        <p:nvSpPr>
          <p:cNvPr id="9" name="Text 7"/>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Solution</a:t>
            </a:r>
            <a:endParaRPr lang="en-US" sz="1050" dirty="0"/>
          </a:p>
        </p:txBody>
      </p:sp>
      <p:sp>
        <p:nvSpPr>
          <p:cNvPr id="10" name="Shape 8"/>
          <p:cNvSpPr/>
          <p:nvPr/>
        </p:nvSpPr>
        <p:spPr>
          <a:xfrm>
            <a:off x="4370832" y="6483096"/>
            <a:ext cx="128016" cy="128016"/>
          </a:xfrm>
          <a:prstGeom prst="ellipse">
            <a:avLst/>
          </a:prstGeom>
          <a:solidFill>
            <a:srgbClr val="0B1F3A"/>
          </a:solidFill>
          <a:ln w="12700">
            <a:solidFill>
              <a:srgbClr val="0B1F3A"/>
            </a:solidFill>
            <a:prstDash val="solid"/>
          </a:ln>
        </p:spPr>
      </p:sp>
      <p:sp>
        <p:nvSpPr>
          <p:cNvPr id="11" name="Text 9"/>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Insights</a:t>
            </a:r>
            <a:endParaRPr lang="en-US" sz="1050" dirty="0"/>
          </a:p>
        </p:txBody>
      </p:sp>
      <p:sp>
        <p:nvSpPr>
          <p:cNvPr id="12" name="Shape 10"/>
          <p:cNvSpPr/>
          <p:nvPr/>
        </p:nvSpPr>
        <p:spPr>
          <a:xfrm>
            <a:off x="5458968" y="6391656"/>
            <a:ext cx="1920240" cy="310896"/>
          </a:xfrm>
          <a:prstGeom prst="roundRect">
            <a:avLst>
              <a:gd name="adj" fmla="val 50000"/>
            </a:avLst>
          </a:prstGeom>
          <a:solidFill>
            <a:srgbClr val="FDE8DA"/>
          </a:solidFill>
          <a:ln w="6350">
            <a:solidFill>
              <a:srgbClr val="FDE8DA"/>
            </a:solidFill>
            <a:prstDash val="solid"/>
          </a:ln>
        </p:spPr>
      </p:sp>
      <p:sp>
        <p:nvSpPr>
          <p:cNvPr id="13" name="Shape 11"/>
          <p:cNvSpPr/>
          <p:nvPr/>
        </p:nvSpPr>
        <p:spPr>
          <a:xfrm>
            <a:off x="5559552" y="6483096"/>
            <a:ext cx="128016" cy="128016"/>
          </a:xfrm>
          <a:prstGeom prst="ellipse">
            <a:avLst/>
          </a:prstGeom>
          <a:solidFill>
            <a:srgbClr val="F26B21"/>
          </a:solidFill>
          <a:ln w="12700">
            <a:solidFill>
              <a:srgbClr val="F26B21"/>
            </a:solidFill>
            <a:prstDash val="solid"/>
          </a:ln>
        </p:spPr>
      </p:sp>
      <p:sp>
        <p:nvSpPr>
          <p:cNvPr id="14" name="Text 12"/>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Challenges &amp; Lessons</a:t>
            </a:r>
            <a:endParaRPr lang="en-US" sz="1100" dirty="0"/>
          </a:p>
        </p:txBody>
      </p:sp>
      <p:sp>
        <p:nvSpPr>
          <p:cNvPr id="15" name="Shape 13"/>
          <p:cNvSpPr/>
          <p:nvPr/>
        </p:nvSpPr>
        <p:spPr>
          <a:xfrm>
            <a:off x="7571232" y="6483096"/>
            <a:ext cx="128016" cy="128016"/>
          </a:xfrm>
          <a:prstGeom prst="ellipse">
            <a:avLst/>
          </a:prstGeom>
          <a:solidFill>
            <a:srgbClr val="FFFFFF"/>
          </a:solidFill>
          <a:ln w="12700">
            <a:solidFill>
              <a:srgbClr val="8A94A6"/>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Conclusion</a:t>
            </a:r>
            <a:endParaRPr lang="en-US" sz="1050" dirty="0"/>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5B6678"/>
                </a:solidFill>
                <a:latin typeface="Calibri" pitchFamily="34" charset="0"/>
                <a:ea typeface="Calibri" pitchFamily="34" charset="-122"/>
                <a:cs typeface="Calibri" pitchFamily="34" charset="-120"/>
              </a:rPr>
              <a:t>13</a:t>
            </a:r>
            <a:endParaRPr lang="en-US" sz="1000" dirty="0"/>
          </a:p>
        </p:txBody>
      </p:sp>
      <p:sp>
        <p:nvSpPr>
          <p:cNvPr id="18" name="Text 16"/>
          <p:cNvSpPr txBox="1"/>
          <p:nvPr/>
        </p:nvSpPr>
        <p:spPr>
          <a:xfrm>
            <a:off x="777240" y="1463040"/>
            <a:ext cx="2651760" cy="256032"/>
          </a:xfrm>
          <a:prstGeom prst="rect">
            <a:avLst/>
          </a:prstGeom>
          <a:noFill/>
          <a:ln/>
        </p:spPr>
        <p:txBody>
          <a:bodyPr wrap="square" lIns="0" tIns="0" rIns="0" bIns="0" rtlCol="0" anchor="t"/>
          <a:lstStyle/>
          <a:p>
            <a:pPr marL="0" indent="0">
              <a:buNone/>
            </a:pPr>
            <a:r>
              <a:rPr lang="en-US" sz="1100" b="1" kern="0" spc="200" dirty="0">
                <a:solidFill>
                  <a:srgbClr val="5B6678"/>
                </a:solidFill>
                <a:latin typeface="Calibri" pitchFamily="34" charset="0"/>
                <a:ea typeface="Calibri" pitchFamily="34" charset="-122"/>
                <a:cs typeface="Calibri" pitchFamily="34" charset="-120"/>
              </a:rPr>
              <a:t>CHALLENGE</a:t>
            </a:r>
            <a:endParaRPr lang="en-US" sz="1100" dirty="0"/>
          </a:p>
        </p:txBody>
      </p:sp>
      <p:sp>
        <p:nvSpPr>
          <p:cNvPr id="19" name="Text 17"/>
          <p:cNvSpPr txBox="1"/>
          <p:nvPr/>
        </p:nvSpPr>
        <p:spPr>
          <a:xfrm>
            <a:off x="3657600" y="1463040"/>
            <a:ext cx="4572000" cy="256032"/>
          </a:xfrm>
          <a:prstGeom prst="rect">
            <a:avLst/>
          </a:prstGeom>
          <a:noFill/>
          <a:ln/>
        </p:spPr>
        <p:txBody>
          <a:bodyPr wrap="square" lIns="0" tIns="0" rIns="0" bIns="0" rtlCol="0" anchor="t"/>
          <a:lstStyle/>
          <a:p>
            <a:pPr marL="0" indent="0">
              <a:buNone/>
            </a:pPr>
            <a:r>
              <a:rPr lang="en-US" sz="1100" b="1" kern="0" spc="200" dirty="0">
                <a:solidFill>
                  <a:srgbClr val="5B6678"/>
                </a:solidFill>
                <a:latin typeface="Calibri" pitchFamily="34" charset="0"/>
                <a:ea typeface="Calibri" pitchFamily="34" charset="-122"/>
                <a:cs typeface="Calibri" pitchFamily="34" charset="-120"/>
              </a:rPr>
              <a:t>WHAT WE DID</a:t>
            </a:r>
            <a:endParaRPr lang="en-US" sz="1100" dirty="0"/>
          </a:p>
        </p:txBody>
      </p:sp>
      <p:sp>
        <p:nvSpPr>
          <p:cNvPr id="20" name="Text 18"/>
          <p:cNvSpPr txBox="1"/>
          <p:nvPr/>
        </p:nvSpPr>
        <p:spPr>
          <a:xfrm>
            <a:off x="8823960" y="1463040"/>
            <a:ext cx="2743200" cy="256032"/>
          </a:xfrm>
          <a:prstGeom prst="rect">
            <a:avLst/>
          </a:prstGeom>
          <a:noFill/>
          <a:ln/>
        </p:spPr>
        <p:txBody>
          <a:bodyPr wrap="square" lIns="0" tIns="0" rIns="0" bIns="0" rtlCol="0" anchor="t"/>
          <a:lstStyle/>
          <a:p>
            <a:pPr marL="0" indent="0">
              <a:buNone/>
            </a:pPr>
            <a:r>
              <a:rPr lang="en-US" sz="1100" b="1" kern="0" spc="200" dirty="0">
                <a:solidFill>
                  <a:srgbClr val="5B6678"/>
                </a:solidFill>
                <a:latin typeface="Calibri" pitchFamily="34" charset="0"/>
                <a:ea typeface="Calibri" pitchFamily="34" charset="-122"/>
                <a:cs typeface="Calibri" pitchFamily="34" charset="-120"/>
              </a:rPr>
              <a:t>TRADE-OFF WE ACCEPTED</a:t>
            </a:r>
            <a:endParaRPr lang="en-US" sz="1100" dirty="0"/>
          </a:p>
        </p:txBody>
      </p:sp>
      <p:sp>
        <p:nvSpPr>
          <p:cNvPr id="21" name="Shape 19"/>
          <p:cNvSpPr/>
          <p:nvPr/>
        </p:nvSpPr>
        <p:spPr>
          <a:xfrm>
            <a:off x="548640" y="1828800"/>
            <a:ext cx="11091672" cy="1280160"/>
          </a:xfrm>
          <a:prstGeom prst="roundRect">
            <a:avLst>
              <a:gd name="adj" fmla="val 7143"/>
            </a:avLst>
          </a:prstGeom>
          <a:solidFill>
            <a:srgbClr val="F1F4F9"/>
          </a:solidFill>
          <a:ln w="6350">
            <a:solidFill>
              <a:srgbClr val="F1F4F9"/>
            </a:solidFill>
            <a:prstDash val="solid"/>
          </a:ln>
        </p:spPr>
      </p:sp>
      <p:sp>
        <p:nvSpPr>
          <p:cNvPr id="22" name="Text 20"/>
          <p:cNvSpPr txBox="1"/>
          <p:nvPr/>
        </p:nvSpPr>
        <p:spPr>
          <a:xfrm>
            <a:off x="777240" y="1828800"/>
            <a:ext cx="2423160" cy="128016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Fabric Git integration unavailable</a:t>
            </a:r>
            <a:endParaRPr lang="en-US" sz="1500" dirty="0"/>
          </a:p>
        </p:txBody>
      </p:sp>
      <p:sp>
        <p:nvSpPr>
          <p:cNvPr id="23" name="Shape 21"/>
          <p:cNvSpPr/>
          <p:nvPr/>
        </p:nvSpPr>
        <p:spPr>
          <a:xfrm>
            <a:off x="3246120" y="2340864"/>
            <a:ext cx="274320" cy="256032"/>
          </a:xfrm>
          <a:prstGeom prst="rightArrow">
            <a:avLst/>
          </a:prstGeom>
          <a:solidFill>
            <a:srgbClr val="F26B21"/>
          </a:solidFill>
          <a:ln w="6350">
            <a:solidFill>
              <a:srgbClr val="F26B21"/>
            </a:solidFill>
            <a:prstDash val="solid"/>
          </a:ln>
        </p:spPr>
      </p:sp>
      <p:sp>
        <p:nvSpPr>
          <p:cNvPr id="24" name="Text 22"/>
          <p:cNvSpPr txBox="1"/>
          <p:nvPr/>
        </p:nvSpPr>
        <p:spPr>
          <a:xfrm>
            <a:off x="3703320" y="1828800"/>
            <a:ext cx="4572000" cy="1280160"/>
          </a:xfrm>
          <a:prstGeom prst="rect">
            <a:avLst/>
          </a:prstGeom>
          <a:noFill/>
          <a:ln/>
        </p:spPr>
        <p:txBody>
          <a:bodyPr wrap="square" lIns="0" tIns="0" rIns="0" bIns="0" rtlCol="0" anchor="ctr"/>
          <a:lstStyle/>
          <a:p>
            <a:pPr marL="0" indent="0">
              <a:buNone/>
            </a:pPr>
            <a:r>
              <a:rPr lang="en-US" sz="1450" dirty="0">
                <a:solidFill>
                  <a:srgbClr val="1A2233"/>
                </a:solidFill>
                <a:latin typeface="Calibri" pitchFamily="34" charset="0"/>
                <a:ea typeface="Calibri" pitchFamily="34" charset="-122"/>
                <a:cs typeface="Calibri" pitchFamily="34" charset="-120"/>
              </a:rPr>
              <a:t>GitHub Actions calls the Fabric REST API to update notebook code on every merge, then triggers the pipeline.</a:t>
            </a:r>
            <a:endParaRPr lang="en-US" sz="1450" dirty="0"/>
          </a:p>
        </p:txBody>
      </p:sp>
      <p:sp>
        <p:nvSpPr>
          <p:cNvPr id="25" name="Shape 23"/>
          <p:cNvSpPr/>
          <p:nvPr/>
        </p:nvSpPr>
        <p:spPr>
          <a:xfrm>
            <a:off x="8595360" y="2011680"/>
            <a:ext cx="0" cy="914400"/>
          </a:xfrm>
          <a:prstGeom prst="line">
            <a:avLst/>
          </a:prstGeom>
          <a:noFill/>
          <a:ln w="12700">
            <a:solidFill>
              <a:srgbClr val="D5DBE6"/>
            </a:solidFill>
            <a:prstDash val="solid"/>
          </a:ln>
        </p:spPr>
      </p:sp>
      <p:sp>
        <p:nvSpPr>
          <p:cNvPr id="26" name="Text 24"/>
          <p:cNvSpPr txBox="1"/>
          <p:nvPr/>
        </p:nvSpPr>
        <p:spPr>
          <a:xfrm>
            <a:off x="8823960" y="1828800"/>
            <a:ext cx="2606040" cy="1280160"/>
          </a:xfrm>
          <a:prstGeom prst="rect">
            <a:avLst/>
          </a:prstGeom>
          <a:noFill/>
          <a:ln/>
        </p:spPr>
        <p:txBody>
          <a:bodyPr wrap="square" lIns="0" tIns="0" rIns="0" bIns="0" rtlCol="0" anchor="ctr"/>
          <a:lstStyle/>
          <a:p>
            <a:pPr marL="0" indent="0">
              <a:buNone/>
            </a:pPr>
            <a:r>
              <a:rPr lang="en-US" sz="1300" dirty="0">
                <a:solidFill>
                  <a:srgbClr val="5B6678"/>
                </a:solidFill>
                <a:latin typeface="Calibri" pitchFamily="34" charset="0"/>
                <a:ea typeface="Calibri" pitchFamily="34" charset="-122"/>
                <a:cs typeface="Calibri" pitchFamily="34" charset="-120"/>
              </a:rPr>
              <a:t>One-way sync only; no rollback of notebook versions inside Fabric.</a:t>
            </a:r>
            <a:endParaRPr lang="en-US" sz="1300" dirty="0"/>
          </a:p>
        </p:txBody>
      </p:sp>
      <p:sp>
        <p:nvSpPr>
          <p:cNvPr id="27" name="Shape 25"/>
          <p:cNvSpPr/>
          <p:nvPr/>
        </p:nvSpPr>
        <p:spPr>
          <a:xfrm>
            <a:off x="548640" y="3291840"/>
            <a:ext cx="11091672" cy="1280160"/>
          </a:xfrm>
          <a:prstGeom prst="roundRect">
            <a:avLst>
              <a:gd name="adj" fmla="val 7143"/>
            </a:avLst>
          </a:prstGeom>
          <a:solidFill>
            <a:srgbClr val="F1F4F9"/>
          </a:solidFill>
          <a:ln w="6350">
            <a:solidFill>
              <a:srgbClr val="F1F4F9"/>
            </a:solidFill>
            <a:prstDash val="solid"/>
          </a:ln>
        </p:spPr>
      </p:sp>
      <p:sp>
        <p:nvSpPr>
          <p:cNvPr id="28" name="Text 26"/>
          <p:cNvSpPr txBox="1"/>
          <p:nvPr/>
        </p:nvSpPr>
        <p:spPr>
          <a:xfrm>
            <a:off x="777240" y="3291840"/>
            <a:ext cx="2423160" cy="128016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GitHub → OneLake upload blocked</a:t>
            </a:r>
            <a:endParaRPr lang="en-US" sz="1500" dirty="0"/>
          </a:p>
        </p:txBody>
      </p:sp>
      <p:sp>
        <p:nvSpPr>
          <p:cNvPr id="29" name="Shape 27"/>
          <p:cNvSpPr/>
          <p:nvPr/>
        </p:nvSpPr>
        <p:spPr>
          <a:xfrm>
            <a:off x="3246120" y="3803904"/>
            <a:ext cx="274320" cy="256032"/>
          </a:xfrm>
          <a:prstGeom prst="rightArrow">
            <a:avLst/>
          </a:prstGeom>
          <a:solidFill>
            <a:srgbClr val="F26B21"/>
          </a:solidFill>
          <a:ln w="6350">
            <a:solidFill>
              <a:srgbClr val="F26B21"/>
            </a:solidFill>
            <a:prstDash val="solid"/>
          </a:ln>
        </p:spPr>
      </p:sp>
      <p:sp>
        <p:nvSpPr>
          <p:cNvPr id="30" name="Text 28"/>
          <p:cNvSpPr txBox="1"/>
          <p:nvPr/>
        </p:nvSpPr>
        <p:spPr>
          <a:xfrm>
            <a:off x="3703320" y="3291840"/>
            <a:ext cx="4572000" cy="1280160"/>
          </a:xfrm>
          <a:prstGeom prst="rect">
            <a:avLst/>
          </a:prstGeom>
          <a:noFill/>
          <a:ln/>
        </p:spPr>
        <p:txBody>
          <a:bodyPr wrap="square" lIns="0" tIns="0" rIns="0" bIns="0" rtlCol="0" anchor="ctr"/>
          <a:lstStyle/>
          <a:p>
            <a:pPr marL="0" indent="0">
              <a:buNone/>
            </a:pPr>
            <a:r>
              <a:rPr lang="en-US" sz="1450" dirty="0">
                <a:solidFill>
                  <a:srgbClr val="1A2233"/>
                </a:solidFill>
                <a:latin typeface="Calibri" pitchFamily="34" charset="0"/>
                <a:ea typeface="Calibri" pitchFamily="34" charset="-122"/>
                <a:cs typeface="Calibri" pitchFamily="34" charset="-120"/>
              </a:rPr>
              <a:t>Reversed the direction: a Fabric notebook downloads the src/ modules from GitHub into the Lakehouse at run time.</a:t>
            </a:r>
            <a:endParaRPr lang="en-US" sz="1450" dirty="0"/>
          </a:p>
        </p:txBody>
      </p:sp>
      <p:sp>
        <p:nvSpPr>
          <p:cNvPr id="31" name="Shape 29"/>
          <p:cNvSpPr/>
          <p:nvPr/>
        </p:nvSpPr>
        <p:spPr>
          <a:xfrm>
            <a:off x="8595360" y="3474720"/>
            <a:ext cx="0" cy="914400"/>
          </a:xfrm>
          <a:prstGeom prst="line">
            <a:avLst/>
          </a:prstGeom>
          <a:noFill/>
          <a:ln w="12700">
            <a:solidFill>
              <a:srgbClr val="D5DBE6"/>
            </a:solidFill>
            <a:prstDash val="solid"/>
          </a:ln>
        </p:spPr>
      </p:sp>
      <p:sp>
        <p:nvSpPr>
          <p:cNvPr id="32" name="Text 30"/>
          <p:cNvSpPr txBox="1"/>
          <p:nvPr/>
        </p:nvSpPr>
        <p:spPr>
          <a:xfrm>
            <a:off x="8823960" y="3291840"/>
            <a:ext cx="2606040" cy="1280160"/>
          </a:xfrm>
          <a:prstGeom prst="rect">
            <a:avLst/>
          </a:prstGeom>
          <a:noFill/>
          <a:ln/>
        </p:spPr>
        <p:txBody>
          <a:bodyPr wrap="square" lIns="0" tIns="0" rIns="0" bIns="0" rtlCol="0" anchor="ctr"/>
          <a:lstStyle/>
          <a:p>
            <a:pPr marL="0" indent="0">
              <a:buNone/>
            </a:pPr>
            <a:r>
              <a:rPr lang="en-US" sz="1300" dirty="0">
                <a:solidFill>
                  <a:srgbClr val="5B6678"/>
                </a:solidFill>
                <a:latin typeface="Calibri" pitchFamily="34" charset="0"/>
                <a:ea typeface="Calibri" pitchFamily="34" charset="-122"/>
                <a:cs typeface="Calibri" pitchFamily="34" charset="-120"/>
              </a:rPr>
              <a:t>Code is stored as data, not a versioned source of truth. Fine for a student project, not for enterprise.</a:t>
            </a:r>
            <a:endParaRPr lang="en-US" sz="1300" dirty="0"/>
          </a:p>
        </p:txBody>
      </p:sp>
      <p:sp>
        <p:nvSpPr>
          <p:cNvPr id="33" name="Shape 31"/>
          <p:cNvSpPr/>
          <p:nvPr/>
        </p:nvSpPr>
        <p:spPr>
          <a:xfrm>
            <a:off x="548640" y="4754880"/>
            <a:ext cx="11091672" cy="1280160"/>
          </a:xfrm>
          <a:prstGeom prst="roundRect">
            <a:avLst>
              <a:gd name="adj" fmla="val 7143"/>
            </a:avLst>
          </a:prstGeom>
          <a:solidFill>
            <a:srgbClr val="F1F4F9"/>
          </a:solidFill>
          <a:ln w="6350">
            <a:solidFill>
              <a:srgbClr val="F1F4F9"/>
            </a:solidFill>
            <a:prstDash val="solid"/>
          </a:ln>
        </p:spPr>
      </p:sp>
      <p:sp>
        <p:nvSpPr>
          <p:cNvPr id="34" name="Text 32"/>
          <p:cNvSpPr txBox="1"/>
          <p:nvPr/>
        </p:nvSpPr>
        <p:spPr>
          <a:xfrm>
            <a:off x="777240" y="4754880"/>
            <a:ext cx="2423160" cy="128016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No pytest inside Fabric</a:t>
            </a:r>
            <a:endParaRPr lang="en-US" sz="1500" dirty="0"/>
          </a:p>
        </p:txBody>
      </p:sp>
      <p:sp>
        <p:nvSpPr>
          <p:cNvPr id="35" name="Shape 33"/>
          <p:cNvSpPr/>
          <p:nvPr/>
        </p:nvSpPr>
        <p:spPr>
          <a:xfrm>
            <a:off x="3246120" y="5266944"/>
            <a:ext cx="274320" cy="256032"/>
          </a:xfrm>
          <a:prstGeom prst="rightArrow">
            <a:avLst/>
          </a:prstGeom>
          <a:solidFill>
            <a:srgbClr val="F26B21"/>
          </a:solidFill>
          <a:ln w="6350">
            <a:solidFill>
              <a:srgbClr val="F26B21"/>
            </a:solidFill>
            <a:prstDash val="solid"/>
          </a:ln>
        </p:spPr>
      </p:sp>
      <p:sp>
        <p:nvSpPr>
          <p:cNvPr id="36" name="Text 34"/>
          <p:cNvSpPr txBox="1"/>
          <p:nvPr/>
        </p:nvSpPr>
        <p:spPr>
          <a:xfrm>
            <a:off x="3703320" y="4754880"/>
            <a:ext cx="4572000" cy="1280160"/>
          </a:xfrm>
          <a:prstGeom prst="rect">
            <a:avLst/>
          </a:prstGeom>
          <a:noFill/>
          <a:ln/>
        </p:spPr>
        <p:txBody>
          <a:bodyPr wrap="square" lIns="0" tIns="0" rIns="0" bIns="0" rtlCol="0" anchor="ctr"/>
          <a:lstStyle/>
          <a:p>
            <a:pPr marL="0" indent="0">
              <a:buNone/>
            </a:pPr>
            <a:r>
              <a:rPr lang="en-US" sz="1450" dirty="0">
                <a:solidFill>
                  <a:srgbClr val="1A2233"/>
                </a:solidFill>
                <a:latin typeface="Calibri" pitchFamily="34" charset="0"/>
                <a:ea typeface="Calibri" pitchFamily="34" charset="-122"/>
                <a:cs typeface="Calibri" pitchFamily="34" charset="-120"/>
              </a:rPr>
              <a:t>Unit-test the modular src/ code locally and in CI. In Fabric, validate Gold: schema, row counts, nulls, duplicates and key logic.</a:t>
            </a:r>
            <a:endParaRPr lang="en-US" sz="1450" dirty="0"/>
          </a:p>
        </p:txBody>
      </p:sp>
      <p:sp>
        <p:nvSpPr>
          <p:cNvPr id="37" name="Shape 35"/>
          <p:cNvSpPr/>
          <p:nvPr/>
        </p:nvSpPr>
        <p:spPr>
          <a:xfrm>
            <a:off x="8595360" y="4937760"/>
            <a:ext cx="0" cy="914400"/>
          </a:xfrm>
          <a:prstGeom prst="line">
            <a:avLst/>
          </a:prstGeom>
          <a:noFill/>
          <a:ln w="12700">
            <a:solidFill>
              <a:srgbClr val="D5DBE6"/>
            </a:solidFill>
            <a:prstDash val="solid"/>
          </a:ln>
        </p:spPr>
      </p:sp>
      <p:sp>
        <p:nvSpPr>
          <p:cNvPr id="38" name="Text 36"/>
          <p:cNvSpPr txBox="1"/>
          <p:nvPr/>
        </p:nvSpPr>
        <p:spPr>
          <a:xfrm>
            <a:off x="8823960" y="4754880"/>
            <a:ext cx="2606040" cy="1280160"/>
          </a:xfrm>
          <a:prstGeom prst="rect">
            <a:avLst/>
          </a:prstGeom>
          <a:noFill/>
          <a:ln/>
        </p:spPr>
        <p:txBody>
          <a:bodyPr wrap="square" lIns="0" tIns="0" rIns="0" bIns="0" rtlCol="0" anchor="ctr"/>
          <a:lstStyle/>
          <a:p>
            <a:pPr marL="0" indent="0">
              <a:buNone/>
            </a:pPr>
            <a:r>
              <a:rPr lang="en-US" sz="1300" dirty="0">
                <a:solidFill>
                  <a:srgbClr val="5B6678"/>
                </a:solidFill>
                <a:latin typeface="Calibri" pitchFamily="34" charset="0"/>
                <a:ea typeface="Calibri" pitchFamily="34" charset="-122"/>
                <a:cs typeface="Calibri" pitchFamily="34" charset="-120"/>
              </a:rPr>
              <a:t>Gold is verified by inspection and SQL reconciliation, not automated tests.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033E39DC-1E8E-DC5E-2358-F5255CC8D30C}"/>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34000"/>
                    </a14:imgEffect>
                    <a14:imgEffect>
                      <a14:colorTemperature colorTemp="6261"/>
                    </a14:imgEffect>
                    <a14:imgEffect>
                      <a14:brightnessContrast bright="-1000" contrast="-18000"/>
                    </a14:imgEffect>
                  </a14:imgLayer>
                </a14:imgProps>
              </a:ext>
            </a:extLst>
          </a:blip>
          <a:stretch>
            <a:fillRect/>
          </a:stretch>
        </p:blipFill>
        <p:spPr>
          <a:xfrm>
            <a:off x="-689599" y="-45932"/>
            <a:ext cx="14103959" cy="6918251"/>
          </a:xfrm>
          <a:prstGeom prst="rect">
            <a:avLst/>
          </a:prstGeom>
          <a:blipFill dpi="0" rotWithShape="1">
            <a:blip r:embed="rId6">
              <a:alphaModFix amt="54000"/>
            </a:blip>
            <a:srcRect/>
            <a:tile tx="0" ty="0" sx="100000" sy="100000" flip="none" algn="tl"/>
          </a:blipFill>
          <a:effectLst>
            <a:outerShdw blurRad="50800" dist="50800" dir="5400000" algn="ctr" rotWithShape="0">
              <a:srgbClr val="000000">
                <a:alpha val="24000"/>
              </a:srgbClr>
            </a:outerShdw>
          </a:effectLst>
        </p:spPr>
      </p:pic>
      <p:sp>
        <p:nvSpPr>
          <p:cNvPr id="2" name="Text 0"/>
          <p:cNvSpPr txBox="1"/>
          <p:nvPr/>
        </p:nvSpPr>
        <p:spPr>
          <a:xfrm>
            <a:off x="548640" y="347472"/>
            <a:ext cx="731520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05  ·  CHALLENGES &amp; LESSONS  ›  REFLECTION</a:t>
            </a:r>
            <a:endParaRPr lang="en-US" sz="1200" dirty="0"/>
          </a:p>
        </p:txBody>
      </p:sp>
      <p:sp>
        <p:nvSpPr>
          <p:cNvPr id="3" name="Text 1"/>
          <p:cNvSpPr txBox="1"/>
          <p:nvPr/>
        </p:nvSpPr>
        <p:spPr>
          <a:xfrm>
            <a:off x="548640" y="621792"/>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Reflection: what we learned, what's next</a:t>
            </a:r>
            <a:endParaRPr lang="en-US" sz="3000" dirty="0"/>
          </a:p>
        </p:txBody>
      </p:sp>
      <p:sp>
        <p:nvSpPr>
          <p:cNvPr id="4" name="Shape 2"/>
          <p:cNvSpPr/>
          <p:nvPr/>
        </p:nvSpPr>
        <p:spPr>
          <a:xfrm>
            <a:off x="576072" y="6483096"/>
            <a:ext cx="128016" cy="128016"/>
          </a:xfrm>
          <a:prstGeom prst="ellipse">
            <a:avLst/>
          </a:prstGeom>
          <a:solidFill>
            <a:srgbClr val="0B1F3A"/>
          </a:solidFill>
          <a:ln w="12700">
            <a:solidFill>
              <a:srgbClr val="0B1F3A"/>
            </a:solidFill>
            <a:prstDash val="solid"/>
          </a:ln>
        </p:spPr>
      </p:sp>
      <p:sp>
        <p:nvSpPr>
          <p:cNvPr id="5" name="Text 3"/>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Introduction</a:t>
            </a:r>
            <a:endParaRPr lang="en-US" sz="1050" dirty="0"/>
          </a:p>
        </p:txBody>
      </p:sp>
      <p:sp>
        <p:nvSpPr>
          <p:cNvPr id="6" name="Shape 4"/>
          <p:cNvSpPr/>
          <p:nvPr/>
        </p:nvSpPr>
        <p:spPr>
          <a:xfrm>
            <a:off x="2039112" y="6483096"/>
            <a:ext cx="128016" cy="128016"/>
          </a:xfrm>
          <a:prstGeom prst="ellipse">
            <a:avLst/>
          </a:prstGeom>
          <a:solidFill>
            <a:srgbClr val="0B1F3A"/>
          </a:solidFill>
          <a:ln w="12700">
            <a:solidFill>
              <a:srgbClr val="0B1F3A"/>
            </a:solidFill>
            <a:prstDash val="solid"/>
          </a:ln>
        </p:spPr>
      </p:sp>
      <p:sp>
        <p:nvSpPr>
          <p:cNvPr id="7" name="Text 5"/>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Problem</a:t>
            </a:r>
            <a:endParaRPr lang="en-US" sz="1050" dirty="0"/>
          </a:p>
        </p:txBody>
      </p:sp>
      <p:sp>
        <p:nvSpPr>
          <p:cNvPr id="8" name="Shape 6"/>
          <p:cNvSpPr/>
          <p:nvPr/>
        </p:nvSpPr>
        <p:spPr>
          <a:xfrm>
            <a:off x="3182112" y="6483096"/>
            <a:ext cx="128016" cy="128016"/>
          </a:xfrm>
          <a:prstGeom prst="ellipse">
            <a:avLst/>
          </a:prstGeom>
          <a:solidFill>
            <a:srgbClr val="0B1F3A"/>
          </a:solidFill>
          <a:ln w="12700">
            <a:solidFill>
              <a:srgbClr val="0B1F3A"/>
            </a:solidFill>
            <a:prstDash val="solid"/>
          </a:ln>
        </p:spPr>
      </p:sp>
      <p:sp>
        <p:nvSpPr>
          <p:cNvPr id="9" name="Text 7"/>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Solution</a:t>
            </a:r>
            <a:endParaRPr lang="en-US" sz="1050" dirty="0"/>
          </a:p>
        </p:txBody>
      </p:sp>
      <p:sp>
        <p:nvSpPr>
          <p:cNvPr id="10" name="Shape 8"/>
          <p:cNvSpPr/>
          <p:nvPr/>
        </p:nvSpPr>
        <p:spPr>
          <a:xfrm>
            <a:off x="4370832" y="6483096"/>
            <a:ext cx="128016" cy="128016"/>
          </a:xfrm>
          <a:prstGeom prst="ellipse">
            <a:avLst/>
          </a:prstGeom>
          <a:solidFill>
            <a:srgbClr val="0B1F3A"/>
          </a:solidFill>
          <a:ln w="12700">
            <a:solidFill>
              <a:srgbClr val="0B1F3A"/>
            </a:solidFill>
            <a:prstDash val="solid"/>
          </a:ln>
        </p:spPr>
      </p:sp>
      <p:sp>
        <p:nvSpPr>
          <p:cNvPr id="11" name="Text 9"/>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Insights</a:t>
            </a:r>
            <a:endParaRPr lang="en-US" sz="1050" dirty="0"/>
          </a:p>
        </p:txBody>
      </p:sp>
      <p:sp>
        <p:nvSpPr>
          <p:cNvPr id="12" name="Shape 10"/>
          <p:cNvSpPr/>
          <p:nvPr/>
        </p:nvSpPr>
        <p:spPr>
          <a:xfrm>
            <a:off x="5458968" y="6391656"/>
            <a:ext cx="1920240" cy="310896"/>
          </a:xfrm>
          <a:prstGeom prst="roundRect">
            <a:avLst>
              <a:gd name="adj" fmla="val 50000"/>
            </a:avLst>
          </a:prstGeom>
          <a:solidFill>
            <a:srgbClr val="FDE8DA"/>
          </a:solidFill>
          <a:ln w="6350">
            <a:solidFill>
              <a:srgbClr val="FDE8DA"/>
            </a:solidFill>
            <a:prstDash val="solid"/>
          </a:ln>
        </p:spPr>
      </p:sp>
      <p:sp>
        <p:nvSpPr>
          <p:cNvPr id="13" name="Shape 11"/>
          <p:cNvSpPr/>
          <p:nvPr/>
        </p:nvSpPr>
        <p:spPr>
          <a:xfrm>
            <a:off x="5559552" y="6483096"/>
            <a:ext cx="128016" cy="128016"/>
          </a:xfrm>
          <a:prstGeom prst="ellipse">
            <a:avLst/>
          </a:prstGeom>
          <a:solidFill>
            <a:srgbClr val="F26B21"/>
          </a:solidFill>
          <a:ln w="12700">
            <a:solidFill>
              <a:srgbClr val="F26B21"/>
            </a:solidFill>
            <a:prstDash val="solid"/>
          </a:ln>
        </p:spPr>
      </p:sp>
      <p:sp>
        <p:nvSpPr>
          <p:cNvPr id="14" name="Text 12"/>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Challenges &amp; Lessons</a:t>
            </a:r>
            <a:endParaRPr lang="en-US" sz="1100" dirty="0"/>
          </a:p>
        </p:txBody>
      </p:sp>
      <p:sp>
        <p:nvSpPr>
          <p:cNvPr id="15" name="Shape 13"/>
          <p:cNvSpPr/>
          <p:nvPr/>
        </p:nvSpPr>
        <p:spPr>
          <a:xfrm>
            <a:off x="7571232" y="6483096"/>
            <a:ext cx="128016" cy="128016"/>
          </a:xfrm>
          <a:prstGeom prst="ellipse">
            <a:avLst/>
          </a:prstGeom>
          <a:solidFill>
            <a:srgbClr val="FFFFFF"/>
          </a:solidFill>
          <a:ln w="12700">
            <a:solidFill>
              <a:srgbClr val="8A94A6"/>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050" dirty="0">
                <a:solidFill>
                  <a:srgbClr val="5B6678"/>
                </a:solidFill>
                <a:latin typeface="Calibri" pitchFamily="34" charset="0"/>
                <a:ea typeface="Calibri" pitchFamily="34" charset="-122"/>
                <a:cs typeface="Calibri" pitchFamily="34" charset="-120"/>
              </a:rPr>
              <a:t>Conclusion</a:t>
            </a:r>
            <a:endParaRPr lang="en-US" sz="1050" dirty="0"/>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5B6678"/>
                </a:solidFill>
                <a:latin typeface="Calibri" pitchFamily="34" charset="0"/>
                <a:ea typeface="Calibri" pitchFamily="34" charset="-122"/>
                <a:cs typeface="Calibri" pitchFamily="34" charset="-120"/>
              </a:rPr>
              <a:t>14</a:t>
            </a:r>
            <a:endParaRPr lang="en-US" sz="1000" dirty="0"/>
          </a:p>
        </p:txBody>
      </p:sp>
      <p:sp>
        <p:nvSpPr>
          <p:cNvPr id="18" name="Shape 16"/>
          <p:cNvSpPr/>
          <p:nvPr/>
        </p:nvSpPr>
        <p:spPr>
          <a:xfrm>
            <a:off x="548640" y="1554480"/>
            <a:ext cx="3547872" cy="4206240"/>
          </a:xfrm>
          <a:prstGeom prst="roundRect">
            <a:avLst>
              <a:gd name="adj" fmla="val 2577"/>
            </a:avLst>
          </a:prstGeom>
          <a:solidFill>
            <a:srgbClr val="F1F4F9"/>
          </a:solidFill>
          <a:ln w="6350">
            <a:solidFill>
              <a:srgbClr val="F1F4F9"/>
            </a:solidFill>
            <a:prstDash val="solid"/>
          </a:ln>
        </p:spPr>
      </p:sp>
      <p:sp>
        <p:nvSpPr>
          <p:cNvPr id="19" name="Shape 17"/>
          <p:cNvSpPr/>
          <p:nvPr/>
        </p:nvSpPr>
        <p:spPr>
          <a:xfrm>
            <a:off x="822960" y="1828800"/>
            <a:ext cx="640080" cy="640080"/>
          </a:xfrm>
          <a:prstGeom prst="ellipse">
            <a:avLst/>
          </a:prstGeom>
          <a:solidFill>
            <a:srgbClr val="2F6FBF"/>
          </a:solidFill>
          <a:ln w="6350">
            <a:solidFill>
              <a:srgbClr val="2F6FBF"/>
            </a:solidFill>
            <a:prstDash val="solid"/>
          </a:ln>
        </p:spPr>
      </p:sp>
      <p:pic>
        <p:nvPicPr>
          <p:cNvPr id="20" name="Image 0" descr="preencoded.png"/>
          <p:cNvPicPr>
            <a:picLocks noChangeAspect="1"/>
          </p:cNvPicPr>
          <p:nvPr/>
        </p:nvPicPr>
        <p:blipFill>
          <a:blip r:embed="rId7"/>
          <a:stretch>
            <a:fillRect/>
          </a:stretch>
        </p:blipFill>
        <p:spPr>
          <a:xfrm>
            <a:off x="995782" y="2001622"/>
            <a:ext cx="294437" cy="294437"/>
          </a:xfrm>
          <a:prstGeom prst="rect">
            <a:avLst/>
          </a:prstGeom>
        </p:spPr>
      </p:pic>
      <p:sp>
        <p:nvSpPr>
          <p:cNvPr id="21" name="Text 18"/>
          <p:cNvSpPr txBox="1"/>
          <p:nvPr/>
        </p:nvSpPr>
        <p:spPr>
          <a:xfrm>
            <a:off x="1645920" y="1828800"/>
            <a:ext cx="2286000" cy="640080"/>
          </a:xfrm>
          <a:prstGeom prst="rect">
            <a:avLst/>
          </a:prstGeom>
          <a:noFill/>
          <a:ln/>
        </p:spPr>
        <p:txBody>
          <a:bodyPr wrap="square" lIns="0" tIns="0" rIns="0" bIns="0" rtlCol="0" anchor="ctr"/>
          <a:lstStyle/>
          <a:p>
            <a:pPr marL="0" indent="0">
              <a:buNone/>
            </a:pPr>
            <a:r>
              <a:rPr lang="en-US" sz="1800" b="1" dirty="0">
                <a:solidFill>
                  <a:srgbClr val="0B1F3A"/>
                </a:solidFill>
                <a:latin typeface="Calibri" pitchFamily="34" charset="0"/>
                <a:ea typeface="Calibri" pitchFamily="34" charset="-122"/>
                <a:cs typeface="Calibri" pitchFamily="34" charset="-120"/>
              </a:rPr>
              <a:t>What worked</a:t>
            </a:r>
            <a:endParaRPr lang="en-US" sz="1800" dirty="0"/>
          </a:p>
        </p:txBody>
      </p:sp>
      <p:sp>
        <p:nvSpPr>
          <p:cNvPr id="22" name="Text 19"/>
          <p:cNvSpPr txBox="1"/>
          <p:nvPr/>
        </p:nvSpPr>
        <p:spPr>
          <a:xfrm>
            <a:off x="822960" y="2788920"/>
            <a:ext cx="2999232" cy="2743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A2233"/>
                </a:solidFill>
                <a:latin typeface="Calibri" pitchFamily="34" charset="0"/>
                <a:ea typeface="Calibri" pitchFamily="34" charset="-122"/>
                <a:cs typeface="Calibri" pitchFamily="34" charset="-120"/>
              </a:rPr>
              <a:t>Modular, unit-tested PySpark modules caught issues before the cloud run</a:t>
            </a:r>
            <a:endParaRPr lang="en-US" sz="1500" dirty="0"/>
          </a:p>
          <a:p>
            <a:pPr marL="342900" indent="-342900">
              <a:spcAft>
                <a:spcPts val="1000"/>
              </a:spcAft>
              <a:buSzPct val="100000"/>
              <a:buChar char="•"/>
            </a:pPr>
            <a:r>
              <a:rPr lang="en-US" sz="1500" dirty="0">
                <a:solidFill>
                  <a:srgbClr val="1A2233"/>
                </a:solidFill>
                <a:latin typeface="Calibri" pitchFamily="34" charset="0"/>
                <a:ea typeface="Calibri" pitchFamily="34" charset="-122"/>
                <a:cs typeface="Calibri" pitchFamily="34" charset="-120"/>
              </a:rPr>
              <a:t>Medallion layers gave clear debugging boundaries</a:t>
            </a:r>
            <a:endParaRPr lang="en-US" sz="1500" dirty="0"/>
          </a:p>
          <a:p>
            <a:pPr marL="342900" indent="-342900">
              <a:spcAft>
                <a:spcPts val="1000"/>
              </a:spcAft>
              <a:buSzPct val="100000"/>
              <a:buChar char="•"/>
            </a:pPr>
            <a:r>
              <a:rPr lang="en-US" sz="1500" dirty="0">
                <a:solidFill>
                  <a:srgbClr val="1A2233"/>
                </a:solidFill>
                <a:latin typeface="Calibri" pitchFamily="34" charset="0"/>
                <a:ea typeface="Calibri" pitchFamily="34" charset="-122"/>
                <a:cs typeface="Calibri" pitchFamily="34" charset="-120"/>
              </a:rPr>
              <a:t>Pull requests and CI kept four contributors' code consistent</a:t>
            </a:r>
            <a:endParaRPr lang="en-US" sz="1500" dirty="0"/>
          </a:p>
        </p:txBody>
      </p:sp>
      <p:sp>
        <p:nvSpPr>
          <p:cNvPr id="23" name="Shape 20"/>
          <p:cNvSpPr/>
          <p:nvPr/>
        </p:nvSpPr>
        <p:spPr>
          <a:xfrm>
            <a:off x="4315968" y="1554480"/>
            <a:ext cx="3547872" cy="4206240"/>
          </a:xfrm>
          <a:prstGeom prst="roundRect">
            <a:avLst>
              <a:gd name="adj" fmla="val 2577"/>
            </a:avLst>
          </a:prstGeom>
          <a:solidFill>
            <a:srgbClr val="F1F4F9"/>
          </a:solidFill>
          <a:ln w="6350">
            <a:solidFill>
              <a:srgbClr val="F1F4F9"/>
            </a:solidFill>
            <a:prstDash val="solid"/>
          </a:ln>
        </p:spPr>
      </p:sp>
      <p:sp>
        <p:nvSpPr>
          <p:cNvPr id="24" name="Shape 21"/>
          <p:cNvSpPr/>
          <p:nvPr/>
        </p:nvSpPr>
        <p:spPr>
          <a:xfrm>
            <a:off x="4590288" y="1828800"/>
            <a:ext cx="640080" cy="640080"/>
          </a:xfrm>
          <a:prstGeom prst="ellipse">
            <a:avLst/>
          </a:prstGeom>
          <a:solidFill>
            <a:srgbClr val="0B1F3A"/>
          </a:solidFill>
          <a:ln w="6350">
            <a:solidFill>
              <a:srgbClr val="0B1F3A"/>
            </a:solidFill>
            <a:prstDash val="solid"/>
          </a:ln>
        </p:spPr>
      </p:sp>
      <p:pic>
        <p:nvPicPr>
          <p:cNvPr id="25" name="Image 1" descr="preencoded.png"/>
          <p:cNvPicPr>
            <a:picLocks noChangeAspect="1"/>
          </p:cNvPicPr>
          <p:nvPr/>
        </p:nvPicPr>
        <p:blipFill>
          <a:blip r:embed="rId8"/>
          <a:stretch>
            <a:fillRect/>
          </a:stretch>
        </p:blipFill>
        <p:spPr>
          <a:xfrm>
            <a:off x="4763110" y="2001622"/>
            <a:ext cx="294437" cy="294437"/>
          </a:xfrm>
          <a:prstGeom prst="rect">
            <a:avLst/>
          </a:prstGeom>
        </p:spPr>
      </p:pic>
      <p:sp>
        <p:nvSpPr>
          <p:cNvPr id="26" name="Text 22"/>
          <p:cNvSpPr txBox="1"/>
          <p:nvPr/>
        </p:nvSpPr>
        <p:spPr>
          <a:xfrm>
            <a:off x="5413248" y="1828800"/>
            <a:ext cx="2286000" cy="640080"/>
          </a:xfrm>
          <a:prstGeom prst="rect">
            <a:avLst/>
          </a:prstGeom>
          <a:noFill/>
          <a:ln/>
        </p:spPr>
        <p:txBody>
          <a:bodyPr wrap="square" lIns="0" tIns="0" rIns="0" bIns="0" rtlCol="0" anchor="ctr"/>
          <a:lstStyle/>
          <a:p>
            <a:pPr marL="0" indent="0">
              <a:buNone/>
            </a:pPr>
            <a:r>
              <a:rPr lang="en-US" sz="1800" b="1" dirty="0">
                <a:solidFill>
                  <a:srgbClr val="0B1F3A"/>
                </a:solidFill>
                <a:latin typeface="Calibri" pitchFamily="34" charset="0"/>
                <a:ea typeface="Calibri" pitchFamily="34" charset="-122"/>
                <a:cs typeface="Calibri" pitchFamily="34" charset="-120"/>
              </a:rPr>
              <a:t>What we learned</a:t>
            </a:r>
            <a:endParaRPr lang="en-US" sz="1800" dirty="0"/>
          </a:p>
        </p:txBody>
      </p:sp>
      <p:sp>
        <p:nvSpPr>
          <p:cNvPr id="27" name="Text 23"/>
          <p:cNvSpPr txBox="1"/>
          <p:nvPr/>
        </p:nvSpPr>
        <p:spPr>
          <a:xfrm>
            <a:off x="4590288" y="2788920"/>
            <a:ext cx="2999232" cy="2743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A2233"/>
                </a:solidFill>
                <a:latin typeface="Calibri" pitchFamily="34" charset="0"/>
                <a:ea typeface="Calibri" pitchFamily="34" charset="-122"/>
                <a:cs typeface="Calibri" pitchFamily="34" charset="-120"/>
              </a:rPr>
              <a:t>Platform limits shape architecture, so design around them early</a:t>
            </a:r>
            <a:endParaRPr lang="en-US" sz="1500" dirty="0"/>
          </a:p>
          <a:p>
            <a:pPr marL="342900" indent="-342900">
              <a:spcAft>
                <a:spcPts val="1000"/>
              </a:spcAft>
              <a:buSzPct val="100000"/>
              <a:buChar char="•"/>
            </a:pPr>
            <a:r>
              <a:rPr lang="en-US" sz="1500" dirty="0">
                <a:solidFill>
                  <a:srgbClr val="1A2233"/>
                </a:solidFill>
                <a:latin typeface="Calibri" pitchFamily="34" charset="0"/>
                <a:ea typeface="Calibri" pitchFamily="34" charset="-122"/>
                <a:cs typeface="Calibri" pitchFamily="34" charset="-120"/>
              </a:rPr>
              <a:t>Keep transformation logic separate from I/O so it ports to Databricks, Snowflake or dbt</a:t>
            </a:r>
            <a:endParaRPr lang="en-US" sz="1500" dirty="0"/>
          </a:p>
          <a:p>
            <a:pPr marL="342900" indent="-342900">
              <a:spcAft>
                <a:spcPts val="1000"/>
              </a:spcAft>
              <a:buSzPct val="100000"/>
              <a:buChar char="•"/>
            </a:pPr>
            <a:r>
              <a:rPr lang="en-US" sz="1500" dirty="0">
                <a:solidFill>
                  <a:srgbClr val="1A2233"/>
                </a:solidFill>
                <a:latin typeface="Calibri" pitchFamily="34" charset="0"/>
                <a:ea typeface="Calibri" pitchFamily="34" charset="-122"/>
                <a:cs typeface="Calibri" pitchFamily="34" charset="-120"/>
              </a:rPr>
              <a:t>Validate data at every layer, not only at the end</a:t>
            </a:r>
            <a:endParaRPr lang="en-US" sz="1500" dirty="0"/>
          </a:p>
        </p:txBody>
      </p:sp>
      <p:sp>
        <p:nvSpPr>
          <p:cNvPr id="28" name="Shape 24"/>
          <p:cNvSpPr/>
          <p:nvPr/>
        </p:nvSpPr>
        <p:spPr>
          <a:xfrm>
            <a:off x="8083296" y="1554480"/>
            <a:ext cx="3547872" cy="4206240"/>
          </a:xfrm>
          <a:prstGeom prst="roundRect">
            <a:avLst>
              <a:gd name="adj" fmla="val 2577"/>
            </a:avLst>
          </a:prstGeom>
          <a:solidFill>
            <a:srgbClr val="F1F4F9"/>
          </a:solidFill>
          <a:ln w="6350">
            <a:solidFill>
              <a:srgbClr val="F1F4F9"/>
            </a:solidFill>
            <a:prstDash val="solid"/>
          </a:ln>
        </p:spPr>
      </p:sp>
      <p:sp>
        <p:nvSpPr>
          <p:cNvPr id="29" name="Shape 25"/>
          <p:cNvSpPr/>
          <p:nvPr/>
        </p:nvSpPr>
        <p:spPr>
          <a:xfrm>
            <a:off x="8357616" y="1828800"/>
            <a:ext cx="640080" cy="640080"/>
          </a:xfrm>
          <a:prstGeom prst="ellipse">
            <a:avLst/>
          </a:prstGeom>
          <a:solidFill>
            <a:srgbClr val="F26B21"/>
          </a:solidFill>
          <a:ln w="6350">
            <a:solidFill>
              <a:srgbClr val="F26B21"/>
            </a:solidFill>
            <a:prstDash val="solid"/>
          </a:ln>
        </p:spPr>
      </p:sp>
      <p:pic>
        <p:nvPicPr>
          <p:cNvPr id="30" name="Image 2" descr="preencoded.png"/>
          <p:cNvPicPr>
            <a:picLocks noChangeAspect="1"/>
          </p:cNvPicPr>
          <p:nvPr/>
        </p:nvPicPr>
        <p:blipFill>
          <a:blip r:embed="rId9"/>
          <a:stretch>
            <a:fillRect/>
          </a:stretch>
        </p:blipFill>
        <p:spPr>
          <a:xfrm>
            <a:off x="8530438" y="2001622"/>
            <a:ext cx="294437" cy="294437"/>
          </a:xfrm>
          <a:prstGeom prst="rect">
            <a:avLst/>
          </a:prstGeom>
        </p:spPr>
      </p:pic>
      <p:sp>
        <p:nvSpPr>
          <p:cNvPr id="31" name="Text 26"/>
          <p:cNvSpPr txBox="1"/>
          <p:nvPr/>
        </p:nvSpPr>
        <p:spPr>
          <a:xfrm>
            <a:off x="9180576" y="1828800"/>
            <a:ext cx="2286000" cy="640080"/>
          </a:xfrm>
          <a:prstGeom prst="rect">
            <a:avLst/>
          </a:prstGeom>
          <a:noFill/>
          <a:ln/>
        </p:spPr>
        <p:txBody>
          <a:bodyPr wrap="square" lIns="0" tIns="0" rIns="0" bIns="0" rtlCol="0" anchor="ctr"/>
          <a:lstStyle/>
          <a:p>
            <a:pPr marL="0" indent="0">
              <a:buNone/>
            </a:pPr>
            <a:r>
              <a:rPr lang="en-US" sz="1800" b="1" dirty="0">
                <a:solidFill>
                  <a:srgbClr val="0B1F3A"/>
                </a:solidFill>
                <a:latin typeface="Calibri" pitchFamily="34" charset="0"/>
                <a:ea typeface="Calibri" pitchFamily="34" charset="-122"/>
                <a:cs typeface="Calibri" pitchFamily="34" charset="-120"/>
              </a:rPr>
              <a:t>In production</a:t>
            </a:r>
            <a:endParaRPr lang="en-US" sz="1800" dirty="0"/>
          </a:p>
        </p:txBody>
      </p:sp>
      <p:sp>
        <p:nvSpPr>
          <p:cNvPr id="32" name="Text 27"/>
          <p:cNvSpPr txBox="1"/>
          <p:nvPr/>
        </p:nvSpPr>
        <p:spPr>
          <a:xfrm>
            <a:off x="8357616" y="2788920"/>
            <a:ext cx="2999232" cy="2743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A2233"/>
                </a:solidFill>
                <a:latin typeface="Calibri" pitchFamily="34" charset="0"/>
                <a:ea typeface="Calibri" pitchFamily="34" charset="-122"/>
                <a:cs typeface="Calibri" pitchFamily="34" charset="-120"/>
              </a:rPr>
              <a:t>Deploy with a service principal across dev and prod workspaces</a:t>
            </a:r>
            <a:endParaRPr lang="en-US" sz="1500" dirty="0"/>
          </a:p>
          <a:p>
            <a:pPr marL="342900" indent="-342900">
              <a:spcAft>
                <a:spcPts val="1000"/>
              </a:spcAft>
              <a:buSzPct val="100000"/>
              <a:buChar char="•"/>
            </a:pPr>
            <a:r>
              <a:rPr lang="en-US" sz="1500" dirty="0">
                <a:solidFill>
                  <a:srgbClr val="1A2233"/>
                </a:solidFill>
                <a:latin typeface="Calibri" pitchFamily="34" charset="0"/>
                <a:ea typeface="Calibri" pitchFamily="34" charset="-122"/>
                <a:cs typeface="Calibri" pitchFamily="34" charset="-120"/>
              </a:rPr>
              <a:t>Package code as a .whl and use a Git-enabled Fabric workspace</a:t>
            </a:r>
            <a:endParaRPr lang="en-US" sz="1500" dirty="0"/>
          </a:p>
          <a:p>
            <a:pPr marL="342900" indent="-342900">
              <a:spcAft>
                <a:spcPts val="1000"/>
              </a:spcAft>
              <a:buSzPct val="100000"/>
              <a:buChar char="•"/>
            </a:pPr>
            <a:r>
              <a:rPr lang="en-US" sz="1500" dirty="0">
                <a:solidFill>
                  <a:srgbClr val="1A2233"/>
                </a:solidFill>
                <a:latin typeface="Calibri" pitchFamily="34" charset="0"/>
                <a:ea typeface="Calibri" pitchFamily="34" charset="-122"/>
                <a:cs typeface="Calibri" pitchFamily="34" charset="-120"/>
              </a:rPr>
              <a:t>Add a data-quality framework such as Great Expectations, plus incremental loads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3349BD72-351E-A748-34C7-39B3DCF953A1}"/>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4330"/>
                    </a14:imgEffect>
                    <a14:imgEffect>
                      <a14:saturation sat="101000"/>
                    </a14:imgEffect>
                    <a14:imgEffect>
                      <a14:brightnessContrast bright="-48000" contrast="-32000"/>
                    </a14:imgEffect>
                  </a14:imgLayer>
                </a14:imgProps>
              </a:ext>
            </a:extLst>
          </a:blip>
          <a:stretch>
            <a:fillRect/>
          </a:stretch>
        </p:blipFill>
        <p:spPr>
          <a:xfrm>
            <a:off x="0" y="0"/>
            <a:ext cx="12192000" cy="6857999"/>
          </a:xfrm>
          <a:prstGeom prst="rect">
            <a:avLst/>
          </a:prstGeom>
        </p:spPr>
      </p:pic>
      <p:sp>
        <p:nvSpPr>
          <p:cNvPr id="2" name="Text 0"/>
          <p:cNvSpPr txBox="1"/>
          <p:nvPr/>
        </p:nvSpPr>
        <p:spPr>
          <a:xfrm>
            <a:off x="566928" y="347472"/>
            <a:ext cx="731520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06  ·  CONCLUSION</a:t>
            </a:r>
            <a:endParaRPr lang="en-US" sz="1200" dirty="0"/>
          </a:p>
        </p:txBody>
      </p:sp>
      <p:sp>
        <p:nvSpPr>
          <p:cNvPr id="3" name="Text 1"/>
          <p:cNvSpPr txBox="1"/>
          <p:nvPr/>
        </p:nvSpPr>
        <p:spPr>
          <a:xfrm>
            <a:off x="548640" y="621792"/>
            <a:ext cx="96926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4" name="Shape 2"/>
          <p:cNvSpPr/>
          <p:nvPr/>
        </p:nvSpPr>
        <p:spPr>
          <a:xfrm>
            <a:off x="576072" y="6483096"/>
            <a:ext cx="128016" cy="128016"/>
          </a:xfrm>
          <a:prstGeom prst="ellipse">
            <a:avLst/>
          </a:prstGeom>
          <a:solidFill>
            <a:srgbClr val="C9D6EA"/>
          </a:solidFill>
          <a:ln w="12700">
            <a:solidFill>
              <a:srgbClr val="C9D6EA"/>
            </a:solidFill>
            <a:prstDash val="solid"/>
          </a:ln>
        </p:spPr>
      </p:sp>
      <p:sp>
        <p:nvSpPr>
          <p:cNvPr id="5" name="Text 3"/>
          <p:cNvSpPr txBox="1"/>
          <p:nvPr/>
        </p:nvSpPr>
        <p:spPr>
          <a:xfrm>
            <a:off x="795528" y="6428232"/>
            <a:ext cx="1097280" cy="237744"/>
          </a:xfrm>
          <a:prstGeom prst="rect">
            <a:avLst/>
          </a:prstGeom>
          <a:noFill/>
          <a:ln/>
        </p:spPr>
        <p:txBody>
          <a:bodyPr wrap="square" lIns="0" tIns="0" rIns="0" bIns="0" rtlCol="0" anchor="ctr"/>
          <a:lstStyle/>
          <a:p>
            <a:pPr marL="0" indent="0">
              <a:buNone/>
            </a:pPr>
            <a:r>
              <a:rPr lang="en-US" sz="1050" dirty="0">
                <a:solidFill>
                  <a:srgbClr val="C9D6EA"/>
                </a:solidFill>
                <a:latin typeface="Calibri" pitchFamily="34" charset="0"/>
                <a:ea typeface="Calibri" pitchFamily="34" charset="-122"/>
                <a:cs typeface="Calibri" pitchFamily="34" charset="-120"/>
              </a:rPr>
              <a:t>Introduction</a:t>
            </a:r>
            <a:endParaRPr lang="en-US" sz="1050" dirty="0"/>
          </a:p>
        </p:txBody>
      </p:sp>
      <p:sp>
        <p:nvSpPr>
          <p:cNvPr id="6" name="Shape 4"/>
          <p:cNvSpPr/>
          <p:nvPr/>
        </p:nvSpPr>
        <p:spPr>
          <a:xfrm>
            <a:off x="2039112" y="6483096"/>
            <a:ext cx="128016" cy="128016"/>
          </a:xfrm>
          <a:prstGeom prst="ellipse">
            <a:avLst/>
          </a:prstGeom>
          <a:solidFill>
            <a:srgbClr val="C9D6EA"/>
          </a:solidFill>
          <a:ln w="12700">
            <a:solidFill>
              <a:srgbClr val="C9D6EA"/>
            </a:solidFill>
            <a:prstDash val="solid"/>
          </a:ln>
        </p:spPr>
      </p:sp>
      <p:sp>
        <p:nvSpPr>
          <p:cNvPr id="7" name="Text 5"/>
          <p:cNvSpPr txBox="1"/>
          <p:nvPr/>
        </p:nvSpPr>
        <p:spPr>
          <a:xfrm>
            <a:off x="2258568" y="6428232"/>
            <a:ext cx="777240" cy="237744"/>
          </a:xfrm>
          <a:prstGeom prst="rect">
            <a:avLst/>
          </a:prstGeom>
          <a:noFill/>
          <a:ln/>
        </p:spPr>
        <p:txBody>
          <a:bodyPr wrap="square" lIns="0" tIns="0" rIns="0" bIns="0" rtlCol="0" anchor="ctr"/>
          <a:lstStyle/>
          <a:p>
            <a:pPr marL="0" indent="0">
              <a:buNone/>
            </a:pPr>
            <a:r>
              <a:rPr lang="en-US" sz="1050" dirty="0">
                <a:solidFill>
                  <a:srgbClr val="C9D6EA"/>
                </a:solidFill>
                <a:latin typeface="Calibri" pitchFamily="34" charset="0"/>
                <a:ea typeface="Calibri" pitchFamily="34" charset="-122"/>
                <a:cs typeface="Calibri" pitchFamily="34" charset="-120"/>
              </a:rPr>
              <a:t>Problem</a:t>
            </a:r>
            <a:endParaRPr lang="en-US" sz="1050" dirty="0"/>
          </a:p>
        </p:txBody>
      </p:sp>
      <p:sp>
        <p:nvSpPr>
          <p:cNvPr id="8" name="Shape 6"/>
          <p:cNvSpPr/>
          <p:nvPr/>
        </p:nvSpPr>
        <p:spPr>
          <a:xfrm>
            <a:off x="3182112" y="6483096"/>
            <a:ext cx="128016" cy="128016"/>
          </a:xfrm>
          <a:prstGeom prst="ellipse">
            <a:avLst/>
          </a:prstGeom>
          <a:solidFill>
            <a:srgbClr val="C9D6EA"/>
          </a:solidFill>
          <a:ln w="12700">
            <a:solidFill>
              <a:srgbClr val="C9D6EA"/>
            </a:solidFill>
            <a:prstDash val="solid"/>
          </a:ln>
        </p:spPr>
      </p:sp>
      <p:sp>
        <p:nvSpPr>
          <p:cNvPr id="9" name="Text 7"/>
          <p:cNvSpPr txBox="1"/>
          <p:nvPr/>
        </p:nvSpPr>
        <p:spPr>
          <a:xfrm>
            <a:off x="3401568" y="6428232"/>
            <a:ext cx="822960" cy="237744"/>
          </a:xfrm>
          <a:prstGeom prst="rect">
            <a:avLst/>
          </a:prstGeom>
          <a:noFill/>
          <a:ln/>
        </p:spPr>
        <p:txBody>
          <a:bodyPr wrap="square" lIns="0" tIns="0" rIns="0" bIns="0" rtlCol="0" anchor="ctr"/>
          <a:lstStyle/>
          <a:p>
            <a:pPr marL="0" indent="0">
              <a:buNone/>
            </a:pPr>
            <a:r>
              <a:rPr lang="en-US" sz="1050" dirty="0">
                <a:solidFill>
                  <a:srgbClr val="C9D6EA"/>
                </a:solidFill>
                <a:latin typeface="Calibri" pitchFamily="34" charset="0"/>
                <a:ea typeface="Calibri" pitchFamily="34" charset="-122"/>
                <a:cs typeface="Calibri" pitchFamily="34" charset="-120"/>
              </a:rPr>
              <a:t>Solution</a:t>
            </a:r>
            <a:endParaRPr lang="en-US" sz="1050" dirty="0"/>
          </a:p>
        </p:txBody>
      </p:sp>
      <p:sp>
        <p:nvSpPr>
          <p:cNvPr id="10" name="Shape 8"/>
          <p:cNvSpPr/>
          <p:nvPr/>
        </p:nvSpPr>
        <p:spPr>
          <a:xfrm>
            <a:off x="4370832" y="6483096"/>
            <a:ext cx="128016" cy="128016"/>
          </a:xfrm>
          <a:prstGeom prst="ellipse">
            <a:avLst/>
          </a:prstGeom>
          <a:solidFill>
            <a:srgbClr val="C9D6EA"/>
          </a:solidFill>
          <a:ln w="12700">
            <a:solidFill>
              <a:srgbClr val="C9D6EA"/>
            </a:solidFill>
            <a:prstDash val="solid"/>
          </a:ln>
        </p:spPr>
      </p:sp>
      <p:sp>
        <p:nvSpPr>
          <p:cNvPr id="11" name="Text 9"/>
          <p:cNvSpPr txBox="1"/>
          <p:nvPr/>
        </p:nvSpPr>
        <p:spPr>
          <a:xfrm>
            <a:off x="4590288" y="6428232"/>
            <a:ext cx="822960" cy="237744"/>
          </a:xfrm>
          <a:prstGeom prst="rect">
            <a:avLst/>
          </a:prstGeom>
          <a:noFill/>
          <a:ln/>
        </p:spPr>
        <p:txBody>
          <a:bodyPr wrap="square" lIns="0" tIns="0" rIns="0" bIns="0" rtlCol="0" anchor="ctr"/>
          <a:lstStyle/>
          <a:p>
            <a:pPr marL="0" indent="0">
              <a:buNone/>
            </a:pPr>
            <a:r>
              <a:rPr lang="en-US" sz="1050" dirty="0">
                <a:solidFill>
                  <a:srgbClr val="C9D6EA"/>
                </a:solidFill>
                <a:latin typeface="Calibri" pitchFamily="34" charset="0"/>
                <a:ea typeface="Calibri" pitchFamily="34" charset="-122"/>
                <a:cs typeface="Calibri" pitchFamily="34" charset="-120"/>
              </a:rPr>
              <a:t>Insights</a:t>
            </a:r>
            <a:endParaRPr lang="en-US" sz="1050" dirty="0"/>
          </a:p>
        </p:txBody>
      </p:sp>
      <p:sp>
        <p:nvSpPr>
          <p:cNvPr id="12" name="Shape 10"/>
          <p:cNvSpPr/>
          <p:nvPr/>
        </p:nvSpPr>
        <p:spPr>
          <a:xfrm>
            <a:off x="5559552" y="6483096"/>
            <a:ext cx="128016" cy="128016"/>
          </a:xfrm>
          <a:prstGeom prst="ellipse">
            <a:avLst/>
          </a:prstGeom>
          <a:solidFill>
            <a:srgbClr val="C9D6EA"/>
          </a:solidFill>
          <a:ln w="12700">
            <a:solidFill>
              <a:srgbClr val="C9D6EA"/>
            </a:solidFill>
            <a:prstDash val="solid"/>
          </a:ln>
        </p:spPr>
      </p:sp>
      <p:sp>
        <p:nvSpPr>
          <p:cNvPr id="13" name="Text 11"/>
          <p:cNvSpPr txBox="1"/>
          <p:nvPr/>
        </p:nvSpPr>
        <p:spPr>
          <a:xfrm>
            <a:off x="5779008" y="6428232"/>
            <a:ext cx="1645920" cy="237744"/>
          </a:xfrm>
          <a:prstGeom prst="rect">
            <a:avLst/>
          </a:prstGeom>
          <a:noFill/>
          <a:ln/>
        </p:spPr>
        <p:txBody>
          <a:bodyPr wrap="square" lIns="0" tIns="0" rIns="0" bIns="0" rtlCol="0" anchor="ctr"/>
          <a:lstStyle/>
          <a:p>
            <a:pPr marL="0" indent="0">
              <a:buNone/>
            </a:pPr>
            <a:r>
              <a:rPr lang="en-US" sz="1050" dirty="0">
                <a:solidFill>
                  <a:srgbClr val="C9D6EA"/>
                </a:solidFill>
                <a:latin typeface="Calibri" pitchFamily="34" charset="0"/>
                <a:ea typeface="Calibri" pitchFamily="34" charset="-122"/>
                <a:cs typeface="Calibri" pitchFamily="34" charset="-120"/>
              </a:rPr>
              <a:t>Challenges &amp; Lessons</a:t>
            </a:r>
            <a:endParaRPr lang="en-US" sz="1050" dirty="0"/>
          </a:p>
        </p:txBody>
      </p:sp>
      <p:sp>
        <p:nvSpPr>
          <p:cNvPr id="14" name="Shape 12"/>
          <p:cNvSpPr/>
          <p:nvPr/>
        </p:nvSpPr>
        <p:spPr>
          <a:xfrm>
            <a:off x="7470648" y="6391656"/>
            <a:ext cx="1280160" cy="310896"/>
          </a:xfrm>
          <a:prstGeom prst="roundRect">
            <a:avLst>
              <a:gd name="adj" fmla="val 50000"/>
            </a:avLst>
          </a:prstGeom>
          <a:solidFill>
            <a:srgbClr val="17345F"/>
          </a:solidFill>
          <a:ln w="6350">
            <a:solidFill>
              <a:srgbClr val="17345F"/>
            </a:solidFill>
            <a:prstDash val="solid"/>
          </a:ln>
        </p:spPr>
      </p:sp>
      <p:sp>
        <p:nvSpPr>
          <p:cNvPr id="15" name="Shape 13"/>
          <p:cNvSpPr/>
          <p:nvPr/>
        </p:nvSpPr>
        <p:spPr>
          <a:xfrm>
            <a:off x="7571232" y="6483096"/>
            <a:ext cx="128016" cy="128016"/>
          </a:xfrm>
          <a:prstGeom prst="ellipse">
            <a:avLst/>
          </a:prstGeom>
          <a:solidFill>
            <a:srgbClr val="F26B21"/>
          </a:solidFill>
          <a:ln w="12700">
            <a:solidFill>
              <a:srgbClr val="F26B21"/>
            </a:solidFill>
            <a:prstDash val="solid"/>
          </a:ln>
        </p:spPr>
      </p:sp>
      <p:sp>
        <p:nvSpPr>
          <p:cNvPr id="16" name="Text 14"/>
          <p:cNvSpPr txBox="1"/>
          <p:nvPr/>
        </p:nvSpPr>
        <p:spPr>
          <a:xfrm>
            <a:off x="7790688" y="6428232"/>
            <a:ext cx="100584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Conclusion</a:t>
            </a:r>
            <a:endParaRPr lang="en-US" sz="1100" dirty="0"/>
          </a:p>
        </p:txBody>
      </p:sp>
      <p:sp>
        <p:nvSpPr>
          <p:cNvPr id="17" name="Text 15"/>
          <p:cNvSpPr txBox="1"/>
          <p:nvPr/>
        </p:nvSpPr>
        <p:spPr>
          <a:xfrm>
            <a:off x="11064240" y="6446520"/>
            <a:ext cx="576072" cy="228600"/>
          </a:xfrm>
          <a:prstGeom prst="rect">
            <a:avLst/>
          </a:prstGeom>
          <a:noFill/>
          <a:ln/>
        </p:spPr>
        <p:txBody>
          <a:bodyPr wrap="square" lIns="0" tIns="0" rIns="0" bIns="0" rtlCol="0" anchor="t"/>
          <a:lstStyle/>
          <a:p>
            <a:pPr marL="0" indent="0" algn="r">
              <a:buNone/>
            </a:pPr>
            <a:r>
              <a:rPr lang="en-US" sz="1000" dirty="0">
                <a:solidFill>
                  <a:srgbClr val="C9D6EA"/>
                </a:solidFill>
                <a:latin typeface="Calibri" pitchFamily="34" charset="0"/>
                <a:ea typeface="Calibri" pitchFamily="34" charset="-122"/>
                <a:cs typeface="Calibri" pitchFamily="34" charset="-120"/>
              </a:rPr>
              <a:t>15</a:t>
            </a:r>
            <a:endParaRPr lang="en-US" sz="1000" dirty="0"/>
          </a:p>
        </p:txBody>
      </p:sp>
      <p:sp>
        <p:nvSpPr>
          <p:cNvPr id="18" name="Shape 16"/>
          <p:cNvSpPr/>
          <p:nvPr/>
        </p:nvSpPr>
        <p:spPr>
          <a:xfrm>
            <a:off x="548640" y="1984248"/>
            <a:ext cx="777240" cy="777240"/>
          </a:xfrm>
          <a:prstGeom prst="ellipse">
            <a:avLst/>
          </a:prstGeom>
          <a:solidFill>
            <a:srgbClr val="F26B21"/>
          </a:solidFill>
          <a:ln w="6350">
            <a:solidFill>
              <a:srgbClr val="F26B21"/>
            </a:solidFill>
            <a:prstDash val="solid"/>
          </a:ln>
        </p:spPr>
      </p:sp>
      <p:sp>
        <p:nvSpPr>
          <p:cNvPr id="19" name="Text 17"/>
          <p:cNvSpPr txBox="1"/>
          <p:nvPr/>
        </p:nvSpPr>
        <p:spPr>
          <a:xfrm>
            <a:off x="548640" y="1984248"/>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20" name="Text 18"/>
          <p:cNvSpPr txBox="1"/>
          <p:nvPr/>
        </p:nvSpPr>
        <p:spPr>
          <a:xfrm>
            <a:off x="1691640" y="1783080"/>
            <a:ext cx="9875520" cy="50292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An end-to-end, tested pipeline</a:t>
            </a:r>
            <a:endParaRPr lang="en-US" sz="2400" dirty="0"/>
          </a:p>
        </p:txBody>
      </p:sp>
      <p:sp>
        <p:nvSpPr>
          <p:cNvPr id="21" name="Text 19"/>
          <p:cNvSpPr txBox="1"/>
          <p:nvPr/>
        </p:nvSpPr>
        <p:spPr>
          <a:xfrm>
            <a:off x="1691640" y="2350008"/>
            <a:ext cx="9875520" cy="640080"/>
          </a:xfrm>
          <a:prstGeom prst="rect">
            <a:avLst/>
          </a:prstGeom>
          <a:noFill/>
          <a:ln/>
        </p:spPr>
        <p:txBody>
          <a:bodyPr wrap="square" lIns="0" tIns="0" rIns="0" bIns="0" rtlCol="0" anchor="t"/>
          <a:lstStyle/>
          <a:p>
            <a:pPr marL="0" indent="0">
              <a:buNone/>
            </a:pPr>
            <a:r>
              <a:rPr lang="en-US" sz="1600" dirty="0">
                <a:solidFill>
                  <a:srgbClr val="C9D6EA"/>
                </a:solidFill>
                <a:latin typeface="Calibri" pitchFamily="34" charset="0"/>
                <a:ea typeface="Calibri" pitchFamily="34" charset="-122"/>
                <a:cs typeface="Calibri" pitchFamily="34" charset="-120"/>
              </a:rPr>
              <a:t>9 raw CSVs → Bronze / Silver / Gold lakehouse → star schema → Power BI, with local tests and CI on every change.</a:t>
            </a:r>
            <a:endParaRPr lang="en-US" sz="1600" dirty="0"/>
          </a:p>
        </p:txBody>
      </p:sp>
      <p:sp>
        <p:nvSpPr>
          <p:cNvPr id="22" name="Shape 20"/>
          <p:cNvSpPr/>
          <p:nvPr/>
        </p:nvSpPr>
        <p:spPr>
          <a:xfrm>
            <a:off x="548640" y="3447288"/>
            <a:ext cx="777240" cy="777240"/>
          </a:xfrm>
          <a:prstGeom prst="ellipse">
            <a:avLst/>
          </a:prstGeom>
          <a:solidFill>
            <a:srgbClr val="F26B21"/>
          </a:solidFill>
          <a:ln w="6350">
            <a:solidFill>
              <a:srgbClr val="F26B21"/>
            </a:solidFill>
            <a:prstDash val="solid"/>
          </a:ln>
        </p:spPr>
      </p:sp>
      <p:sp>
        <p:nvSpPr>
          <p:cNvPr id="23" name="Text 21"/>
          <p:cNvSpPr txBox="1"/>
          <p:nvPr/>
        </p:nvSpPr>
        <p:spPr>
          <a:xfrm>
            <a:off x="548640" y="3447288"/>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24" name="Text 22"/>
          <p:cNvSpPr txBox="1"/>
          <p:nvPr/>
        </p:nvSpPr>
        <p:spPr>
          <a:xfrm>
            <a:off x="1691640" y="3246120"/>
            <a:ext cx="9875520" cy="50292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An evidence-based answer to a real question</a:t>
            </a:r>
            <a:endParaRPr lang="en-US" sz="2400" dirty="0"/>
          </a:p>
        </p:txBody>
      </p:sp>
      <p:sp>
        <p:nvSpPr>
          <p:cNvPr id="25" name="Text 23"/>
          <p:cNvSpPr txBox="1"/>
          <p:nvPr/>
        </p:nvSpPr>
        <p:spPr>
          <a:xfrm>
            <a:off x="1691640" y="3813048"/>
            <a:ext cx="9875520" cy="640080"/>
          </a:xfrm>
          <a:prstGeom prst="rect">
            <a:avLst/>
          </a:prstGeom>
          <a:noFill/>
          <a:ln/>
        </p:spPr>
        <p:txBody>
          <a:bodyPr wrap="square" lIns="0" tIns="0" rIns="0" bIns="0" rtlCol="0" anchor="t"/>
          <a:lstStyle/>
          <a:p>
            <a:pPr marL="0" indent="0">
              <a:buNone/>
            </a:pPr>
            <a:r>
              <a:rPr lang="en-US" sz="1600" dirty="0">
                <a:solidFill>
                  <a:srgbClr val="1A2233"/>
                </a:solidFill>
                <a:highlight>
                  <a:srgbClr val="FFF1A8"/>
                </a:highlight>
                <a:latin typeface="Calibri" pitchFamily="34" charset="0"/>
                <a:ea typeface="Calibri" pitchFamily="34" charset="-122"/>
                <a:cs typeface="Calibri" pitchFamily="34" charset="-120"/>
              </a:rPr>
              <a:t>[headline finding: what Black Friday changed, and what it did not]</a:t>
            </a:r>
            <a:endParaRPr lang="en-US" sz="1600" dirty="0"/>
          </a:p>
        </p:txBody>
      </p:sp>
      <p:sp>
        <p:nvSpPr>
          <p:cNvPr id="26" name="Shape 24"/>
          <p:cNvSpPr/>
          <p:nvPr/>
        </p:nvSpPr>
        <p:spPr>
          <a:xfrm>
            <a:off x="548640" y="4910328"/>
            <a:ext cx="777240" cy="777240"/>
          </a:xfrm>
          <a:prstGeom prst="ellipse">
            <a:avLst/>
          </a:prstGeom>
          <a:solidFill>
            <a:srgbClr val="F26B21"/>
          </a:solidFill>
          <a:ln w="6350">
            <a:solidFill>
              <a:srgbClr val="F26B21"/>
            </a:solidFill>
            <a:prstDash val="solid"/>
          </a:ln>
        </p:spPr>
      </p:sp>
      <p:sp>
        <p:nvSpPr>
          <p:cNvPr id="27" name="Text 25"/>
          <p:cNvSpPr txBox="1"/>
          <p:nvPr/>
        </p:nvSpPr>
        <p:spPr>
          <a:xfrm>
            <a:off x="548640" y="4910328"/>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28" name="Text 26"/>
          <p:cNvSpPr txBox="1"/>
          <p:nvPr/>
        </p:nvSpPr>
        <p:spPr>
          <a:xfrm>
            <a:off x="1691640" y="4709160"/>
            <a:ext cx="9875520" cy="50292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Engineered like a team, honest about trade-offs</a:t>
            </a:r>
            <a:endParaRPr lang="en-US" sz="2400" dirty="0"/>
          </a:p>
        </p:txBody>
      </p:sp>
      <p:sp>
        <p:nvSpPr>
          <p:cNvPr id="29" name="Text 27"/>
          <p:cNvSpPr txBox="1"/>
          <p:nvPr/>
        </p:nvSpPr>
        <p:spPr>
          <a:xfrm>
            <a:off x="1691640" y="5276088"/>
            <a:ext cx="9875520" cy="640080"/>
          </a:xfrm>
          <a:prstGeom prst="rect">
            <a:avLst/>
          </a:prstGeom>
          <a:noFill/>
          <a:ln/>
        </p:spPr>
        <p:txBody>
          <a:bodyPr wrap="square" lIns="0" tIns="0" rIns="0" bIns="0" rtlCol="0" anchor="t"/>
          <a:lstStyle/>
          <a:p>
            <a:pPr marL="0" indent="0">
              <a:buNone/>
            </a:pPr>
            <a:r>
              <a:rPr lang="en-US" sz="1600" dirty="0">
                <a:solidFill>
                  <a:srgbClr val="C9D6EA"/>
                </a:solidFill>
                <a:latin typeface="Calibri" pitchFamily="34" charset="0"/>
                <a:ea typeface="Calibri" pitchFamily="34" charset="-122"/>
                <a:cs typeface="Calibri" pitchFamily="34" charset="-120"/>
              </a:rPr>
              <a:t>Git workflow, pull-request review, automated deployment, and a clear path to production-grade CI/CD.</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extLst>
              <a:ext uri="{BEBA8EAE-BF5A-486C-A8C5-ECC9F3942E4B}">
                <a14:imgProps xmlns:a14="http://schemas.microsoft.com/office/drawing/2010/main">
                  <a14:imgLayer r:embed="rId4">
                    <a14:imgEffect>
                      <a14:artisticGlowEdges/>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8792EB4D-D499-8C3D-75DE-42983F271706}"/>
              </a:ext>
            </a:extLst>
          </p:cNvPr>
          <p:cNvPicPr>
            <a:picLocks noChangeAspect="1"/>
          </p:cNvPicPr>
          <p:nvPr/>
        </p:nvPicPr>
        <p:blipFill>
          <a:blip r:embed="rId5"/>
          <a:srcRect l="14366" t="14431" r="25295" b="14360"/>
          <a:stretch>
            <a:fillRect/>
          </a:stretch>
        </p:blipFill>
        <p:spPr>
          <a:xfrm>
            <a:off x="4327045" y="1317555"/>
            <a:ext cx="6634717" cy="4404440"/>
          </a:xfrm>
          <a:prstGeom prst="rect">
            <a:avLst/>
          </a:prstGeom>
          <a:effectLst>
            <a:glow rad="965200">
              <a:schemeClr val="accent1">
                <a:alpha val="6000"/>
              </a:schemeClr>
            </a:glow>
            <a:outerShdw blurRad="50800" dist="50800" dir="5400000" algn="ctr" rotWithShape="0">
              <a:srgbClr val="000000">
                <a:alpha val="33000"/>
              </a:srgbClr>
            </a:outerShdw>
            <a:softEdge rad="495300"/>
          </a:effectLst>
        </p:spPr>
      </p:pic>
      <p:sp>
        <p:nvSpPr>
          <p:cNvPr id="2" name="Text 0"/>
          <p:cNvSpPr txBox="1"/>
          <p:nvPr/>
        </p:nvSpPr>
        <p:spPr>
          <a:xfrm>
            <a:off x="415701" y="2231692"/>
            <a:ext cx="6307959" cy="1609762"/>
          </a:xfrm>
          <a:prstGeom prst="rect">
            <a:avLst/>
          </a:prstGeom>
          <a:noFill/>
          <a:ln/>
        </p:spPr>
        <p:txBody>
          <a:bodyPr wrap="square" lIns="0" tIns="0" rIns="0" bIns="0" rtlCol="0" anchor="t"/>
          <a:lstStyle/>
          <a:p>
            <a:pPr marL="0" indent="0">
              <a:buNone/>
            </a:pPr>
            <a:r>
              <a:rPr lang="en-US" sz="6600" b="1" dirty="0">
                <a:solidFill>
                  <a:srgbClr val="FFFFFF"/>
                </a:solidFill>
                <a:latin typeface="Cambria" pitchFamily="34" charset="0"/>
                <a:ea typeface="Cambria" pitchFamily="34" charset="-122"/>
                <a:cs typeface="Cambria" pitchFamily="34" charset="-120"/>
              </a:rPr>
              <a:t>Thank you</a:t>
            </a:r>
            <a:endParaRPr lang="en-US" sz="6600" dirty="0"/>
          </a:p>
        </p:txBody>
      </p:sp>
      <p:sp>
        <p:nvSpPr>
          <p:cNvPr id="3" name="Text 1"/>
          <p:cNvSpPr txBox="1"/>
          <p:nvPr/>
        </p:nvSpPr>
        <p:spPr>
          <a:xfrm>
            <a:off x="1049708" y="3498067"/>
            <a:ext cx="5943600" cy="640080"/>
          </a:xfrm>
          <a:prstGeom prst="rect">
            <a:avLst/>
          </a:prstGeom>
          <a:noFill/>
          <a:ln/>
        </p:spPr>
        <p:txBody>
          <a:bodyPr wrap="square" lIns="0" tIns="0" rIns="0" bIns="0" rtlCol="0" anchor="t"/>
          <a:lstStyle/>
          <a:p>
            <a:pPr marL="0" indent="0">
              <a:buNone/>
            </a:pPr>
            <a:r>
              <a:rPr lang="en-US" sz="4800" dirty="0">
                <a:solidFill>
                  <a:srgbClr val="F26B21"/>
                </a:solidFill>
                <a:latin typeface="Cambria" pitchFamily="34" charset="0"/>
                <a:ea typeface="Cambria" pitchFamily="34" charset="-122"/>
                <a:cs typeface="Cambria" pitchFamily="34" charset="-120"/>
              </a:rPr>
              <a:t>Questions?</a:t>
            </a:r>
            <a:endParaRPr lang="en-US" sz="4800" dirty="0"/>
          </a:p>
        </p:txBody>
      </p:sp>
      <p:sp>
        <p:nvSpPr>
          <p:cNvPr id="4" name="Text 2"/>
          <p:cNvSpPr txBox="1"/>
          <p:nvPr/>
        </p:nvSpPr>
        <p:spPr>
          <a:xfrm>
            <a:off x="476338" y="6387954"/>
            <a:ext cx="5943600" cy="320040"/>
          </a:xfrm>
          <a:prstGeom prst="rect">
            <a:avLst/>
          </a:prstGeom>
          <a:noFill/>
          <a:ln/>
        </p:spPr>
        <p:txBody>
          <a:bodyPr wrap="square" lIns="0" tIns="0" rIns="0" bIns="0" rtlCol="0" anchor="t"/>
          <a:lstStyle/>
          <a:p>
            <a:pPr marL="0" indent="0">
              <a:buNone/>
            </a:pPr>
            <a:r>
              <a:rPr lang="en-US" sz="1500" dirty="0">
                <a:solidFill>
                  <a:srgbClr val="C9D6EA"/>
                </a:solidFill>
                <a:latin typeface="Calibri" pitchFamily="34" charset="0"/>
                <a:ea typeface="Calibri" pitchFamily="34" charset="-122"/>
                <a:cs typeface="Calibri" pitchFamily="34" charset="-120"/>
              </a:rPr>
              <a:t>Group 2  ·  Generation Singapore  ·  JDE10</a:t>
            </a:r>
            <a:endParaRPr lang="en-US" sz="1500" dirty="0"/>
          </a:p>
        </p:txBody>
      </p:sp>
      <p:sp>
        <p:nvSpPr>
          <p:cNvPr id="5" name="Shape 3"/>
          <p:cNvSpPr/>
          <p:nvPr/>
        </p:nvSpPr>
        <p:spPr>
          <a:xfrm>
            <a:off x="6158484" y="7234733"/>
            <a:ext cx="4416552" cy="548640"/>
          </a:xfrm>
          <a:prstGeom prst="roundRect">
            <a:avLst>
              <a:gd name="adj" fmla="val 3415"/>
            </a:avLst>
          </a:prstGeom>
          <a:solidFill>
            <a:srgbClr val="17345F"/>
          </a:solidFill>
          <a:ln w="6350">
            <a:solidFill>
              <a:srgbClr val="17345F"/>
            </a:solidFill>
            <a:prstDash val="solid"/>
          </a:ln>
        </p:spPr>
      </p:sp>
      <p:sp>
        <p:nvSpPr>
          <p:cNvPr id="6" name="Text 4"/>
          <p:cNvSpPr txBox="1"/>
          <p:nvPr/>
        </p:nvSpPr>
        <p:spPr>
          <a:xfrm>
            <a:off x="6892051" y="711531"/>
            <a:ext cx="3657600" cy="274320"/>
          </a:xfrm>
          <a:prstGeom prst="rect">
            <a:avLst/>
          </a:prstGeom>
          <a:noFill/>
          <a:ln/>
        </p:spPr>
        <p:txBody>
          <a:bodyPr wrap="square" lIns="0" tIns="0" rIns="0" bIns="0" rtlCol="0" anchor="t"/>
          <a:lstStyle/>
          <a:p>
            <a:pPr marL="0" indent="0">
              <a:buNone/>
            </a:pPr>
            <a:r>
              <a:rPr lang="en-US" sz="2400" b="1" kern="0" spc="200" dirty="0">
                <a:solidFill>
                  <a:srgbClr val="F26B21"/>
                </a:solidFill>
                <a:latin typeface="Calibri" pitchFamily="34" charset="0"/>
                <a:ea typeface="Calibri" pitchFamily="34" charset="-122"/>
                <a:cs typeface="Calibri" pitchFamily="34" charset="-120"/>
              </a:rPr>
              <a:t>EXPLORE THE PROJECT</a:t>
            </a:r>
            <a:endParaRPr lang="en-US" sz="2400" dirty="0"/>
          </a:p>
        </p:txBody>
      </p:sp>
      <p:sp>
        <p:nvSpPr>
          <p:cNvPr id="11" name="Shape 8"/>
          <p:cNvSpPr/>
          <p:nvPr/>
        </p:nvSpPr>
        <p:spPr>
          <a:xfrm>
            <a:off x="9784782" y="3459522"/>
            <a:ext cx="637685" cy="618375"/>
          </a:xfrm>
          <a:prstGeom prst="ellipse">
            <a:avLst/>
          </a:prstGeom>
          <a:solidFill>
            <a:schemeClr val="accent2">
              <a:alpha val="66000"/>
            </a:schemeClr>
          </a:solidFill>
          <a:ln w="6350">
            <a:solidFill>
              <a:schemeClr val="bg1"/>
            </a:solidFill>
            <a:prstDash val="solid"/>
          </a:ln>
        </p:spPr>
      </p:sp>
      <p:pic>
        <p:nvPicPr>
          <p:cNvPr id="12" name="Image 1" descr="preencoded.png"/>
          <p:cNvPicPr>
            <a:picLocks noChangeAspect="1"/>
          </p:cNvPicPr>
          <p:nvPr/>
        </p:nvPicPr>
        <p:blipFill>
          <a:blip r:embed="rId6"/>
          <a:stretch>
            <a:fillRect/>
          </a:stretch>
        </p:blipFill>
        <p:spPr>
          <a:xfrm>
            <a:off x="9945628" y="3550784"/>
            <a:ext cx="409151" cy="409151"/>
          </a:xfrm>
          <a:prstGeom prst="rect">
            <a:avLst/>
          </a:prstGeom>
        </p:spPr>
      </p:pic>
      <p:sp>
        <p:nvSpPr>
          <p:cNvPr id="13" name="Text 9"/>
          <p:cNvSpPr txBox="1"/>
          <p:nvPr/>
        </p:nvSpPr>
        <p:spPr>
          <a:xfrm>
            <a:off x="10637520" y="3382690"/>
            <a:ext cx="3017520" cy="387808"/>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Dashboard</a:t>
            </a:r>
            <a:endParaRPr lang="en-US" sz="1500" dirty="0"/>
          </a:p>
        </p:txBody>
      </p:sp>
      <p:sp>
        <p:nvSpPr>
          <p:cNvPr id="14" name="Text 10"/>
          <p:cNvSpPr txBox="1"/>
          <p:nvPr/>
        </p:nvSpPr>
        <p:spPr>
          <a:xfrm>
            <a:off x="10637520" y="3680947"/>
            <a:ext cx="3108960" cy="274320"/>
          </a:xfrm>
          <a:prstGeom prst="rect">
            <a:avLst/>
          </a:prstGeom>
          <a:noFill/>
          <a:ln/>
        </p:spPr>
        <p:txBody>
          <a:bodyPr wrap="square" lIns="0" tIns="0" rIns="0" bIns="0" rtlCol="0" anchor="t"/>
          <a:lstStyle/>
          <a:p>
            <a:pPr marL="0" indent="0">
              <a:buNone/>
            </a:pPr>
            <a:r>
              <a:rPr lang="en-US" sz="1300" dirty="0">
                <a:solidFill>
                  <a:srgbClr val="1A2233"/>
                </a:solidFill>
                <a:highlight>
                  <a:srgbClr val="FFF1A8"/>
                </a:highlight>
                <a:latin typeface="Calibri" pitchFamily="34" charset="0"/>
                <a:ea typeface="Calibri" pitchFamily="34" charset="-122"/>
                <a:cs typeface="Calibri" pitchFamily="34" charset="-120"/>
              </a:rPr>
              <a:t>[Power BI report link]</a:t>
            </a:r>
            <a:endParaRPr lang="en-US" sz="1300" dirty="0"/>
          </a:p>
        </p:txBody>
      </p:sp>
      <p:sp>
        <p:nvSpPr>
          <p:cNvPr id="17" name="Text 12"/>
          <p:cNvSpPr txBox="1"/>
          <p:nvPr/>
        </p:nvSpPr>
        <p:spPr>
          <a:xfrm>
            <a:off x="9040891" y="4566849"/>
            <a:ext cx="3017520" cy="292608"/>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Google Drive</a:t>
            </a:r>
            <a:endParaRPr lang="en-US" sz="1500" dirty="0"/>
          </a:p>
        </p:txBody>
      </p:sp>
      <p:sp>
        <p:nvSpPr>
          <p:cNvPr id="18" name="Text 13"/>
          <p:cNvSpPr txBox="1"/>
          <p:nvPr/>
        </p:nvSpPr>
        <p:spPr>
          <a:xfrm>
            <a:off x="9020556" y="4836526"/>
            <a:ext cx="3108960" cy="274320"/>
          </a:xfrm>
          <a:prstGeom prst="rect">
            <a:avLst/>
          </a:prstGeom>
          <a:noFill/>
          <a:ln/>
        </p:spPr>
        <p:txBody>
          <a:bodyPr wrap="square" lIns="0" tIns="0" rIns="0" bIns="0" rtlCol="0" anchor="t"/>
          <a:lstStyle/>
          <a:p>
            <a:r>
              <a:rPr lang="en-US" sz="1300" dirty="0">
                <a:solidFill>
                  <a:srgbClr val="1A2233"/>
                </a:solidFill>
                <a:highlight>
                  <a:srgbClr val="FFF1A8"/>
                </a:highlight>
                <a:latin typeface="Calibri" pitchFamily="34" charset="0"/>
                <a:ea typeface="Calibri" pitchFamily="34" charset="-122"/>
                <a:cs typeface="Calibri" pitchFamily="34" charset="-120"/>
              </a:rPr>
              <a:t>Google drive link</a:t>
            </a:r>
            <a:endParaRPr lang="en-US" sz="1300" dirty="0"/>
          </a:p>
        </p:txBody>
      </p:sp>
      <p:sp>
        <p:nvSpPr>
          <p:cNvPr id="23" name="Text 6">
            <a:extLst>
              <a:ext uri="{FF2B5EF4-FFF2-40B4-BE49-F238E27FC236}">
                <a16:creationId xmlns:a16="http://schemas.microsoft.com/office/drawing/2014/main" id="{C2C8E8CE-2366-5699-E01C-F64709BFC391}"/>
              </a:ext>
            </a:extLst>
          </p:cNvPr>
          <p:cNvSpPr txBox="1"/>
          <p:nvPr/>
        </p:nvSpPr>
        <p:spPr>
          <a:xfrm>
            <a:off x="8913707" y="2229601"/>
            <a:ext cx="3017520" cy="292608"/>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Source code</a:t>
            </a:r>
            <a:endParaRPr lang="en-US" sz="1500" dirty="0"/>
          </a:p>
        </p:txBody>
      </p:sp>
      <p:sp>
        <p:nvSpPr>
          <p:cNvPr id="24" name="Text 7">
            <a:extLst>
              <a:ext uri="{FF2B5EF4-FFF2-40B4-BE49-F238E27FC236}">
                <a16:creationId xmlns:a16="http://schemas.microsoft.com/office/drawing/2014/main" id="{79A2D287-F7F0-62F7-B000-3355E651E025}"/>
              </a:ext>
            </a:extLst>
          </p:cNvPr>
          <p:cNvSpPr txBox="1"/>
          <p:nvPr/>
        </p:nvSpPr>
        <p:spPr>
          <a:xfrm>
            <a:off x="8867987" y="2528071"/>
            <a:ext cx="3108960" cy="274320"/>
          </a:xfrm>
          <a:prstGeom prst="rect">
            <a:avLst/>
          </a:prstGeom>
          <a:noFill/>
          <a:ln/>
        </p:spPr>
        <p:txBody>
          <a:bodyPr wrap="square" lIns="0" tIns="0" rIns="0" bIns="0" rtlCol="0" anchor="t"/>
          <a:lstStyle/>
          <a:p>
            <a:pPr marL="0" indent="0">
              <a:buNone/>
            </a:pPr>
            <a:r>
              <a:rPr lang="en-US" sz="1300" dirty="0">
                <a:solidFill>
                  <a:srgbClr val="1A2233"/>
                </a:solidFill>
                <a:highlight>
                  <a:srgbClr val="FFF1A8"/>
                </a:highlight>
                <a:latin typeface="Calibri" pitchFamily="34" charset="0"/>
                <a:ea typeface="Calibri" pitchFamily="34" charset="-122"/>
                <a:cs typeface="Calibri" pitchFamily="34" charset="-120"/>
              </a:rPr>
              <a:t>[GitHub repository link]</a:t>
            </a:r>
            <a:endParaRPr lang="en-US" sz="1300" dirty="0"/>
          </a:p>
        </p:txBody>
      </p:sp>
      <p:sp>
        <p:nvSpPr>
          <p:cNvPr id="28" name="Text 0">
            <a:extLst>
              <a:ext uri="{FF2B5EF4-FFF2-40B4-BE49-F238E27FC236}">
                <a16:creationId xmlns:a16="http://schemas.microsoft.com/office/drawing/2014/main" id="{7733A2F4-273E-0DB7-5FFD-40CADE481406}"/>
              </a:ext>
            </a:extLst>
          </p:cNvPr>
          <p:cNvSpPr txBox="1"/>
          <p:nvPr/>
        </p:nvSpPr>
        <p:spPr>
          <a:xfrm>
            <a:off x="5486400" y="6435097"/>
            <a:ext cx="6949440" cy="274320"/>
          </a:xfrm>
          <a:prstGeom prst="rect">
            <a:avLst/>
          </a:prstGeom>
          <a:noFill/>
          <a:ln/>
        </p:spPr>
        <p:txBody>
          <a:bodyPr wrap="square" lIns="0" tIns="0" rIns="0" bIns="0" rtlCol="0" anchor="t"/>
          <a:lstStyle/>
          <a:p>
            <a:pPr marL="0" indent="0">
              <a:buNone/>
            </a:pPr>
            <a:r>
              <a:rPr lang="en-US" sz="1200" b="1" kern="0" spc="200" dirty="0">
                <a:solidFill>
                  <a:srgbClr val="F26B21"/>
                </a:solidFill>
                <a:latin typeface="Calibri" pitchFamily="34" charset="0"/>
                <a:ea typeface="Calibri" pitchFamily="34" charset="-122"/>
                <a:cs typeface="Calibri" pitchFamily="34" charset="-120"/>
              </a:rPr>
              <a:t>GENERATION SINGAPORE  ·  JUNIOR DATA ENGINEERING  ·  FINAL PROJECT</a:t>
            </a:r>
            <a:endParaRPr lang="en-US" sz="1200" dirty="0"/>
          </a:p>
        </p:txBody>
      </p:sp>
      <p:pic>
        <p:nvPicPr>
          <p:cNvPr id="31" name="Picture 30">
            <a:extLst>
              <a:ext uri="{FF2B5EF4-FFF2-40B4-BE49-F238E27FC236}">
                <a16:creationId xmlns:a16="http://schemas.microsoft.com/office/drawing/2014/main" id="{B952C3A9-8408-2514-F1A9-84B6B096ABFC}"/>
              </a:ext>
            </a:extLst>
          </p:cNvPr>
          <p:cNvPicPr>
            <a:picLocks noChangeAspect="1"/>
          </p:cNvPicPr>
          <p:nvPr/>
        </p:nvPicPr>
        <p:blipFill>
          <a:blip r:embed="rId7"/>
          <a:stretch>
            <a:fillRect/>
          </a:stretch>
        </p:blipFill>
        <p:spPr>
          <a:xfrm>
            <a:off x="5396483" y="5123314"/>
            <a:ext cx="1524001" cy="399787"/>
          </a:xfrm>
          <a:prstGeom prst="rect">
            <a:avLst/>
          </a:prstGeom>
        </p:spPr>
      </p:pic>
      <p:pic>
        <p:nvPicPr>
          <p:cNvPr id="32" name="Picture 31">
            <a:extLst>
              <a:ext uri="{FF2B5EF4-FFF2-40B4-BE49-F238E27FC236}">
                <a16:creationId xmlns:a16="http://schemas.microsoft.com/office/drawing/2014/main" id="{97B10D2C-6746-CC8B-3086-119C7257089B}"/>
              </a:ext>
            </a:extLst>
          </p:cNvPr>
          <p:cNvPicPr>
            <a:picLocks noChangeAspect="1"/>
          </p:cNvPicPr>
          <p:nvPr/>
        </p:nvPicPr>
        <p:blipFill>
          <a:blip r:embed="rId8"/>
          <a:stretch>
            <a:fillRect/>
          </a:stretch>
        </p:blipFill>
        <p:spPr>
          <a:xfrm>
            <a:off x="4670155" y="2877425"/>
            <a:ext cx="1450600" cy="505265"/>
          </a:xfrm>
          <a:prstGeom prst="rect">
            <a:avLst/>
          </a:prstGeom>
        </p:spPr>
      </p:pic>
      <p:pic>
        <p:nvPicPr>
          <p:cNvPr id="33" name="Picture 32">
            <a:extLst>
              <a:ext uri="{FF2B5EF4-FFF2-40B4-BE49-F238E27FC236}">
                <a16:creationId xmlns:a16="http://schemas.microsoft.com/office/drawing/2014/main" id="{AE55BAE1-27F2-4143-5D4D-4F49B517FD8C}"/>
              </a:ext>
            </a:extLst>
          </p:cNvPr>
          <p:cNvPicPr>
            <a:picLocks noChangeAspect="1"/>
          </p:cNvPicPr>
          <p:nvPr/>
        </p:nvPicPr>
        <p:blipFill>
          <a:blip r:embed="rId9"/>
          <a:stretch>
            <a:fillRect/>
          </a:stretch>
        </p:blipFill>
        <p:spPr>
          <a:xfrm>
            <a:off x="4960822" y="1837770"/>
            <a:ext cx="1524000" cy="647700"/>
          </a:xfrm>
          <a:prstGeom prst="rect">
            <a:avLst/>
          </a:prstGeom>
        </p:spPr>
      </p:pic>
      <p:sp>
        <p:nvSpPr>
          <p:cNvPr id="37" name="Shape 8">
            <a:extLst>
              <a:ext uri="{FF2B5EF4-FFF2-40B4-BE49-F238E27FC236}">
                <a16:creationId xmlns:a16="http://schemas.microsoft.com/office/drawing/2014/main" id="{7B9E7507-08E4-6D9A-AAEA-2747D73B486D}"/>
              </a:ext>
            </a:extLst>
          </p:cNvPr>
          <p:cNvSpPr/>
          <p:nvPr/>
        </p:nvSpPr>
        <p:spPr>
          <a:xfrm>
            <a:off x="8097092" y="2291151"/>
            <a:ext cx="637685" cy="618375"/>
          </a:xfrm>
          <a:prstGeom prst="ellipse">
            <a:avLst/>
          </a:prstGeom>
          <a:solidFill>
            <a:schemeClr val="accent2">
              <a:alpha val="66000"/>
            </a:schemeClr>
          </a:solidFill>
          <a:ln w="6350">
            <a:solidFill>
              <a:schemeClr val="bg1"/>
            </a:solidFill>
            <a:prstDash val="solid"/>
          </a:ln>
        </p:spPr>
      </p:sp>
      <p:pic>
        <p:nvPicPr>
          <p:cNvPr id="39" name="Image 0" descr="preencoded.png">
            <a:extLst>
              <a:ext uri="{FF2B5EF4-FFF2-40B4-BE49-F238E27FC236}">
                <a16:creationId xmlns:a16="http://schemas.microsoft.com/office/drawing/2014/main" id="{D1642359-564A-1CC7-884D-4758AA569196}"/>
              </a:ext>
            </a:extLst>
          </p:cNvPr>
          <p:cNvPicPr>
            <a:picLocks noChangeAspect="1"/>
          </p:cNvPicPr>
          <p:nvPr/>
        </p:nvPicPr>
        <p:blipFill>
          <a:blip r:embed="rId10"/>
          <a:stretch>
            <a:fillRect/>
          </a:stretch>
        </p:blipFill>
        <p:spPr>
          <a:xfrm>
            <a:off x="8140433" y="2324837"/>
            <a:ext cx="551002" cy="551002"/>
          </a:xfrm>
          <a:prstGeom prst="rect">
            <a:avLst/>
          </a:prstGeom>
        </p:spPr>
      </p:pic>
      <p:sp>
        <p:nvSpPr>
          <p:cNvPr id="41" name="Shape 8">
            <a:extLst>
              <a:ext uri="{FF2B5EF4-FFF2-40B4-BE49-F238E27FC236}">
                <a16:creationId xmlns:a16="http://schemas.microsoft.com/office/drawing/2014/main" id="{0CE1E7B8-582F-7EDF-E4F6-C635E617CB40}"/>
              </a:ext>
            </a:extLst>
          </p:cNvPr>
          <p:cNvSpPr/>
          <p:nvPr/>
        </p:nvSpPr>
        <p:spPr>
          <a:xfrm>
            <a:off x="8217468" y="4558736"/>
            <a:ext cx="637685" cy="618375"/>
          </a:xfrm>
          <a:prstGeom prst="ellipse">
            <a:avLst/>
          </a:prstGeom>
          <a:solidFill>
            <a:schemeClr val="accent2">
              <a:alpha val="66000"/>
            </a:schemeClr>
          </a:solidFill>
          <a:ln w="6350">
            <a:solidFill>
              <a:schemeClr val="bg1"/>
            </a:solidFill>
            <a:prstDash val="solid"/>
          </a:ln>
        </p:spPr>
      </p:sp>
      <p:pic>
        <p:nvPicPr>
          <p:cNvPr id="43" name="Picture 42">
            <a:extLst>
              <a:ext uri="{FF2B5EF4-FFF2-40B4-BE49-F238E27FC236}">
                <a16:creationId xmlns:a16="http://schemas.microsoft.com/office/drawing/2014/main" id="{0B13244A-DCC4-FF1E-4BCC-C7ED695FF460}"/>
              </a:ext>
            </a:extLst>
          </p:cNvPr>
          <p:cNvPicPr>
            <a:picLocks noChangeAspect="1"/>
          </p:cNvPicPr>
          <p:nvPr/>
        </p:nvPicPr>
        <p:blipFill>
          <a:blip r:embed="rId11"/>
          <a:stretch>
            <a:fillRect/>
          </a:stretch>
        </p:blipFill>
        <p:spPr>
          <a:xfrm>
            <a:off x="8217468" y="4571052"/>
            <a:ext cx="620201"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1626</TotalTime>
  <Words>3779</Words>
  <Application>Microsoft Office PowerPoint</Application>
  <PresentationFormat>Widescreen</PresentationFormat>
  <Paragraphs>416</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Black Friday Change How Customers Buy? — Olist Data Engineering Project</dc:title>
  <dc:subject>PptxGenJS Presentation</dc:subject>
  <dc:creator>Group 2, Generation Singapore JDE10</dc:creator>
  <cp:lastModifiedBy>57Tan YJ741</cp:lastModifiedBy>
  <cp:revision>4</cp:revision>
  <dcterms:created xsi:type="dcterms:W3CDTF">2026-09-19T01:23:20Z</dcterms:created>
  <dcterms:modified xsi:type="dcterms:W3CDTF">2026-09-20T05:20:40Z</dcterms:modified>
</cp:coreProperties>
</file>